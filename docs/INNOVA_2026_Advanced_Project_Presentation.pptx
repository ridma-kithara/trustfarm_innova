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ink/ink1.xml" ContentType="application/inkml+xml"/>
  <Override PartName="/ppt/ink/ink2.xml" ContentType="application/inkml+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27"/>
  </p:notesMasterIdLst>
  <p:sldIdLst>
    <p:sldId id="256" r:id="rId2"/>
    <p:sldId id="257" r:id="rId3"/>
    <p:sldId id="258" r:id="rId4"/>
    <p:sldId id="259" r:id="rId5"/>
    <p:sldId id="260" r:id="rId6"/>
    <p:sldId id="278" r:id="rId7"/>
    <p:sldId id="279" r:id="rId8"/>
    <p:sldId id="280" r:id="rId9"/>
    <p:sldId id="264" r:id="rId10"/>
    <p:sldId id="261" r:id="rId11"/>
    <p:sldId id="265" r:id="rId12"/>
    <p:sldId id="266" r:id="rId13"/>
    <p:sldId id="267" r:id="rId14"/>
    <p:sldId id="268" r:id="rId15"/>
    <p:sldId id="269" r:id="rId16"/>
    <p:sldId id="270" r:id="rId17"/>
    <p:sldId id="277" r:id="rId18"/>
    <p:sldId id="271" r:id="rId19"/>
    <p:sldId id="272" r:id="rId20"/>
    <p:sldId id="273" r:id="rId21"/>
    <p:sldId id="274" r:id="rId22"/>
    <p:sldId id="262" r:id="rId23"/>
    <p:sldId id="276" r:id="rId24"/>
    <p:sldId id="275" r:id="rId25"/>
    <p:sldId id="263" r:id="rId26"/>
  </p:sldIdLst>
  <p:sldSz cx="18288000" cy="10287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11" autoAdjust="0"/>
    <p:restoredTop sz="94606" autoAdjust="0"/>
  </p:normalViewPr>
  <p:slideViewPr>
    <p:cSldViewPr>
      <p:cViewPr>
        <p:scale>
          <a:sx n="87" d="100"/>
          <a:sy n="87" d="100"/>
        </p:scale>
        <p:origin x="376" y="-8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notesMaster" Target="notesMasters/notesMaster1.xml"/><Relationship Id="rId30" Type="http://schemas.openxmlformats.org/officeDocument/2006/relationships/theme" Target="theme/theme1.xml"/></Relationships>
</file>

<file path=ppt/ink/ink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10-10T09:52:05.258"/>
    </inkml:context>
    <inkml:brush xml:id="br0">
      <inkml:brushProperty name="width" value="0.035" units="cm"/>
      <inkml:brushProperty name="height" value="0.035" units="cm"/>
    </inkml:brush>
  </inkml:definitions>
  <inkml:trace contextRef="#ctx0" brushRef="#br0">0 1 24575,'0'0'-8191</inkml:trace>
</inkml:ink>
</file>

<file path=ppt/ink/ink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10-10T09:52:06.633"/>
    </inkml:context>
    <inkml:brush xml:id="br0">
      <inkml:brushProperty name="width" value="0.035" units="cm"/>
      <inkml:brushProperty name="height" value="0.035" units="cm"/>
    </inkml:brush>
  </inkml:definitions>
  <inkml:trace contextRef="#ctx0" brushRef="#br0">0 1 24575,'0'0'-8191</inkml:trace>
</inkml:ink>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64603254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Open with the product, not the slides. This is TrustFarm: an interactive 3D farm twin, a trust gate for sensor data, a 3-hour irrigation forecast, and energy-aware advice. Everything shown is a working prototype; field results are not claimed yet.</a:t>
            </a:r>
          </a:p>
        </p:txBody>
      </p:sp>
      <p:sp>
        <p:nvSpPr>
          <p:cNvPr id="4" name="Slide Number Placeholder 3"/>
          <p:cNvSpPr>
            <a:spLocks noGrp="1"/>
          </p:cNvSpPr>
          <p:nvPr>
            <p:ph type="sldNum" sz="quarter" idx="5"/>
          </p:nvPr>
        </p:nvSpPr>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Four members, four clear ownership areas. Kithara leads and owns AI/backend; Kaushalya owns deployment and integration; Rasith owns web and mobile; Senmitha owns IoT and communication. Avoid the old '3-member team' line.</a:t>
            </a:r>
          </a:p>
        </p:txBody>
      </p:sp>
      <p:sp>
        <p:nvSpPr>
          <p:cNvPr id="4" name="Slide Number Placeholder 3"/>
          <p:cNvSpPr>
            <a:spLocks noGrp="1"/>
          </p:cNvSpPr>
          <p:nvPr>
            <p:ph type="sldNum" sz="quarter" idx="5"/>
          </p:nvPr>
        </p:nvSpPr>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This is the core problem: sensor faults are silent. The system does not just need a better model; it needs a gate that decides whether the model should be allowed to speak.</a:t>
            </a:r>
          </a:p>
        </p:txBody>
      </p:sp>
      <p:sp>
        <p:nvSpPr>
          <p:cNvPr id="4" name="Slide Number Placeholder 3"/>
          <p:cNvSpPr>
            <a:spLocks noGrp="1"/>
          </p:cNvSpPr>
          <p:nvPr>
            <p:ph type="sldNum" sz="quarter" idx="5"/>
          </p:nvPr>
        </p:nvSpPr>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Keep SDG claims proportional. The project supports SDG 2, 6 and 13 through better irrigation decisions and farm-energy visibility; it does not yet claim measured water savings.</a:t>
            </a:r>
          </a:p>
        </p:txBody>
      </p:sp>
      <p:sp>
        <p:nvSpPr>
          <p:cNvPr id="4" name="Slide Number Placeholder 3"/>
          <p:cNvSpPr>
            <a:spLocks noGrp="1"/>
          </p:cNvSpPr>
          <p:nvPr>
            <p:ph type="sldNum" sz="quarter" idx="5"/>
          </p:nvPr>
        </p:nvSpPr>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Explain the loop in one breath. The differentiator is not a single model; it is the order: verify first, then predict, then advise, then check energy. The 3D twin is the interface for the same loop.</a:t>
            </a:r>
          </a:p>
        </p:txBody>
      </p:sp>
      <p:sp>
        <p:nvSpPr>
          <p:cNvPr id="4" name="Slide Number Placeholder 3"/>
          <p:cNvSpPr>
            <a:spLocks noGrp="1"/>
          </p:cNvSpPr>
          <p:nvPr>
            <p:ph type="sldNum" sz="quarter" idx="5"/>
          </p:nvPr>
        </p:nvSpPr>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This is the visual proof. Open circuit.html and orbit it live if possible. The model shows the actual ESP32, two soil probes, DHT22, rain sensor, flow meter, two INA219 channels, relay, battery and biogas generator. The buttons inject a fault, rain and low battery.</a:t>
            </a:r>
          </a:p>
        </p:txBody>
      </p:sp>
      <p:sp>
        <p:nvSpPr>
          <p:cNvPr id="4" name="Slide Number Placeholder 3"/>
          <p:cNvSpPr>
            <a:spLocks noGrp="1"/>
          </p:cNvSpPr>
          <p:nvPr>
            <p:ph type="sldNum" sz="quarter" idx="5"/>
          </p:nvPr>
        </p:nvSpPr>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The mobile twin is the same product logic in a smaller form factor. Drag to orbit, tap a hotspot, and the panel shows the same numbers as the desktop build. The offline cache is real; push notifications are not.</a:t>
            </a:r>
          </a:p>
        </p:txBody>
      </p:sp>
      <p:sp>
        <p:nvSpPr>
          <p:cNvPr id="4" name="Slide Number Placeholder 3"/>
          <p:cNvSpPr>
            <a:spLocks noGrp="1"/>
          </p:cNvSpPr>
          <p:nvPr>
            <p:ph type="sldNum" sz="quarter" idx="5"/>
          </p:nvPr>
        </p:nvSpPr>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Keep the two paths visually separate. The data path is implemented end to end. The energy path is a supervised physical build; the software monitors generation, load and battery and uses that to gate advice.</a:t>
            </a:r>
          </a:p>
        </p:txBody>
      </p:sp>
      <p:sp>
        <p:nvSpPr>
          <p:cNvPr id="4" name="Slide Number Placeholder 3"/>
          <p:cNvSpPr>
            <a:spLocks noGrp="1"/>
          </p:cNvSpPr>
          <p:nvPr>
            <p:ph type="sldNum" sz="quarter" idx="5"/>
          </p:nvPr>
        </p:nvSpPr>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Do not describe this as a black-box AI score. It is an additive penalty system plus an Isolation Forest. Green allows advice, Amber still calls the model but the advice becomes a manual-check request, and Red returns before prediction.</a:t>
            </a:r>
          </a:p>
        </p:txBody>
      </p:sp>
      <p:sp>
        <p:nvSpPr>
          <p:cNvPr id="4" name="Slide Number Placeholder 3"/>
          <p:cNvSpPr>
            <a:spLocks noGrp="1"/>
          </p:cNvSpPr>
          <p:nvPr>
            <p:ph type="sldNum" sz="quarter" idx="5"/>
          </p:nvPr>
        </p:nvSpPr>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This corrects a common misreading of the pipeline. Amber is not blocked; it predicts but refuses automatic action. Red is the only state that returns before prediction. The energy gate can also downgrade an irrigation action.</a:t>
            </a:r>
          </a:p>
        </p:txBody>
      </p:sp>
      <p:sp>
        <p:nvSpPr>
          <p:cNvPr id="4" name="Slide Number Placeholder 3"/>
          <p:cNvSpPr>
            <a:spLocks noGrp="1"/>
          </p:cNvSpPr>
          <p:nvPr>
            <p:ph type="sldNum" sz="quarter" idx="5"/>
          </p:nvPr>
        </p:nvSpPr>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This slide fixes two old claims: the horizon is 3 hours, not 3–6, and SHAP is not wired. The explanation is generated from the feature values. The thresholds are placeholders and must be tuned per crop before field use.</a:t>
            </a:r>
          </a:p>
        </p:txBody>
      </p:sp>
      <p:sp>
        <p:nvSpPr>
          <p:cNvPr id="4" name="Slide Number Placeholder 3"/>
          <p:cNvSpPr>
            <a:spLocks noGrp="1"/>
          </p:cNvSpPr>
          <p:nvPr>
            <p:ph type="sldNum" sz="quarter" idx="5"/>
          </p:nvPr>
        </p:nvSpPr>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Use the pin table as the technical anchor. The firmware publishes every 60 seconds and buffers 60 messages if the network drops. The physical build is not evidenced in the repository, so label it as firmware-complete but hardware-pending.</a:t>
            </a:r>
          </a:p>
        </p:txBody>
      </p:sp>
      <p:sp>
        <p:nvSpPr>
          <p:cNvPr id="4" name="Slide Number Placeholder 3"/>
          <p:cNvSpPr>
            <a:spLocks noGrp="1"/>
          </p:cNvSpPr>
          <p:nvPr>
            <p:ph type="sldNum" sz="quarter" idx="5"/>
          </p:nvPr>
        </p:nvSpPr>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This is the honest energy story. The software reads generation, load and battery, then applies 20% PROTECT and 40% CONSERVE thresholds. It does not control a BMS or switch a pump. The digester and generator are a proposed, supervised build.</a:t>
            </a:r>
          </a:p>
        </p:txBody>
      </p:sp>
      <p:sp>
        <p:nvSpPr>
          <p:cNvPr id="4" name="Slide Number Placeholder 3"/>
          <p:cNvSpPr>
            <a:spLocks noGrp="1"/>
          </p:cNvSpPr>
          <p:nvPr>
            <p:ph type="sldNum" sz="quarter" idx="5"/>
          </p:nvPr>
        </p:nvSpPr>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These are real screenshots from the Flutter build with seeded demo data. The alerts screen is read-only in this build. Push notifications and automatic pump control are not implemented; do not claim them in the demo.</a:t>
            </a:r>
          </a:p>
        </p:txBody>
      </p:sp>
      <p:sp>
        <p:nvSpPr>
          <p:cNvPr id="4" name="Slide Number Placeholder 3"/>
          <p:cNvSpPr>
            <a:spLocks noGrp="1"/>
          </p:cNvSpPr>
          <p:nvPr>
            <p:ph type="sldNum" sz="quarter" idx="5"/>
          </p:nvPr>
        </p:nvSpPr>
        <p:spPr/>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This slide prevents dataset inflation. AquaIntel is the one measured hardware dataset. The other three are synthetic or simulated. All four are useful for development, but none is a local field pilot.</a:t>
            </a:r>
          </a:p>
        </p:txBody>
      </p:sp>
      <p:sp>
        <p:nvSpPr>
          <p:cNvPr id="4" name="Slide Number Placeholder 3"/>
          <p:cNvSpPr>
            <a:spLocks noGrp="1"/>
          </p:cNvSpPr>
          <p:nvPr>
            <p:ph type="sldNum" sz="quarter" idx="5"/>
          </p:nvPr>
        </p:nvSpPr>
        <p:spPr/>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AquaIntel is the only measured hardware dataset. The key insight is the extreme class imbalance: pump ON is only 2% of records. That is why the system focuses on trust and anomaly detection rather than claiming a strong pump predictor.</a:t>
            </a:r>
          </a:p>
        </p:txBody>
      </p:sp>
      <p:sp>
        <p:nvSpPr>
          <p:cNvPr id="4" name="Slide Number Placeholder 3"/>
          <p:cNvSpPr>
            <a:spLocks noGrp="1"/>
          </p:cNvSpPr>
          <p:nvPr>
            <p:ph type="sldNum" sz="quarter" idx="5"/>
          </p:nvPr>
        </p:nvSpPr>
        <p:spPr/>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The AgriField dataset has 14,854 no-irrigation labels against 139 irrigate-800 ml labels. A model can look accurate by always predicting no irrigation. That is why the deck talks about recall and F1, not just accuracy.</a:t>
            </a:r>
          </a:p>
        </p:txBody>
      </p:sp>
      <p:sp>
        <p:nvSpPr>
          <p:cNvPr id="4" name="Slide Number Placeholder 3"/>
          <p:cNvSpPr>
            <a:spLocks noGrp="1"/>
          </p:cNvSpPr>
          <p:nvPr>
            <p:ph type="sldNum" sz="quarter" idx="5"/>
          </p:nvPr>
        </p:nvSpPr>
        <p:spPr/>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Neither of these datasets is a field validation of TrustFarm. Biogas production is a scenario input for the energy module. Semantic-Aware IoT is a benchmark for edge/cloud resilience. Keep those claims separate.</a:t>
            </a:r>
          </a:p>
        </p:txBody>
      </p:sp>
      <p:sp>
        <p:nvSpPr>
          <p:cNvPr id="4" name="Slide Number Placeholder 3"/>
          <p:cNvSpPr>
            <a:spLocks noGrp="1"/>
          </p:cNvSpPr>
          <p:nvPr>
            <p:ph type="sldNum" sz="quarter" idx="5"/>
          </p:nvPr>
        </p:nvSpPr>
        <p:spPr/>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Keep the pipeline defensible. It is not a deep-learning system. It is a gradient-boosted forecast, a balanced random forest and an isolation forest, with a chronological split and a same-as-now baseline.</a:t>
            </a:r>
          </a:p>
        </p:txBody>
      </p:sp>
      <p:sp>
        <p:nvSpPr>
          <p:cNvPr id="4" name="Slide Number Placeholder 3"/>
          <p:cNvSpPr>
            <a:spLocks noGrp="1"/>
          </p:cNvSpPr>
          <p:nvPr>
            <p:ph type="sldNum" sz="quarter" idx="5"/>
          </p:nvPr>
        </p:nvSpPr>
        <p:spPr/>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These numbers come from meta.json. The forecast is meaningfully better than persistence. Fault detection is 47.5%, well below the 90% target, so present it as a baseline to improve. The classifier is 99.7% on synthetic, threshold-aligned labels; that is not a field claim.</a:t>
            </a:r>
          </a:p>
        </p:txBody>
      </p:sp>
      <p:sp>
        <p:nvSpPr>
          <p:cNvPr id="4" name="Slide Number Placeholder 3"/>
          <p:cNvSpPr>
            <a:spLocks noGrp="1"/>
          </p:cNvSpPr>
          <p:nvPr>
            <p:ph type="sldNum" sz="quarter" idx="5"/>
          </p:nvPr>
        </p:nvSpPr>
        <p:spPr/>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This slide is deliberately blunt. The prototype has auth, roles, buffering and offline cache. It does not have TLS, push notifications, pump actuation or a proper BMS. Those are production gates, not hidden features.</a:t>
            </a:r>
          </a:p>
        </p:txBody>
      </p:sp>
      <p:sp>
        <p:nvSpPr>
          <p:cNvPr id="4" name="Slide Number Placeholder 3"/>
          <p:cNvSpPr>
            <a:spLocks noGrp="1"/>
          </p:cNvSpPr>
          <p:nvPr>
            <p:ph type="sldNum" sz="quarter" idx="5"/>
          </p:nvPr>
        </p:nvSpPr>
        <p:spPr/>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The current synthetic fault detection is 47.5%, so the 90% target is honest but not achieved. The validation ladder moves from bench to fault injection to a two-zone pilot. Do not say 'tested in a two-zone pilot' until that actually happens.</a:t>
            </a:r>
          </a:p>
        </p:txBody>
      </p:sp>
      <p:sp>
        <p:nvSpPr>
          <p:cNvPr id="4" name="Slide Number Placeholder 3"/>
          <p:cNvSpPr>
            <a:spLocks noGrp="1"/>
          </p:cNvSpPr>
          <p:nvPr>
            <p:ph type="sldNum" sz="quarter" idx="5"/>
          </p:nvPr>
        </p:nvSpPr>
        <p:spPr/>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Rehearse this exact sequence. The strongest moment is not the normal dashboard; it is the transition from a plausible sensor value to a Red trust state and a paused recommendation. If hardware is unavailable, run the simulator and say so.</a:t>
            </a:r>
          </a:p>
        </p:txBody>
      </p:sp>
      <p:sp>
        <p:nvSpPr>
          <p:cNvPr id="4" name="Slide Number Placeholder 3"/>
          <p:cNvSpPr>
            <a:spLocks noGrp="1"/>
          </p:cNvSpPr>
          <p:nvPr>
            <p:ph type="sldNum" sz="quarter" idx="5"/>
          </p:nvPr>
        </p:nvSpPr>
        <p:spPr/>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Close the argument with proportion. The impact is credible but not yet measured. Feasibility is real: the stack runs and the 3D twin works. The next gates are security, calibration and a two-zone pilot; automation comes after that.</a:t>
            </a:r>
          </a:p>
        </p:txBody>
      </p:sp>
      <p:sp>
        <p:nvSpPr>
          <p:cNvPr id="4" name="Slide Number Placeholder 3"/>
          <p:cNvSpPr>
            <a:spLocks noGrp="1"/>
          </p:cNvSpPr>
          <p:nvPr>
            <p:ph type="sldNum" sz="quarter" idx="5"/>
          </p:nvPr>
        </p:nvSpPr>
        <p:spPr/>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End on the product principle: trust before advice. Invite the judges to orbit the circuit model or open the mobile twin, then take questions. Be explicit that the demo data is seeded unless the hardware is connected.</a:t>
            </a:r>
          </a:p>
        </p:txBody>
      </p:sp>
      <p:sp>
        <p:nvSpPr>
          <p:cNvPr id="4" name="Slide Number Placeholder 3"/>
          <p:cNvSpPr>
            <a:spLocks noGrp="1"/>
          </p:cNvSpPr>
          <p:nvPr>
            <p:ph type="sldNum" sz="quarter" idx="5"/>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10/20/26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10/20/26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10/20/26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10/20/26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10/20/26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10/20/26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10/20/26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10/20/26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10/20/26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xml"/><Relationship Id="rId1" Type="http://schemas.openxmlformats.org/officeDocument/2006/relationships/slideLayout" Target="../slideLayouts/slideLayout7.xml"/><Relationship Id="rId5" Type="http://schemas.openxmlformats.org/officeDocument/2006/relationships/image" Target="../media/image3.png"/><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8" Type="http://schemas.openxmlformats.org/officeDocument/2006/relationships/image" Target="../media/image7.png"/><Relationship Id="rId3" Type="http://schemas.openxmlformats.org/officeDocument/2006/relationships/image" Target="../media/image4.jpeg"/><Relationship Id="rId7" Type="http://schemas.openxmlformats.org/officeDocument/2006/relationships/image" Target="../media/image6.png"/><Relationship Id="rId2" Type="http://schemas.openxmlformats.org/officeDocument/2006/relationships/notesSlide" Target="../notesSlides/notesSlide2.xml"/><Relationship Id="rId1" Type="http://schemas.openxmlformats.org/officeDocument/2006/relationships/slideLayout" Target="../slideLayouts/slideLayout7.xml"/><Relationship Id="rId6" Type="http://schemas.openxmlformats.org/officeDocument/2006/relationships/image" Target="../media/image5.jpeg"/><Relationship Id="rId5" Type="http://schemas.openxmlformats.org/officeDocument/2006/relationships/image" Target="../media/image3.png"/><Relationship Id="rId4" Type="http://schemas.openxmlformats.org/officeDocument/2006/relationships/image" Target="../media/image2.png"/><Relationship Id="rId9" Type="http://schemas.openxmlformats.org/officeDocument/2006/relationships/image" Target="../media/image8.jpeg"/></Relationships>
</file>

<file path=ppt/slides/_rels/slide3.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notesSlide" Target="../notesSlides/notesSlide3.xml"/><Relationship Id="rId1" Type="http://schemas.openxmlformats.org/officeDocument/2006/relationships/slideLayout" Target="../slideLayouts/slideLayout7.xml"/><Relationship Id="rId5" Type="http://schemas.openxmlformats.org/officeDocument/2006/relationships/image" Target="../media/image3.png"/><Relationship Id="rId4" Type="http://schemas.openxmlformats.org/officeDocument/2006/relationships/image" Target="../media/image2.png"/></Relationships>
</file>

<file path=ppt/slides/_rels/slide4.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notesSlide" Target="../notesSlides/notesSlide4.xml"/><Relationship Id="rId1" Type="http://schemas.openxmlformats.org/officeDocument/2006/relationships/slideLayout" Target="../slideLayouts/slideLayout7.xml"/><Relationship Id="rId5" Type="http://schemas.openxmlformats.org/officeDocument/2006/relationships/image" Target="../media/image3.png"/><Relationship Id="rId4" Type="http://schemas.openxmlformats.org/officeDocument/2006/relationships/image" Target="../media/image2.png"/></Relationships>
</file>

<file path=ppt/slides/_rels/slide5.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notesSlide" Target="../notesSlides/notesSlide5.xml"/><Relationship Id="rId1" Type="http://schemas.openxmlformats.org/officeDocument/2006/relationships/slideLayout" Target="../slideLayouts/slideLayout7.xml"/><Relationship Id="rId5" Type="http://schemas.openxmlformats.org/officeDocument/2006/relationships/image" Target="../media/image3.png"/><Relationship Id="rId4" Type="http://schemas.openxmlformats.org/officeDocument/2006/relationships/image" Target="../media/image2.png"/></Relationships>
</file>

<file path=ppt/slides/_rels/slide6.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notesSlide" Target="../notesSlides/notesSlide6.xml"/><Relationship Id="rId1" Type="http://schemas.openxmlformats.org/officeDocument/2006/relationships/slideLayout" Target="../slideLayouts/slideLayout7.xml"/><Relationship Id="rId6" Type="http://schemas.openxmlformats.org/officeDocument/2006/relationships/image" Target="../media/image9.png"/><Relationship Id="rId5" Type="http://schemas.openxmlformats.org/officeDocument/2006/relationships/image" Target="../media/image3.png"/><Relationship Id="rId4" Type="http://schemas.openxmlformats.org/officeDocument/2006/relationships/image" Target="../media/image2.png"/></Relationships>
</file>

<file path=ppt/slides/_rels/slide7.xml.rels><?xml version="1.0" encoding="UTF-8" standalone="yes"?>
<Relationships xmlns="http://schemas.openxmlformats.org/package/2006/relationships"><Relationship Id="rId3" Type="http://schemas.openxmlformats.org/officeDocument/2006/relationships/image" Target="../media/image4.jpeg"/><Relationship Id="rId7" Type="http://schemas.openxmlformats.org/officeDocument/2006/relationships/image" Target="../media/image11.png"/><Relationship Id="rId2" Type="http://schemas.openxmlformats.org/officeDocument/2006/relationships/notesSlide" Target="../notesSlides/notesSlide7.xml"/><Relationship Id="rId1" Type="http://schemas.openxmlformats.org/officeDocument/2006/relationships/slideLayout" Target="../slideLayouts/slideLayout7.xml"/><Relationship Id="rId6" Type="http://schemas.openxmlformats.org/officeDocument/2006/relationships/image" Target="../media/image10.png"/><Relationship Id="rId5" Type="http://schemas.openxmlformats.org/officeDocument/2006/relationships/image" Target="../media/image3.png"/><Relationship Id="rId4" Type="http://schemas.openxmlformats.org/officeDocument/2006/relationships/image" Target="../media/image2.png"/></Relationships>
</file>

<file path=ppt/slides/_rels/slide8.xml.rels><?xml version="1.0" encoding="UTF-8" standalone="yes"?>
<Relationships xmlns="http://schemas.openxmlformats.org/package/2006/relationships"><Relationship Id="rId8" Type="http://schemas.openxmlformats.org/officeDocument/2006/relationships/image" Target="../media/image13.png"/><Relationship Id="rId3" Type="http://schemas.openxmlformats.org/officeDocument/2006/relationships/image" Target="../media/image4.jpeg"/><Relationship Id="rId2" Type="http://schemas.openxmlformats.org/officeDocument/2006/relationships/notesSlide" Target="../notesSlides/notesSlide8.xml"/><Relationship Id="rId1" Type="http://schemas.openxmlformats.org/officeDocument/2006/relationships/slideLayout" Target="../slideLayouts/slideLayout7.xml"/><Relationship Id="rId6" Type="http://schemas.openxmlformats.org/officeDocument/2006/relationships/customXml" Target="../ink/ink1.xml"/><Relationship Id="rId5" Type="http://schemas.openxmlformats.org/officeDocument/2006/relationships/image" Target="../media/image3.png"/><Relationship Id="rId4" Type="http://schemas.openxmlformats.org/officeDocument/2006/relationships/image" Target="../media/image2.png"/><Relationship Id="rId9" Type="http://schemas.openxmlformats.org/officeDocument/2006/relationships/customXml" Target="../ink/ink2.xml"/></Relationships>
</file>

<file path=ppt/slides/_rels/slide9.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notesSlide" Target="../notesSlides/notesSlide9.xml"/><Relationship Id="rId1" Type="http://schemas.openxmlformats.org/officeDocument/2006/relationships/slideLayout" Target="../slideLayouts/slideLayout7.xml"/><Relationship Id="rId5" Type="http://schemas.openxmlformats.org/officeDocument/2006/relationships/image" Target="../media/image3.png"/><Relationship Id="rId4" Type="http://schemas.openxmlformats.org/officeDocument/2006/relationships/image" Target="../media/image2.png"/></Relationships>
</file>

<file path=ppt/slides/_rels/slide10.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notesSlide" Target="../notesSlides/notesSlide10.xml"/><Relationship Id="rId1" Type="http://schemas.openxmlformats.org/officeDocument/2006/relationships/slideLayout" Target="../slideLayouts/slideLayout7.xml"/><Relationship Id="rId5" Type="http://schemas.openxmlformats.org/officeDocument/2006/relationships/image" Target="../media/image3.png"/><Relationship Id="rId4" Type="http://schemas.openxmlformats.org/officeDocument/2006/relationships/image" Target="../media/image2.png"/></Relationships>
</file>

<file path=ppt/slides/_rels/slide11.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notesSlide" Target="../notesSlides/notesSlide11.xml"/><Relationship Id="rId1" Type="http://schemas.openxmlformats.org/officeDocument/2006/relationships/slideLayout" Target="../slideLayouts/slideLayout7.xml"/><Relationship Id="rId5" Type="http://schemas.openxmlformats.org/officeDocument/2006/relationships/image" Target="../media/image3.png"/><Relationship Id="rId4" Type="http://schemas.openxmlformats.org/officeDocument/2006/relationships/image" Target="../media/image2.png"/></Relationships>
</file>

<file path=ppt/slides/_rels/slide12.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notesSlide" Target="../notesSlides/notesSlide12.xml"/><Relationship Id="rId1" Type="http://schemas.openxmlformats.org/officeDocument/2006/relationships/slideLayout" Target="../slideLayouts/slideLayout7.xml"/><Relationship Id="rId6" Type="http://schemas.openxmlformats.org/officeDocument/2006/relationships/image" Target="../media/image9.png"/><Relationship Id="rId5" Type="http://schemas.openxmlformats.org/officeDocument/2006/relationships/image" Target="../media/image3.png"/><Relationship Id="rId4" Type="http://schemas.openxmlformats.org/officeDocument/2006/relationships/image" Target="../media/image2.png"/></Relationships>
</file>

<file path=ppt/slides/_rels/slide13.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notesSlide" Target="../notesSlides/notesSlide13.xml"/><Relationship Id="rId1" Type="http://schemas.openxmlformats.org/officeDocument/2006/relationships/slideLayout" Target="../slideLayouts/slideLayout7.xml"/><Relationship Id="rId6" Type="http://schemas.openxmlformats.org/officeDocument/2006/relationships/image" Target="../media/image12.png"/><Relationship Id="rId5" Type="http://schemas.openxmlformats.org/officeDocument/2006/relationships/image" Target="../media/image3.png"/><Relationship Id="rId4" Type="http://schemas.openxmlformats.org/officeDocument/2006/relationships/image" Target="../media/image2.png"/></Relationships>
</file>

<file path=ppt/slides/_rels/slide14.xml.rels><?xml version="1.0" encoding="UTF-8" standalone="yes"?>
<Relationships xmlns="http://schemas.openxmlformats.org/package/2006/relationships"><Relationship Id="rId8" Type="http://schemas.openxmlformats.org/officeDocument/2006/relationships/image" Target="../media/image16.png"/><Relationship Id="rId3" Type="http://schemas.openxmlformats.org/officeDocument/2006/relationships/image" Target="../media/image4.jpeg"/><Relationship Id="rId7" Type="http://schemas.openxmlformats.org/officeDocument/2006/relationships/image" Target="../media/image15.png"/><Relationship Id="rId2" Type="http://schemas.openxmlformats.org/officeDocument/2006/relationships/notesSlide" Target="../notesSlides/notesSlide14.xml"/><Relationship Id="rId1" Type="http://schemas.openxmlformats.org/officeDocument/2006/relationships/slideLayout" Target="../slideLayouts/slideLayout7.xml"/><Relationship Id="rId6" Type="http://schemas.openxmlformats.org/officeDocument/2006/relationships/image" Target="../media/image14.png"/><Relationship Id="rId5" Type="http://schemas.openxmlformats.org/officeDocument/2006/relationships/image" Target="../media/image3.png"/><Relationship Id="rId4" Type="http://schemas.openxmlformats.org/officeDocument/2006/relationships/image" Target="../media/image2.png"/></Relationships>
</file>

<file path=ppt/slides/_rels/slide15.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notesSlide" Target="../notesSlides/notesSlide15.xml"/><Relationship Id="rId1" Type="http://schemas.openxmlformats.org/officeDocument/2006/relationships/slideLayout" Target="../slideLayouts/slideLayout7.xml"/><Relationship Id="rId5" Type="http://schemas.openxmlformats.org/officeDocument/2006/relationships/image" Target="../media/image3.png"/><Relationship Id="rId4" Type="http://schemas.openxmlformats.org/officeDocument/2006/relationships/image" Target="../media/image2.png"/></Relationships>
</file>

<file path=ppt/slides/_rels/slide16.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notesSlide" Target="../notesSlides/notesSlide16.xml"/><Relationship Id="rId1" Type="http://schemas.openxmlformats.org/officeDocument/2006/relationships/slideLayout" Target="../slideLayouts/slideLayout7.xml"/><Relationship Id="rId6" Type="http://schemas.openxmlformats.org/officeDocument/2006/relationships/image" Target="../media/image17.png"/><Relationship Id="rId5" Type="http://schemas.openxmlformats.org/officeDocument/2006/relationships/image" Target="../media/image3.png"/><Relationship Id="rId4" Type="http://schemas.openxmlformats.org/officeDocument/2006/relationships/image" Target="../media/image2.png"/></Relationships>
</file>

<file path=ppt/slides/_rels/slide17.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notesSlide" Target="../notesSlides/notesSlide17.xml"/><Relationship Id="rId1" Type="http://schemas.openxmlformats.org/officeDocument/2006/relationships/slideLayout" Target="../slideLayouts/slideLayout7.xml"/><Relationship Id="rId6" Type="http://schemas.openxmlformats.org/officeDocument/2006/relationships/image" Target="../media/image18.png"/><Relationship Id="rId5" Type="http://schemas.openxmlformats.org/officeDocument/2006/relationships/image" Target="../media/image3.png"/><Relationship Id="rId4" Type="http://schemas.openxmlformats.org/officeDocument/2006/relationships/image" Target="../media/image2.png"/></Relationships>
</file>

<file path=ppt/slides/_rels/slide18.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notesSlide" Target="../notesSlides/notesSlide18.xml"/><Relationship Id="rId1" Type="http://schemas.openxmlformats.org/officeDocument/2006/relationships/slideLayout" Target="../slideLayouts/slideLayout7.xml"/><Relationship Id="rId6" Type="http://schemas.openxmlformats.org/officeDocument/2006/relationships/image" Target="../media/image19.png"/><Relationship Id="rId5" Type="http://schemas.openxmlformats.org/officeDocument/2006/relationships/image" Target="../media/image3.png"/><Relationship Id="rId4" Type="http://schemas.openxmlformats.org/officeDocument/2006/relationships/image" Target="../media/image2.png"/></Relationships>
</file>

<file path=ppt/slides/_rels/slide19.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notesSlide" Target="../notesSlides/notesSlide19.xml"/><Relationship Id="rId1" Type="http://schemas.openxmlformats.org/officeDocument/2006/relationships/slideLayout" Target="../slideLayouts/slideLayout7.xml"/><Relationship Id="rId5" Type="http://schemas.openxmlformats.org/officeDocument/2006/relationships/image" Target="../media/image3.png"/><Relationship Id="rId4" Type="http://schemas.openxmlformats.org/officeDocument/2006/relationships/image" Target="../media/image2.png"/></Relationships>
</file>

<file path=ppt/slides/_rels/slide20.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notesSlide" Target="../notesSlides/notesSlide20.xml"/><Relationship Id="rId1" Type="http://schemas.openxmlformats.org/officeDocument/2006/relationships/slideLayout" Target="../slideLayouts/slideLayout7.xml"/><Relationship Id="rId5" Type="http://schemas.openxmlformats.org/officeDocument/2006/relationships/image" Target="../media/image3.png"/><Relationship Id="rId4" Type="http://schemas.openxmlformats.org/officeDocument/2006/relationships/image" Target="../media/image2.png"/></Relationships>
</file>

<file path=ppt/slides/_rels/slide21.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notesSlide" Target="../notesSlides/notesSlide21.xml"/><Relationship Id="rId1" Type="http://schemas.openxmlformats.org/officeDocument/2006/relationships/slideLayout" Target="../slideLayouts/slideLayout7.xml"/><Relationship Id="rId5" Type="http://schemas.openxmlformats.org/officeDocument/2006/relationships/image" Target="../media/image3.png"/><Relationship Id="rId4" Type="http://schemas.openxmlformats.org/officeDocument/2006/relationships/image" Target="../media/image2.png"/></Relationships>
</file>

<file path=ppt/slides/_rels/slide22.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notesSlide" Target="../notesSlides/notesSlide22.xml"/><Relationship Id="rId1" Type="http://schemas.openxmlformats.org/officeDocument/2006/relationships/slideLayout" Target="../slideLayouts/slideLayout7.xml"/><Relationship Id="rId5" Type="http://schemas.openxmlformats.org/officeDocument/2006/relationships/image" Target="../media/image3.png"/><Relationship Id="rId4" Type="http://schemas.openxmlformats.org/officeDocument/2006/relationships/image" Target="../media/image2.png"/></Relationships>
</file>

<file path=ppt/slides/_rels/slide23.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notesSlide" Target="../notesSlides/notesSlide23.xml"/><Relationship Id="rId1" Type="http://schemas.openxmlformats.org/officeDocument/2006/relationships/slideLayout" Target="../slideLayouts/slideLayout7.xml"/><Relationship Id="rId5" Type="http://schemas.openxmlformats.org/officeDocument/2006/relationships/image" Target="../media/image3.png"/><Relationship Id="rId4" Type="http://schemas.openxmlformats.org/officeDocument/2006/relationships/image" Target="../media/image2.png"/></Relationships>
</file>

<file path=ppt/slides/_rels/slide24.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notesSlide" Target="../notesSlides/notesSlide24.xml"/><Relationship Id="rId1" Type="http://schemas.openxmlformats.org/officeDocument/2006/relationships/slideLayout" Target="../slideLayouts/slideLayout7.xml"/><Relationship Id="rId5" Type="http://schemas.openxmlformats.org/officeDocument/2006/relationships/image" Target="../media/image3.png"/><Relationship Id="rId4" Type="http://schemas.openxmlformats.org/officeDocument/2006/relationships/image" Target="../media/image2.png"/></Relationships>
</file>

<file path=ppt/slides/_rels/slide25.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25.xml"/><Relationship Id="rId1" Type="http://schemas.openxmlformats.org/officeDocument/2006/relationships/slideLayout" Target="../slideLayouts/slideLayout7.xml"/><Relationship Id="rId4" Type="http://schemas.openxmlformats.org/officeDocument/2006/relationships/image" Target="../media/image3.pn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1A1D1C"/>
        </a:solidFill>
        <a:effectLst/>
      </p:bgPr>
    </p:bg>
    <p:spTree>
      <p:nvGrpSpPr>
        <p:cNvPr id="1" name=""/>
        <p:cNvGrpSpPr/>
        <p:nvPr/>
      </p:nvGrpSpPr>
      <p:grpSpPr>
        <a:xfrm>
          <a:off x="0" y="0"/>
          <a:ext cx="0" cy="0"/>
          <a:chOff x="0" y="0"/>
          <a:chExt cx="0" cy="0"/>
        </a:xfrm>
      </p:grpSpPr>
      <p:sp>
        <p:nvSpPr>
          <p:cNvPr id="2" name="Freeform 2"/>
          <p:cNvSpPr/>
          <p:nvPr/>
        </p:nvSpPr>
        <p:spPr>
          <a:xfrm>
            <a:off x="0" y="0"/>
            <a:ext cx="18287996" cy="10287000"/>
          </a:xfrm>
          <a:custGeom>
            <a:avLst/>
            <a:gdLst/>
            <a:ahLst/>
            <a:cxnLst/>
            <a:rect l="l" t="t" r="r" b="b"/>
            <a:pathLst>
              <a:path w="18288000" h="10675620">
                <a:moveTo>
                  <a:pt x="0" y="0"/>
                </a:moveTo>
                <a:lnTo>
                  <a:pt x="18288000" y="0"/>
                </a:lnTo>
                <a:lnTo>
                  <a:pt x="18288000" y="10675620"/>
                </a:lnTo>
                <a:lnTo>
                  <a:pt x="0" y="10675620"/>
                </a:lnTo>
                <a:lnTo>
                  <a:pt x="0" y="0"/>
                </a:lnTo>
                <a:close/>
              </a:path>
            </a:pathLst>
          </a:custGeom>
          <a:blipFill>
            <a:blip r:embed="rId3"/>
            <a:stretch>
              <a:fillRect/>
            </a:stretch>
          </a:blipFill>
        </p:spPr>
        <p:txBody>
          <a:bodyPr/>
          <a:lstStyle/>
          <a:p>
            <a:endParaRPr/>
          </a:p>
        </p:txBody>
      </p:sp>
      <p:sp>
        <p:nvSpPr>
          <p:cNvPr id="3" name="Freeform 3"/>
          <p:cNvSpPr/>
          <p:nvPr/>
        </p:nvSpPr>
        <p:spPr>
          <a:xfrm>
            <a:off x="3366898" y="319144"/>
            <a:ext cx="11554204" cy="2913597"/>
          </a:xfrm>
          <a:custGeom>
            <a:avLst/>
            <a:gdLst/>
            <a:ahLst/>
            <a:cxnLst/>
            <a:rect l="l" t="t" r="r" b="b"/>
            <a:pathLst>
              <a:path w="11554204" h="2913597">
                <a:moveTo>
                  <a:pt x="0" y="0"/>
                </a:moveTo>
                <a:lnTo>
                  <a:pt x="11554204" y="0"/>
                </a:lnTo>
                <a:lnTo>
                  <a:pt x="11554204" y="2913596"/>
                </a:lnTo>
                <a:lnTo>
                  <a:pt x="0" y="2913596"/>
                </a:lnTo>
                <a:lnTo>
                  <a:pt x="0" y="0"/>
                </a:lnTo>
                <a:close/>
              </a:path>
            </a:pathLst>
          </a:custGeom>
          <a:blipFill>
            <a:blip r:embed="rId4"/>
            <a:stretch>
              <a:fillRect t="-85078" b="-85078"/>
            </a:stretch>
          </a:blipFill>
        </p:spPr>
        <p:txBody>
          <a:bodyPr/>
          <a:lstStyle/>
          <a:p>
            <a:endParaRPr/>
          </a:p>
        </p:txBody>
      </p:sp>
      <p:sp>
        <p:nvSpPr>
          <p:cNvPr id="9" name="Freeform 9"/>
          <p:cNvSpPr/>
          <p:nvPr/>
        </p:nvSpPr>
        <p:spPr>
          <a:xfrm>
            <a:off x="7724483" y="7838783"/>
            <a:ext cx="2839033" cy="2839033"/>
          </a:xfrm>
          <a:custGeom>
            <a:avLst/>
            <a:gdLst/>
            <a:ahLst/>
            <a:cxnLst/>
            <a:rect l="l" t="t" r="r" b="b"/>
            <a:pathLst>
              <a:path w="2839033" h="2839033">
                <a:moveTo>
                  <a:pt x="0" y="0"/>
                </a:moveTo>
                <a:lnTo>
                  <a:pt x="2839034" y="0"/>
                </a:lnTo>
                <a:lnTo>
                  <a:pt x="2839034" y="2839034"/>
                </a:lnTo>
                <a:lnTo>
                  <a:pt x="0" y="2839034"/>
                </a:lnTo>
                <a:lnTo>
                  <a:pt x="0" y="0"/>
                </a:lnTo>
                <a:close/>
              </a:path>
            </a:pathLst>
          </a:custGeom>
          <a:blipFill>
            <a:blip r:embed="rId5"/>
            <a:stretch>
              <a:fillRect/>
            </a:stretch>
          </a:blipFill>
        </p:spPr>
        <p:txBody>
          <a:bodyPr/>
          <a:lstStyle/>
          <a:p>
            <a:endParaRPr/>
          </a:p>
        </p:txBody>
      </p:sp>
      <p:sp>
        <p:nvSpPr>
          <p:cNvPr id="10" name="TextBox 9"/>
          <p:cNvSpPr txBox="1"/>
          <p:nvPr/>
        </p:nvSpPr>
        <p:spPr>
          <a:xfrm>
            <a:off x="1261872" y="3639312"/>
            <a:ext cx="9144000" cy="292608"/>
          </a:xfrm>
          <a:prstGeom prst="rect">
            <a:avLst/>
          </a:prstGeom>
          <a:noFill/>
        </p:spPr>
        <p:txBody>
          <a:bodyPr wrap="square" lIns="18288" tIns="18288" rIns="18288" bIns="18288" anchor="t">
            <a:noAutofit/>
          </a:bodyPr>
          <a:lstStyle/>
          <a:p>
            <a:pPr algn="l">
              <a:lnSpc>
                <a:spcPct val="105000"/>
              </a:lnSpc>
              <a:spcAft>
                <a:spcPts val="0"/>
              </a:spcAft>
            </a:pPr>
            <a:r>
              <a:rPr sz="1000" b="1" i="0">
                <a:solidFill>
                  <a:srgbClr val="A6F26B"/>
                </a:solidFill>
                <a:latin typeface="Avenir Next"/>
              </a:rPr>
              <a:t>ICBT  ·  INNOVA 2026  ·  IEEE COMPUTER SOCIETY</a:t>
            </a:r>
          </a:p>
        </p:txBody>
      </p:sp>
      <p:sp>
        <p:nvSpPr>
          <p:cNvPr id="11" name="Rectangle 10"/>
          <p:cNvSpPr/>
          <p:nvPr/>
        </p:nvSpPr>
        <p:spPr>
          <a:xfrm>
            <a:off x="1298448" y="3950208"/>
            <a:ext cx="2011680" cy="50292"/>
          </a:xfrm>
          <a:prstGeom prst="rect">
            <a:avLst/>
          </a:prstGeom>
          <a:solidFill>
            <a:srgbClr val="A6F2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1216152" y="4023360"/>
            <a:ext cx="9692640" cy="1005840"/>
          </a:xfrm>
          <a:prstGeom prst="rect">
            <a:avLst/>
          </a:prstGeom>
          <a:noFill/>
        </p:spPr>
        <p:txBody>
          <a:bodyPr wrap="square" lIns="18288" tIns="18288" rIns="18288" bIns="18288" anchor="t">
            <a:noAutofit/>
          </a:bodyPr>
          <a:lstStyle/>
          <a:p>
            <a:pPr algn="l">
              <a:lnSpc>
                <a:spcPct val="92000"/>
              </a:lnSpc>
              <a:spcAft>
                <a:spcPts val="0"/>
              </a:spcAft>
            </a:pPr>
            <a:r>
              <a:rPr sz="6800" b="1" i="0">
                <a:solidFill>
                  <a:srgbClr val="F4FFFA"/>
                </a:solidFill>
                <a:latin typeface="Avenir Next"/>
              </a:rPr>
              <a:t>TrustFarm</a:t>
            </a:r>
          </a:p>
        </p:txBody>
      </p:sp>
      <p:sp>
        <p:nvSpPr>
          <p:cNvPr id="13" name="TextBox 12"/>
          <p:cNvSpPr txBox="1"/>
          <p:nvPr/>
        </p:nvSpPr>
        <p:spPr>
          <a:xfrm>
            <a:off x="1280160" y="5138928"/>
            <a:ext cx="9692640" cy="502920"/>
          </a:xfrm>
          <a:prstGeom prst="rect">
            <a:avLst/>
          </a:prstGeom>
          <a:noFill/>
        </p:spPr>
        <p:txBody>
          <a:bodyPr wrap="square" lIns="18288" tIns="18288" rIns="18288" bIns="18288" anchor="t">
            <a:noAutofit/>
          </a:bodyPr>
          <a:lstStyle/>
          <a:p>
            <a:pPr algn="l">
              <a:lnSpc>
                <a:spcPct val="100000"/>
              </a:lnSpc>
              <a:spcAft>
                <a:spcPts val="0"/>
              </a:spcAft>
            </a:pPr>
            <a:r>
              <a:rPr sz="2500" b="0" i="0">
                <a:solidFill>
                  <a:srgbClr val="F4FFFA"/>
                </a:solidFill>
                <a:latin typeface="Avenir Next"/>
              </a:rPr>
              <a:t>Trusted AI irrigation and farm energy</a:t>
            </a:r>
          </a:p>
        </p:txBody>
      </p:sp>
      <p:sp>
        <p:nvSpPr>
          <p:cNvPr id="14" name="TextBox 13"/>
          <p:cNvSpPr txBox="1"/>
          <p:nvPr/>
        </p:nvSpPr>
        <p:spPr>
          <a:xfrm>
            <a:off x="1280160" y="5760720"/>
            <a:ext cx="9875520" cy="347472"/>
          </a:xfrm>
          <a:prstGeom prst="rect">
            <a:avLst/>
          </a:prstGeom>
          <a:noFill/>
        </p:spPr>
        <p:txBody>
          <a:bodyPr wrap="square" lIns="18288" tIns="18288" rIns="18288" bIns="18288" anchor="t">
            <a:noAutofit/>
          </a:bodyPr>
          <a:lstStyle/>
          <a:p>
            <a:pPr algn="l">
              <a:lnSpc>
                <a:spcPct val="105000"/>
              </a:lnSpc>
              <a:spcAft>
                <a:spcPts val="0"/>
              </a:spcAft>
            </a:pPr>
            <a:r>
              <a:rPr sz="1350" b="1" i="0">
                <a:solidFill>
                  <a:srgbClr val="A6F26B"/>
                </a:solidFill>
                <a:latin typeface="Avenir Next"/>
              </a:rPr>
              <a:t>Sense  →  Verify  →  Predict  →  Advise  →  Power</a:t>
            </a:r>
          </a:p>
        </p:txBody>
      </p:sp>
      <p:sp>
        <p:nvSpPr>
          <p:cNvPr id="15" name="Rounded Rectangle 14"/>
          <p:cNvSpPr/>
          <p:nvPr/>
        </p:nvSpPr>
        <p:spPr>
          <a:xfrm>
            <a:off x="1280160" y="6419088"/>
            <a:ext cx="2331720" cy="384048"/>
          </a:xfrm>
          <a:prstGeom prst="roundRect">
            <a:avLst>
              <a:gd name="adj" fmla="val 50000"/>
            </a:avLst>
          </a:prstGeom>
          <a:solidFill>
            <a:srgbClr val="0A221B"/>
          </a:solidFill>
          <a:ln w="8890">
            <a:solidFill>
              <a:srgbClr val="A6F26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1316736" y="6437375"/>
            <a:ext cx="2258568" cy="347472"/>
          </a:xfrm>
          <a:prstGeom prst="rect">
            <a:avLst/>
          </a:prstGeom>
          <a:noFill/>
        </p:spPr>
        <p:txBody>
          <a:bodyPr wrap="square" lIns="9144" tIns="0" rIns="9144" bIns="0" anchor="ctr">
            <a:noAutofit/>
          </a:bodyPr>
          <a:lstStyle/>
          <a:p>
            <a:pPr algn="ctr">
              <a:lnSpc>
                <a:spcPct val="105000"/>
              </a:lnSpc>
              <a:spcAft>
                <a:spcPts val="0"/>
              </a:spcAft>
            </a:pPr>
            <a:r>
              <a:rPr sz="840" b="1" i="0">
                <a:solidFill>
                  <a:srgbClr val="A6F26B"/>
                </a:solidFill>
                <a:latin typeface="Avenir Next"/>
              </a:rPr>
              <a:t>3D DIGITAL TWIN</a:t>
            </a:r>
          </a:p>
        </p:txBody>
      </p:sp>
      <p:sp>
        <p:nvSpPr>
          <p:cNvPr id="17" name="Rounded Rectangle 16"/>
          <p:cNvSpPr/>
          <p:nvPr/>
        </p:nvSpPr>
        <p:spPr>
          <a:xfrm>
            <a:off x="4069079" y="6419088"/>
            <a:ext cx="2331720" cy="384048"/>
          </a:xfrm>
          <a:prstGeom prst="roundRect">
            <a:avLst>
              <a:gd name="adj" fmla="val 50000"/>
            </a:avLst>
          </a:prstGeom>
          <a:solidFill>
            <a:srgbClr val="0A221B"/>
          </a:solidFill>
          <a:ln w="8890">
            <a:solidFill>
              <a:srgbClr val="A6F26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4105655" y="6437375"/>
            <a:ext cx="2258568" cy="347472"/>
          </a:xfrm>
          <a:prstGeom prst="rect">
            <a:avLst/>
          </a:prstGeom>
          <a:noFill/>
        </p:spPr>
        <p:txBody>
          <a:bodyPr wrap="square" lIns="9144" tIns="0" rIns="9144" bIns="0" anchor="ctr">
            <a:noAutofit/>
          </a:bodyPr>
          <a:lstStyle/>
          <a:p>
            <a:pPr algn="ctr">
              <a:lnSpc>
                <a:spcPct val="105000"/>
              </a:lnSpc>
              <a:spcAft>
                <a:spcPts val="0"/>
              </a:spcAft>
            </a:pPr>
            <a:r>
              <a:rPr sz="840" b="1" i="0">
                <a:solidFill>
                  <a:srgbClr val="A6F26B"/>
                </a:solidFill>
                <a:latin typeface="Avenir Next"/>
              </a:rPr>
              <a:t>TRUST-GATED AI</a:t>
            </a:r>
          </a:p>
        </p:txBody>
      </p:sp>
      <p:sp>
        <p:nvSpPr>
          <p:cNvPr id="19" name="Rounded Rectangle 18"/>
          <p:cNvSpPr/>
          <p:nvPr/>
        </p:nvSpPr>
        <p:spPr>
          <a:xfrm>
            <a:off x="6858000" y="6419088"/>
            <a:ext cx="2697480" cy="384048"/>
          </a:xfrm>
          <a:prstGeom prst="roundRect">
            <a:avLst>
              <a:gd name="adj" fmla="val 50000"/>
            </a:avLst>
          </a:prstGeom>
          <a:solidFill>
            <a:srgbClr val="0A221B"/>
          </a:solidFill>
          <a:ln w="8890">
            <a:solidFill>
              <a:srgbClr val="A6F26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6894576" y="6437375"/>
            <a:ext cx="2624328" cy="347472"/>
          </a:xfrm>
          <a:prstGeom prst="rect">
            <a:avLst/>
          </a:prstGeom>
          <a:noFill/>
        </p:spPr>
        <p:txBody>
          <a:bodyPr wrap="square" lIns="9144" tIns="0" rIns="9144" bIns="0" anchor="ctr">
            <a:noAutofit/>
          </a:bodyPr>
          <a:lstStyle/>
          <a:p>
            <a:pPr algn="ctr">
              <a:lnSpc>
                <a:spcPct val="105000"/>
              </a:lnSpc>
              <a:spcAft>
                <a:spcPts val="0"/>
              </a:spcAft>
            </a:pPr>
            <a:r>
              <a:rPr sz="840" b="1" i="0">
                <a:solidFill>
                  <a:srgbClr val="A6F26B"/>
                </a:solidFill>
                <a:latin typeface="Avenir Next"/>
              </a:rPr>
              <a:t>WASTE-TO-ENERGY</a:t>
            </a:r>
          </a:p>
        </p:txBody>
      </p:sp>
      <p:sp>
        <p:nvSpPr>
          <p:cNvPr id="21" name="TextBox 20"/>
          <p:cNvSpPr txBox="1"/>
          <p:nvPr/>
        </p:nvSpPr>
        <p:spPr>
          <a:xfrm>
            <a:off x="1280160" y="7726679"/>
            <a:ext cx="7315200" cy="310896"/>
          </a:xfrm>
          <a:prstGeom prst="rect">
            <a:avLst/>
          </a:prstGeom>
          <a:noFill/>
        </p:spPr>
        <p:txBody>
          <a:bodyPr wrap="square" lIns="18288" tIns="18288" rIns="18288" bIns="18288" anchor="t">
            <a:noAutofit/>
          </a:bodyPr>
          <a:lstStyle/>
          <a:p>
            <a:pPr algn="l">
              <a:lnSpc>
                <a:spcPct val="105000"/>
              </a:lnSpc>
              <a:spcAft>
                <a:spcPts val="0"/>
              </a:spcAft>
            </a:pPr>
            <a:r>
              <a:rPr sz="1050" b="0" i="0" dirty="0">
                <a:solidFill>
                  <a:srgbClr val="ADC9BE"/>
                </a:solidFill>
                <a:latin typeface="Avenir Next"/>
              </a:rPr>
              <a:t>International College of Business Technology  ·  Sri Lanka</a:t>
            </a:r>
          </a:p>
        </p:txBody>
      </p:sp>
      <p:sp>
        <p:nvSpPr>
          <p:cNvPr id="22" name="TextBox 21"/>
          <p:cNvSpPr txBox="1"/>
          <p:nvPr/>
        </p:nvSpPr>
        <p:spPr>
          <a:xfrm>
            <a:off x="1280160" y="8046720"/>
            <a:ext cx="7315200" cy="310896"/>
          </a:xfrm>
          <a:prstGeom prst="rect">
            <a:avLst/>
          </a:prstGeom>
          <a:noFill/>
        </p:spPr>
        <p:txBody>
          <a:bodyPr wrap="square" lIns="18288" tIns="18288" rIns="18288" bIns="18288" anchor="t">
            <a:noAutofit/>
          </a:bodyPr>
          <a:lstStyle/>
          <a:p>
            <a:pPr algn="l">
              <a:lnSpc>
                <a:spcPct val="105000"/>
              </a:lnSpc>
              <a:spcAft>
                <a:spcPts val="0"/>
              </a:spcAft>
            </a:pPr>
            <a:r>
              <a:rPr sz="950" b="0" i="0">
                <a:solidFill>
                  <a:srgbClr val="7CA091"/>
                </a:solidFill>
                <a:latin typeface="Avenir Next"/>
              </a:rPr>
              <a:t>Live demo: github.com/Ridma-kithara/TrustFarm_INNOVA</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1A1D1C"/>
        </a:solidFill>
        <a:effectLst/>
      </p:bgPr>
    </p:bg>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25192566" h="16800292">
                <a:moveTo>
                  <a:pt x="0" y="0"/>
                </a:moveTo>
                <a:lnTo>
                  <a:pt x="25192566" y="0"/>
                </a:lnTo>
                <a:lnTo>
                  <a:pt x="25192566" y="16800292"/>
                </a:lnTo>
                <a:lnTo>
                  <a:pt x="0" y="16800292"/>
                </a:lnTo>
                <a:lnTo>
                  <a:pt x="0" y="0"/>
                </a:lnTo>
                <a:close/>
              </a:path>
            </a:pathLst>
          </a:custGeom>
          <a:blipFill>
            <a:blip r:embed="rId3"/>
            <a:stretch>
              <a:fillRect/>
            </a:stretch>
          </a:blipFill>
        </p:spPr>
        <p:txBody>
          <a:bodyPr/>
          <a:lstStyle/>
          <a:p>
            <a:endParaRPr/>
          </a:p>
        </p:txBody>
      </p:sp>
      <p:sp>
        <p:nvSpPr>
          <p:cNvPr id="3" name="Freeform 3"/>
          <p:cNvSpPr/>
          <p:nvPr/>
        </p:nvSpPr>
        <p:spPr>
          <a:xfrm>
            <a:off x="12596283" y="8658721"/>
            <a:ext cx="6457129" cy="1628279"/>
          </a:xfrm>
          <a:custGeom>
            <a:avLst/>
            <a:gdLst/>
            <a:ahLst/>
            <a:cxnLst/>
            <a:rect l="l" t="t" r="r" b="b"/>
            <a:pathLst>
              <a:path w="6457129" h="1628279">
                <a:moveTo>
                  <a:pt x="0" y="0"/>
                </a:moveTo>
                <a:lnTo>
                  <a:pt x="6457129" y="0"/>
                </a:lnTo>
                <a:lnTo>
                  <a:pt x="6457129" y="1628279"/>
                </a:lnTo>
                <a:lnTo>
                  <a:pt x="0" y="1628279"/>
                </a:lnTo>
                <a:lnTo>
                  <a:pt x="0" y="0"/>
                </a:lnTo>
                <a:close/>
              </a:path>
            </a:pathLst>
          </a:custGeom>
          <a:blipFill>
            <a:blip r:embed="rId4"/>
            <a:stretch>
              <a:fillRect t="-85078" b="-85078"/>
            </a:stretch>
          </a:blipFill>
        </p:spPr>
        <p:txBody>
          <a:bodyPr/>
          <a:lstStyle/>
          <a:p>
            <a:endParaRPr/>
          </a:p>
        </p:txBody>
      </p:sp>
      <p:sp>
        <p:nvSpPr>
          <p:cNvPr id="4" name="Freeform 4"/>
          <p:cNvSpPr/>
          <p:nvPr/>
        </p:nvSpPr>
        <p:spPr>
          <a:xfrm>
            <a:off x="0" y="8072991"/>
            <a:ext cx="2839033" cy="2839033"/>
          </a:xfrm>
          <a:custGeom>
            <a:avLst/>
            <a:gdLst/>
            <a:ahLst/>
            <a:cxnLst/>
            <a:rect l="l" t="t" r="r" b="b"/>
            <a:pathLst>
              <a:path w="2839033" h="2839033">
                <a:moveTo>
                  <a:pt x="0" y="0"/>
                </a:moveTo>
                <a:lnTo>
                  <a:pt x="2839033" y="0"/>
                </a:lnTo>
                <a:lnTo>
                  <a:pt x="2839033" y="2839033"/>
                </a:lnTo>
                <a:lnTo>
                  <a:pt x="0" y="2839033"/>
                </a:lnTo>
                <a:lnTo>
                  <a:pt x="0" y="0"/>
                </a:lnTo>
                <a:close/>
              </a:path>
            </a:pathLst>
          </a:custGeom>
          <a:blipFill>
            <a:blip r:embed="rId5"/>
            <a:stretch>
              <a:fillRect/>
            </a:stretch>
          </a:blipFill>
        </p:spPr>
        <p:txBody>
          <a:bodyPr/>
          <a:lstStyle/>
          <a:p>
            <a:endParaRPr/>
          </a:p>
        </p:txBody>
      </p:sp>
      <p:grpSp>
        <p:nvGrpSpPr>
          <p:cNvPr id="39" name="Group 38">
            <a:extLst>
              <a:ext uri="{FF2B5EF4-FFF2-40B4-BE49-F238E27FC236}">
                <a16:creationId xmlns:a16="http://schemas.microsoft.com/office/drawing/2014/main" id="{24146BA4-2840-FE63-01C8-E3E2D935EBEA}"/>
              </a:ext>
            </a:extLst>
          </p:cNvPr>
          <p:cNvGrpSpPr/>
          <p:nvPr/>
        </p:nvGrpSpPr>
        <p:grpSpPr>
          <a:xfrm>
            <a:off x="13534673" y="4763519"/>
            <a:ext cx="4437044" cy="3656777"/>
            <a:chOff x="14213285" y="4750000"/>
            <a:chExt cx="3810000" cy="3270613"/>
          </a:xfrm>
        </p:grpSpPr>
        <p:sp>
          <p:nvSpPr>
            <p:cNvPr id="34" name="Rounded Rectangle 5">
              <a:extLst>
                <a:ext uri="{FF2B5EF4-FFF2-40B4-BE49-F238E27FC236}">
                  <a16:creationId xmlns:a16="http://schemas.microsoft.com/office/drawing/2014/main" id="{E268C237-8215-6FB7-C231-6DE257A5932B}"/>
                </a:ext>
              </a:extLst>
            </p:cNvPr>
            <p:cNvSpPr/>
            <p:nvPr/>
          </p:nvSpPr>
          <p:spPr>
            <a:xfrm>
              <a:off x="14506685" y="4750000"/>
              <a:ext cx="3271569" cy="3150000"/>
            </a:xfrm>
            <a:prstGeom prst="roundRect">
              <a:avLst>
                <a:gd name="adj" fmla="val 8000"/>
              </a:avLst>
            </a:prstGeom>
            <a:solidFill>
              <a:srgbClr val="06200E">
                <a:alpha val="65000"/>
              </a:srgbClr>
            </a:solidFill>
            <a:ln w="19050">
              <a:solidFill>
                <a:srgbClr val="A6F26B"/>
              </a:solidFill>
            </a:ln>
            <a:effectLst/>
          </p:spPr>
          <p:style>
            <a:lnRef idx="1">
              <a:schemeClr val="accent1"/>
            </a:lnRef>
            <a:fillRef idx="3">
              <a:schemeClr val="accent1"/>
            </a:fillRef>
            <a:effectRef idx="2">
              <a:schemeClr val="accent1"/>
            </a:effectRef>
            <a:fontRef idx="minor">
              <a:schemeClr val="lt1"/>
            </a:fontRef>
          </p:style>
          <p:txBody>
            <a:bodyPr wrap="square" lIns="120000" tIns="80000" rIns="120000" bIns="80000" rtlCol="0" anchor="ctr"/>
            <a:lstStyle/>
            <a:p>
              <a:pPr algn="ctr"/>
              <a:endParaRPr/>
            </a:p>
          </p:txBody>
        </p:sp>
        <p:sp>
          <p:nvSpPr>
            <p:cNvPr id="36" name="Oval 35">
              <a:extLst>
                <a:ext uri="{FF2B5EF4-FFF2-40B4-BE49-F238E27FC236}">
                  <a16:creationId xmlns:a16="http://schemas.microsoft.com/office/drawing/2014/main" id="{F5E1E7DF-E261-C740-185C-3F597E4F8E51}"/>
                </a:ext>
              </a:extLst>
            </p:cNvPr>
            <p:cNvSpPr/>
            <p:nvPr/>
          </p:nvSpPr>
          <p:spPr>
            <a:xfrm>
              <a:off x="15203885" y="4891226"/>
              <a:ext cx="1828800" cy="1909513"/>
            </a:xfrm>
            <a:prstGeom prst="ellipse">
              <a:avLst/>
            </a:prstGeom>
            <a:blipFill>
              <a:blip r:embed="rId6" cstate="print">
                <a:extLst>
                  <a:ext uri="{28A0092B-C50C-407E-A947-70E740481C1C}">
                    <a14:useLocalDpi xmlns:a14="http://schemas.microsoft.com/office/drawing/2010/main" val="0"/>
                  </a:ext>
                </a:extLst>
              </a:blip>
              <a:stretch>
                <a:fillRect/>
              </a:stretch>
            </a:blipFill>
            <a:ln w="19050">
              <a:solidFill>
                <a:srgbClr val="A6F26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p>
          </p:txBody>
        </p:sp>
        <p:sp>
          <p:nvSpPr>
            <p:cNvPr id="38" name="Rectangle 37">
              <a:extLst>
                <a:ext uri="{FF2B5EF4-FFF2-40B4-BE49-F238E27FC236}">
                  <a16:creationId xmlns:a16="http://schemas.microsoft.com/office/drawing/2014/main" id="{6E327A2B-0DC0-3C73-6A0D-08C39A7E94F2}"/>
                </a:ext>
              </a:extLst>
            </p:cNvPr>
            <p:cNvSpPr/>
            <p:nvPr/>
          </p:nvSpPr>
          <p:spPr>
            <a:xfrm>
              <a:off x="14213285" y="6800739"/>
              <a:ext cx="3810000" cy="121987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120000" tIns="80000" rIns="120000" bIns="80000" rtlCol="0" anchor="ctr"/>
            <a:lstStyle/>
            <a:p>
              <a:pPr algn="ctr">
                <a:spcAft>
                  <a:spcPts val="300"/>
                </a:spcAft>
              </a:pPr>
              <a:r>
                <a:rPr lang="pl-PL" sz="2000" dirty="0">
                  <a:solidFill>
                    <a:srgbClr val="A6F26B"/>
                  </a:solidFill>
                  <a:latin typeface="Times New Roman"/>
                </a:rPr>
                <a:t>B</a:t>
              </a:r>
              <a:r>
                <a:rPr lang="en-US" sz="2000" dirty="0">
                  <a:solidFill>
                    <a:srgbClr val="A6F26B"/>
                  </a:solidFill>
                  <a:latin typeface="Times New Roman"/>
                </a:rPr>
                <a:t>.</a:t>
              </a:r>
              <a:r>
                <a:rPr lang="pl-PL" sz="2000" dirty="0">
                  <a:solidFill>
                    <a:srgbClr val="A6F26B"/>
                  </a:solidFill>
                  <a:latin typeface="Times New Roman"/>
                </a:rPr>
                <a:t>W</a:t>
              </a:r>
              <a:r>
                <a:rPr lang="en-US" sz="2000" dirty="0">
                  <a:solidFill>
                    <a:srgbClr val="A6F26B"/>
                  </a:solidFill>
                  <a:latin typeface="Times New Roman"/>
                </a:rPr>
                <a:t>.</a:t>
              </a:r>
              <a:r>
                <a:rPr lang="pl-PL" sz="2000" dirty="0">
                  <a:solidFill>
                    <a:srgbClr val="A6F26B"/>
                  </a:solidFill>
                  <a:latin typeface="Times New Roman"/>
                </a:rPr>
                <a:t>A</a:t>
              </a:r>
              <a:r>
                <a:rPr lang="en-US" sz="2000" dirty="0">
                  <a:solidFill>
                    <a:srgbClr val="A6F26B"/>
                  </a:solidFill>
                  <a:latin typeface="Times New Roman"/>
                </a:rPr>
                <a:t>.</a:t>
              </a:r>
              <a:r>
                <a:rPr lang="pl-PL" sz="2000" dirty="0">
                  <a:solidFill>
                    <a:srgbClr val="A6F26B"/>
                  </a:solidFill>
                  <a:latin typeface="Times New Roman"/>
                </a:rPr>
                <a:t>M</a:t>
              </a:r>
              <a:r>
                <a:rPr lang="en-US" sz="2000" dirty="0">
                  <a:solidFill>
                    <a:srgbClr val="A6F26B"/>
                  </a:solidFill>
                  <a:latin typeface="Times New Roman"/>
                </a:rPr>
                <a:t>.</a:t>
              </a:r>
              <a:r>
                <a:rPr lang="pl-PL" sz="2000" dirty="0">
                  <a:solidFill>
                    <a:srgbClr val="A6F26B"/>
                  </a:solidFill>
                  <a:latin typeface="Times New Roman"/>
                </a:rPr>
                <a:t> Kaushalya</a:t>
              </a:r>
              <a:endParaRPr lang="en-US" sz="2000" dirty="0">
                <a:solidFill>
                  <a:srgbClr val="A6F26B"/>
                </a:solidFill>
                <a:latin typeface="Times New Roman"/>
              </a:endParaRPr>
            </a:p>
            <a:p>
              <a:pPr algn="ctr">
                <a:spcAft>
                  <a:spcPts val="300"/>
                </a:spcAft>
              </a:pPr>
              <a:r>
                <a:rPr lang="en-US" sz="2400" b="1" i="0" dirty="0">
                  <a:solidFill>
                    <a:srgbClr val="FFFFFF"/>
                  </a:solidFill>
                  <a:latin typeface="Times New Roman"/>
                </a:rPr>
                <a:t>Deployment &amp; Integration</a:t>
              </a:r>
            </a:p>
            <a:p>
              <a:pPr algn="ctr">
                <a:spcAft>
                  <a:spcPts val="300"/>
                </a:spcAft>
              </a:pPr>
              <a:endParaRPr lang="en-US" sz="2200" b="0" i="0" dirty="0">
                <a:solidFill>
                  <a:srgbClr val="FFFFFF"/>
                </a:solidFill>
                <a:latin typeface="Times New Roman"/>
              </a:endParaRPr>
            </a:p>
          </p:txBody>
        </p:sp>
      </p:grpSp>
      <p:grpSp>
        <p:nvGrpSpPr>
          <p:cNvPr id="40" name="Group 39">
            <a:extLst>
              <a:ext uri="{FF2B5EF4-FFF2-40B4-BE49-F238E27FC236}">
                <a16:creationId xmlns:a16="http://schemas.microsoft.com/office/drawing/2014/main" id="{2FD99EDA-8B6F-4BC3-AE28-B81151BAF6BD}"/>
              </a:ext>
            </a:extLst>
          </p:cNvPr>
          <p:cNvGrpSpPr/>
          <p:nvPr/>
        </p:nvGrpSpPr>
        <p:grpSpPr>
          <a:xfrm>
            <a:off x="9468642" y="4763519"/>
            <a:ext cx="4437044" cy="3656777"/>
            <a:chOff x="14213285" y="4750000"/>
            <a:chExt cx="3810000" cy="3270613"/>
          </a:xfrm>
        </p:grpSpPr>
        <p:sp>
          <p:nvSpPr>
            <p:cNvPr id="41" name="Rounded Rectangle 5">
              <a:extLst>
                <a:ext uri="{FF2B5EF4-FFF2-40B4-BE49-F238E27FC236}">
                  <a16:creationId xmlns:a16="http://schemas.microsoft.com/office/drawing/2014/main" id="{0840E9F0-F65C-ECC2-ABDD-1629C44D7AC1}"/>
                </a:ext>
              </a:extLst>
            </p:cNvPr>
            <p:cNvSpPr/>
            <p:nvPr/>
          </p:nvSpPr>
          <p:spPr>
            <a:xfrm>
              <a:off x="14506685" y="4750000"/>
              <a:ext cx="3271569" cy="3150000"/>
            </a:xfrm>
            <a:prstGeom prst="roundRect">
              <a:avLst>
                <a:gd name="adj" fmla="val 8000"/>
              </a:avLst>
            </a:prstGeom>
            <a:solidFill>
              <a:srgbClr val="06200E">
                <a:alpha val="65000"/>
              </a:srgbClr>
            </a:solidFill>
            <a:ln w="19050">
              <a:solidFill>
                <a:srgbClr val="A6F26B"/>
              </a:solidFill>
            </a:ln>
            <a:effectLst/>
          </p:spPr>
          <p:style>
            <a:lnRef idx="1">
              <a:schemeClr val="accent1"/>
            </a:lnRef>
            <a:fillRef idx="3">
              <a:schemeClr val="accent1"/>
            </a:fillRef>
            <a:effectRef idx="2">
              <a:schemeClr val="accent1"/>
            </a:effectRef>
            <a:fontRef idx="minor">
              <a:schemeClr val="lt1"/>
            </a:fontRef>
          </p:style>
          <p:txBody>
            <a:bodyPr wrap="square" lIns="120000" tIns="80000" rIns="120000" bIns="80000" rtlCol="0" anchor="ctr"/>
            <a:lstStyle/>
            <a:p>
              <a:pPr algn="ctr"/>
              <a:endParaRPr/>
            </a:p>
          </p:txBody>
        </p:sp>
        <p:sp>
          <p:nvSpPr>
            <p:cNvPr id="42" name="Oval 41">
              <a:extLst>
                <a:ext uri="{FF2B5EF4-FFF2-40B4-BE49-F238E27FC236}">
                  <a16:creationId xmlns:a16="http://schemas.microsoft.com/office/drawing/2014/main" id="{B765F8BE-A817-AC9D-C0E6-982F37D95969}"/>
                </a:ext>
              </a:extLst>
            </p:cNvPr>
            <p:cNvSpPr/>
            <p:nvPr/>
          </p:nvSpPr>
          <p:spPr>
            <a:xfrm>
              <a:off x="15203885" y="4891226"/>
              <a:ext cx="1828800" cy="1909513"/>
            </a:xfrm>
            <a:prstGeom prst="ellipse">
              <a:avLst/>
            </a:prstGeom>
            <a:blipFill dpi="0" rotWithShape="1">
              <a:blip r:embed="rId7" cstate="print">
                <a:extLst>
                  <a:ext uri="{28A0092B-C50C-407E-A947-70E740481C1C}">
                    <a14:useLocalDpi xmlns:a14="http://schemas.microsoft.com/office/drawing/2010/main" val="0"/>
                  </a:ext>
                </a:extLst>
              </a:blip>
              <a:srcRect/>
              <a:stretch>
                <a:fillRect/>
              </a:stretch>
            </a:blipFill>
            <a:ln w="19050">
              <a:solidFill>
                <a:srgbClr val="A6F26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p>
          </p:txBody>
        </p:sp>
        <p:sp>
          <p:nvSpPr>
            <p:cNvPr id="43" name="Rectangle 42">
              <a:extLst>
                <a:ext uri="{FF2B5EF4-FFF2-40B4-BE49-F238E27FC236}">
                  <a16:creationId xmlns:a16="http://schemas.microsoft.com/office/drawing/2014/main" id="{413BD46C-49F7-DCD3-ED85-83FFEEF06128}"/>
                </a:ext>
              </a:extLst>
            </p:cNvPr>
            <p:cNvSpPr/>
            <p:nvPr/>
          </p:nvSpPr>
          <p:spPr>
            <a:xfrm>
              <a:off x="14213285" y="6800739"/>
              <a:ext cx="3810000" cy="121987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120000" tIns="80000" rIns="120000" bIns="80000" rtlCol="0" anchor="ctr"/>
            <a:lstStyle/>
            <a:p>
              <a:pPr algn="ctr">
                <a:spcAft>
                  <a:spcPts val="300"/>
                </a:spcAft>
              </a:pPr>
              <a:r>
                <a:rPr lang="en-US" sz="2000" dirty="0">
                  <a:solidFill>
                    <a:srgbClr val="A6F26B"/>
                  </a:solidFill>
                  <a:latin typeface="Times New Roman"/>
                </a:rPr>
                <a:t>W.P.A. Rasith Maleesha</a:t>
              </a:r>
            </a:p>
            <a:p>
              <a:pPr algn="ctr">
                <a:spcAft>
                  <a:spcPts val="300"/>
                </a:spcAft>
              </a:pPr>
              <a:r>
                <a:rPr lang="en-US" sz="2400" b="1" i="0" dirty="0">
                  <a:solidFill>
                    <a:srgbClr val="FFFFFF"/>
                  </a:solidFill>
                  <a:latin typeface="Times New Roman"/>
                </a:rPr>
                <a:t>Web &amp; Mobile Applications</a:t>
              </a:r>
            </a:p>
            <a:p>
              <a:pPr algn="ctr">
                <a:spcAft>
                  <a:spcPts val="300"/>
                </a:spcAft>
              </a:pPr>
              <a:endParaRPr lang="en-US" sz="2200" b="0" i="0" dirty="0">
                <a:solidFill>
                  <a:srgbClr val="FFFFFF"/>
                </a:solidFill>
                <a:latin typeface="Times New Roman"/>
              </a:endParaRPr>
            </a:p>
          </p:txBody>
        </p:sp>
      </p:grpSp>
      <p:grpSp>
        <p:nvGrpSpPr>
          <p:cNvPr id="44" name="Group 43">
            <a:extLst>
              <a:ext uri="{FF2B5EF4-FFF2-40B4-BE49-F238E27FC236}">
                <a16:creationId xmlns:a16="http://schemas.microsoft.com/office/drawing/2014/main" id="{A3E36783-C231-0644-5A01-BCBEBF7345FA}"/>
              </a:ext>
            </a:extLst>
          </p:cNvPr>
          <p:cNvGrpSpPr/>
          <p:nvPr/>
        </p:nvGrpSpPr>
        <p:grpSpPr>
          <a:xfrm>
            <a:off x="5419112" y="4763519"/>
            <a:ext cx="4437044" cy="3656777"/>
            <a:chOff x="14213285" y="4750000"/>
            <a:chExt cx="3810000" cy="3270613"/>
          </a:xfrm>
        </p:grpSpPr>
        <p:sp>
          <p:nvSpPr>
            <p:cNvPr id="45" name="Rounded Rectangle 5">
              <a:extLst>
                <a:ext uri="{FF2B5EF4-FFF2-40B4-BE49-F238E27FC236}">
                  <a16:creationId xmlns:a16="http://schemas.microsoft.com/office/drawing/2014/main" id="{FA80C362-40DD-3135-FEB7-C3C6CF2B3D26}"/>
                </a:ext>
              </a:extLst>
            </p:cNvPr>
            <p:cNvSpPr/>
            <p:nvPr/>
          </p:nvSpPr>
          <p:spPr>
            <a:xfrm>
              <a:off x="14506685" y="4750000"/>
              <a:ext cx="3271569" cy="3150000"/>
            </a:xfrm>
            <a:prstGeom prst="roundRect">
              <a:avLst>
                <a:gd name="adj" fmla="val 8000"/>
              </a:avLst>
            </a:prstGeom>
            <a:solidFill>
              <a:srgbClr val="06200E">
                <a:alpha val="65000"/>
              </a:srgbClr>
            </a:solidFill>
            <a:ln w="19050">
              <a:solidFill>
                <a:srgbClr val="A6F26B"/>
              </a:solidFill>
            </a:ln>
            <a:effectLst/>
          </p:spPr>
          <p:style>
            <a:lnRef idx="1">
              <a:schemeClr val="accent1"/>
            </a:lnRef>
            <a:fillRef idx="3">
              <a:schemeClr val="accent1"/>
            </a:fillRef>
            <a:effectRef idx="2">
              <a:schemeClr val="accent1"/>
            </a:effectRef>
            <a:fontRef idx="minor">
              <a:schemeClr val="lt1"/>
            </a:fontRef>
          </p:style>
          <p:txBody>
            <a:bodyPr wrap="square" lIns="120000" tIns="80000" rIns="120000" bIns="80000" rtlCol="0" anchor="ctr"/>
            <a:lstStyle/>
            <a:p>
              <a:pPr algn="ctr"/>
              <a:endParaRPr/>
            </a:p>
          </p:txBody>
        </p:sp>
        <p:sp>
          <p:nvSpPr>
            <p:cNvPr id="46" name="Oval 45">
              <a:extLst>
                <a:ext uri="{FF2B5EF4-FFF2-40B4-BE49-F238E27FC236}">
                  <a16:creationId xmlns:a16="http://schemas.microsoft.com/office/drawing/2014/main" id="{30FB1AF0-979E-19BB-6396-BF0189E302D6}"/>
                </a:ext>
              </a:extLst>
            </p:cNvPr>
            <p:cNvSpPr/>
            <p:nvPr/>
          </p:nvSpPr>
          <p:spPr>
            <a:xfrm>
              <a:off x="15203885" y="4891226"/>
              <a:ext cx="1828800" cy="1909513"/>
            </a:xfrm>
            <a:prstGeom prst="ellipse">
              <a:avLst/>
            </a:prstGeom>
            <a:blipFill>
              <a:blip r:embed="rId8" cstate="print">
                <a:extLst>
                  <a:ext uri="{28A0092B-C50C-407E-A947-70E740481C1C}">
                    <a14:useLocalDpi xmlns:a14="http://schemas.microsoft.com/office/drawing/2010/main" val="0"/>
                  </a:ext>
                </a:extLst>
              </a:blip>
              <a:stretch>
                <a:fillRect/>
              </a:stretch>
            </a:blipFill>
            <a:ln w="19050">
              <a:solidFill>
                <a:srgbClr val="A6F26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p>
          </p:txBody>
        </p:sp>
        <p:sp>
          <p:nvSpPr>
            <p:cNvPr id="47" name="Rectangle 46">
              <a:extLst>
                <a:ext uri="{FF2B5EF4-FFF2-40B4-BE49-F238E27FC236}">
                  <a16:creationId xmlns:a16="http://schemas.microsoft.com/office/drawing/2014/main" id="{A907DCE6-BEB4-E8AE-C3AA-E7AFB66103DD}"/>
                </a:ext>
              </a:extLst>
            </p:cNvPr>
            <p:cNvSpPr/>
            <p:nvPr/>
          </p:nvSpPr>
          <p:spPr>
            <a:xfrm>
              <a:off x="14213285" y="6800739"/>
              <a:ext cx="3810000" cy="121987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120000" tIns="80000" rIns="120000" bIns="80000" rtlCol="0" anchor="ctr"/>
            <a:lstStyle/>
            <a:p>
              <a:pPr algn="ctr">
                <a:spcAft>
                  <a:spcPts val="300"/>
                </a:spcAft>
              </a:pPr>
              <a:r>
                <a:rPr lang="de-DE" sz="2000" dirty="0">
                  <a:solidFill>
                    <a:srgbClr val="A6F26B"/>
                  </a:solidFill>
                  <a:latin typeface="Times New Roman"/>
                </a:rPr>
                <a:t>B.V.D.T. Senmitha Binaragama</a:t>
              </a:r>
              <a:endParaRPr lang="en-US" sz="2000" dirty="0">
                <a:solidFill>
                  <a:srgbClr val="A6F26B"/>
                </a:solidFill>
                <a:latin typeface="Times New Roman"/>
              </a:endParaRPr>
            </a:p>
            <a:p>
              <a:pPr algn="ctr">
                <a:spcAft>
                  <a:spcPts val="300"/>
                </a:spcAft>
              </a:pPr>
              <a:r>
                <a:rPr lang="en-US" sz="2400" b="1" dirty="0">
                  <a:solidFill>
                    <a:srgbClr val="FFFFFF"/>
                  </a:solidFill>
                  <a:latin typeface="Times New Roman"/>
                </a:rPr>
                <a:t>IoT &amp; Communication</a:t>
              </a:r>
              <a:endParaRPr lang="en-US" sz="2400" b="1" i="0" dirty="0">
                <a:solidFill>
                  <a:srgbClr val="FFFFFF"/>
                </a:solidFill>
                <a:latin typeface="Times New Roman"/>
              </a:endParaRPr>
            </a:p>
            <a:p>
              <a:pPr algn="ctr">
                <a:spcAft>
                  <a:spcPts val="300"/>
                </a:spcAft>
              </a:pPr>
              <a:endParaRPr lang="en-US" sz="2200" b="0" i="0" dirty="0">
                <a:solidFill>
                  <a:srgbClr val="FFFFFF"/>
                </a:solidFill>
                <a:latin typeface="Times New Roman"/>
              </a:endParaRPr>
            </a:p>
          </p:txBody>
        </p:sp>
      </p:grpSp>
      <p:grpSp>
        <p:nvGrpSpPr>
          <p:cNvPr id="49" name="Group 48">
            <a:extLst>
              <a:ext uri="{FF2B5EF4-FFF2-40B4-BE49-F238E27FC236}">
                <a16:creationId xmlns:a16="http://schemas.microsoft.com/office/drawing/2014/main" id="{A896712C-F58D-3DBE-3796-BAA4D9AB872A}"/>
              </a:ext>
            </a:extLst>
          </p:cNvPr>
          <p:cNvGrpSpPr/>
          <p:nvPr/>
        </p:nvGrpSpPr>
        <p:grpSpPr>
          <a:xfrm>
            <a:off x="1289049" y="4763519"/>
            <a:ext cx="4437044" cy="3656777"/>
            <a:chOff x="14213285" y="4750000"/>
            <a:chExt cx="3810000" cy="3270613"/>
          </a:xfrm>
        </p:grpSpPr>
        <p:sp>
          <p:nvSpPr>
            <p:cNvPr id="50" name="Rounded Rectangle 5">
              <a:extLst>
                <a:ext uri="{FF2B5EF4-FFF2-40B4-BE49-F238E27FC236}">
                  <a16:creationId xmlns:a16="http://schemas.microsoft.com/office/drawing/2014/main" id="{61A02E97-6132-4877-10FC-4A2F9B43CC91}"/>
                </a:ext>
              </a:extLst>
            </p:cNvPr>
            <p:cNvSpPr/>
            <p:nvPr/>
          </p:nvSpPr>
          <p:spPr>
            <a:xfrm>
              <a:off x="14506685" y="4750000"/>
              <a:ext cx="3271569" cy="3150000"/>
            </a:xfrm>
            <a:prstGeom prst="roundRect">
              <a:avLst>
                <a:gd name="adj" fmla="val 8000"/>
              </a:avLst>
            </a:prstGeom>
            <a:solidFill>
              <a:srgbClr val="06200E">
                <a:alpha val="65000"/>
              </a:srgbClr>
            </a:solidFill>
            <a:ln w="19050">
              <a:solidFill>
                <a:srgbClr val="A6F26B"/>
              </a:solidFill>
            </a:ln>
            <a:effectLst/>
          </p:spPr>
          <p:style>
            <a:lnRef idx="1">
              <a:schemeClr val="accent1"/>
            </a:lnRef>
            <a:fillRef idx="3">
              <a:schemeClr val="accent1"/>
            </a:fillRef>
            <a:effectRef idx="2">
              <a:schemeClr val="accent1"/>
            </a:effectRef>
            <a:fontRef idx="minor">
              <a:schemeClr val="lt1"/>
            </a:fontRef>
          </p:style>
          <p:txBody>
            <a:bodyPr wrap="square" lIns="120000" tIns="80000" rIns="120000" bIns="80000" rtlCol="0" anchor="ctr"/>
            <a:lstStyle/>
            <a:p>
              <a:pPr algn="ctr"/>
              <a:endParaRPr/>
            </a:p>
          </p:txBody>
        </p:sp>
        <p:sp>
          <p:nvSpPr>
            <p:cNvPr id="51" name="Oval 50">
              <a:extLst>
                <a:ext uri="{FF2B5EF4-FFF2-40B4-BE49-F238E27FC236}">
                  <a16:creationId xmlns:a16="http://schemas.microsoft.com/office/drawing/2014/main" id="{14989552-B882-711D-3A1B-18B4D4D55F22}"/>
                </a:ext>
              </a:extLst>
            </p:cNvPr>
            <p:cNvSpPr/>
            <p:nvPr/>
          </p:nvSpPr>
          <p:spPr>
            <a:xfrm>
              <a:off x="15203885" y="4891226"/>
              <a:ext cx="1828800" cy="1909513"/>
            </a:xfrm>
            <a:prstGeom prst="ellipse">
              <a:avLst/>
            </a:prstGeom>
            <a:blipFill>
              <a:blip r:embed="rId9" cstate="print">
                <a:extLst>
                  <a:ext uri="{28A0092B-C50C-407E-A947-70E740481C1C}">
                    <a14:useLocalDpi xmlns:a14="http://schemas.microsoft.com/office/drawing/2010/main" val="0"/>
                  </a:ext>
                </a:extLst>
              </a:blip>
              <a:stretch>
                <a:fillRect/>
              </a:stretch>
            </a:blipFill>
            <a:ln w="19050">
              <a:solidFill>
                <a:srgbClr val="A6F26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p>
          </p:txBody>
        </p:sp>
        <p:sp>
          <p:nvSpPr>
            <p:cNvPr id="52" name="Rectangle 51">
              <a:extLst>
                <a:ext uri="{FF2B5EF4-FFF2-40B4-BE49-F238E27FC236}">
                  <a16:creationId xmlns:a16="http://schemas.microsoft.com/office/drawing/2014/main" id="{C25B16CB-6588-FFBC-B1C0-1A86239F7D5D}"/>
                </a:ext>
              </a:extLst>
            </p:cNvPr>
            <p:cNvSpPr/>
            <p:nvPr/>
          </p:nvSpPr>
          <p:spPr>
            <a:xfrm>
              <a:off x="14213285" y="6800739"/>
              <a:ext cx="3810000" cy="121987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120000" tIns="80000" rIns="120000" bIns="80000" rtlCol="0" anchor="ctr"/>
            <a:lstStyle/>
            <a:p>
              <a:pPr algn="ctr">
                <a:spcAft>
                  <a:spcPts val="300"/>
                </a:spcAft>
              </a:pPr>
              <a:r>
                <a:rPr lang="pl-PL" sz="2000" dirty="0">
                  <a:solidFill>
                    <a:srgbClr val="A6F26B"/>
                  </a:solidFill>
                  <a:latin typeface="Times New Roman"/>
                </a:rPr>
                <a:t>G</a:t>
              </a:r>
              <a:r>
                <a:rPr lang="en-US" sz="2000" dirty="0">
                  <a:solidFill>
                    <a:srgbClr val="A6F26B"/>
                  </a:solidFill>
                  <a:latin typeface="Times New Roman"/>
                </a:rPr>
                <a:t>.</a:t>
              </a:r>
              <a:r>
                <a:rPr lang="pl-PL" sz="2000" dirty="0">
                  <a:solidFill>
                    <a:srgbClr val="A6F26B"/>
                  </a:solidFill>
                  <a:latin typeface="Times New Roman"/>
                </a:rPr>
                <a:t>W</a:t>
              </a:r>
              <a:r>
                <a:rPr lang="en-US" sz="2000" dirty="0">
                  <a:solidFill>
                    <a:srgbClr val="A6F26B"/>
                  </a:solidFill>
                  <a:latin typeface="Times New Roman"/>
                </a:rPr>
                <a:t>.</a:t>
              </a:r>
              <a:r>
                <a:rPr lang="pl-PL" sz="2000" dirty="0">
                  <a:solidFill>
                    <a:srgbClr val="A6F26B"/>
                  </a:solidFill>
                  <a:latin typeface="Times New Roman"/>
                </a:rPr>
                <a:t>W</a:t>
              </a:r>
              <a:r>
                <a:rPr lang="en-US" sz="2000" dirty="0">
                  <a:solidFill>
                    <a:srgbClr val="A6F26B"/>
                  </a:solidFill>
                  <a:latin typeface="Times New Roman"/>
                </a:rPr>
                <a:t>.</a:t>
              </a:r>
              <a:r>
                <a:rPr lang="pl-PL" sz="2000" dirty="0">
                  <a:solidFill>
                    <a:srgbClr val="A6F26B"/>
                  </a:solidFill>
                  <a:latin typeface="Times New Roman"/>
                </a:rPr>
                <a:t>M</a:t>
              </a:r>
              <a:r>
                <a:rPr lang="en-US" sz="2000" dirty="0">
                  <a:solidFill>
                    <a:srgbClr val="A6F26B"/>
                  </a:solidFill>
                  <a:latin typeface="Times New Roman"/>
                </a:rPr>
                <a:t>.</a:t>
              </a:r>
              <a:r>
                <a:rPr lang="pl-PL" sz="2000" dirty="0">
                  <a:solidFill>
                    <a:srgbClr val="A6F26B"/>
                  </a:solidFill>
                  <a:latin typeface="Times New Roman"/>
                </a:rPr>
                <a:t>R</a:t>
              </a:r>
              <a:r>
                <a:rPr lang="en-US" sz="2000" dirty="0">
                  <a:solidFill>
                    <a:srgbClr val="A6F26B"/>
                  </a:solidFill>
                  <a:latin typeface="Times New Roman"/>
                </a:rPr>
                <a:t>.</a:t>
              </a:r>
              <a:r>
                <a:rPr lang="pl-PL" sz="2000" dirty="0">
                  <a:solidFill>
                    <a:srgbClr val="A6F26B"/>
                  </a:solidFill>
                  <a:latin typeface="Times New Roman"/>
                </a:rPr>
                <a:t> Kithara Kirinda</a:t>
              </a:r>
              <a:endParaRPr lang="en-US" sz="2000" dirty="0">
                <a:solidFill>
                  <a:srgbClr val="A6F26B"/>
                </a:solidFill>
                <a:latin typeface="Times New Roman"/>
              </a:endParaRPr>
            </a:p>
            <a:p>
              <a:pPr algn="ctr">
                <a:spcAft>
                  <a:spcPts val="300"/>
                </a:spcAft>
              </a:pPr>
              <a:r>
                <a:rPr lang="en-US" sz="2400" b="1" dirty="0">
                  <a:solidFill>
                    <a:srgbClr val="FFFFFF"/>
                  </a:solidFill>
                  <a:latin typeface="Times New Roman"/>
                </a:rPr>
                <a:t>AI &amp; Backend</a:t>
              </a:r>
              <a:endParaRPr lang="en-US" sz="2400" b="1" i="0" dirty="0">
                <a:solidFill>
                  <a:srgbClr val="FFFFFF"/>
                </a:solidFill>
                <a:latin typeface="Times New Roman"/>
              </a:endParaRPr>
            </a:p>
            <a:p>
              <a:pPr algn="ctr">
                <a:spcAft>
                  <a:spcPts val="300"/>
                </a:spcAft>
              </a:pPr>
              <a:endParaRPr lang="en-US" sz="2200" b="0" i="0" dirty="0">
                <a:solidFill>
                  <a:srgbClr val="FFFFFF"/>
                </a:solidFill>
                <a:latin typeface="Times New Roman"/>
              </a:endParaRPr>
            </a:p>
          </p:txBody>
        </p:sp>
      </p:grpSp>
      <p:sp>
        <p:nvSpPr>
          <p:cNvPr id="53" name="TextBox 52"/>
          <p:cNvSpPr txBox="1"/>
          <p:nvPr/>
        </p:nvSpPr>
        <p:spPr>
          <a:xfrm>
            <a:off x="1143000" y="841248"/>
            <a:ext cx="10972800" cy="292608"/>
          </a:xfrm>
          <a:prstGeom prst="rect">
            <a:avLst/>
          </a:prstGeom>
          <a:noFill/>
        </p:spPr>
        <p:txBody>
          <a:bodyPr wrap="square" lIns="0" tIns="0" rIns="0" bIns="0" anchor="t">
            <a:noAutofit/>
          </a:bodyPr>
          <a:lstStyle/>
          <a:p>
            <a:pPr algn="l">
              <a:lnSpc>
                <a:spcPct val="105000"/>
              </a:lnSpc>
              <a:spcAft>
                <a:spcPts val="0"/>
              </a:spcAft>
            </a:pPr>
            <a:r>
              <a:rPr sz="1000" b="1" i="0">
                <a:solidFill>
                  <a:srgbClr val="A6F26B"/>
                </a:solidFill>
                <a:latin typeface="Avenir Next"/>
              </a:rPr>
              <a:t>TEAM · ICBT</a:t>
            </a:r>
          </a:p>
        </p:txBody>
      </p:sp>
      <p:sp>
        <p:nvSpPr>
          <p:cNvPr id="54" name="TextBox 53"/>
          <p:cNvSpPr txBox="1"/>
          <p:nvPr/>
        </p:nvSpPr>
        <p:spPr>
          <a:xfrm>
            <a:off x="1097280" y="1124712"/>
            <a:ext cx="13075920" cy="676656"/>
          </a:xfrm>
          <a:prstGeom prst="rect">
            <a:avLst/>
          </a:prstGeom>
          <a:noFill/>
        </p:spPr>
        <p:txBody>
          <a:bodyPr wrap="square" lIns="0" tIns="0" rIns="0" bIns="0" anchor="t">
            <a:noAutofit/>
          </a:bodyPr>
          <a:lstStyle/>
          <a:p>
            <a:pPr algn="l">
              <a:lnSpc>
                <a:spcPct val="98000"/>
              </a:lnSpc>
              <a:spcAft>
                <a:spcPts val="0"/>
              </a:spcAft>
            </a:pPr>
            <a:r>
              <a:rPr sz="3000" b="1" i="0">
                <a:solidFill>
                  <a:srgbClr val="F4FFFA"/>
                </a:solidFill>
                <a:latin typeface="Avenir Next"/>
              </a:rPr>
              <a:t>Four disciplines. One integrated system.</a:t>
            </a:r>
          </a:p>
        </p:txBody>
      </p:sp>
      <p:sp>
        <p:nvSpPr>
          <p:cNvPr id="55" name="TextBox 54"/>
          <p:cNvSpPr txBox="1"/>
          <p:nvPr/>
        </p:nvSpPr>
        <p:spPr>
          <a:xfrm>
            <a:off x="1143000" y="1865376"/>
            <a:ext cx="13258800" cy="502920"/>
          </a:xfrm>
          <a:prstGeom prst="rect">
            <a:avLst/>
          </a:prstGeom>
          <a:noFill/>
        </p:spPr>
        <p:txBody>
          <a:bodyPr wrap="square" lIns="0" tIns="0" rIns="0" bIns="0" anchor="t">
            <a:noAutofit/>
          </a:bodyPr>
          <a:lstStyle/>
          <a:p>
            <a:pPr algn="l">
              <a:lnSpc>
                <a:spcPct val="110000"/>
              </a:lnSpc>
              <a:spcAft>
                <a:spcPts val="0"/>
              </a:spcAft>
            </a:pPr>
            <a:r>
              <a:rPr sz="1400" b="0" i="0">
                <a:solidFill>
                  <a:srgbClr val="ADC9BE"/>
                </a:solidFill>
                <a:latin typeface="Avenir Next"/>
              </a:rPr>
              <a:t>International College of Business Technology  ·  INNOVA 2026</a:t>
            </a:r>
          </a:p>
        </p:txBody>
      </p:sp>
      <p:sp>
        <p:nvSpPr>
          <p:cNvPr id="56" name="Rectangle 55"/>
          <p:cNvSpPr/>
          <p:nvPr/>
        </p:nvSpPr>
        <p:spPr>
          <a:xfrm>
            <a:off x="1143000" y="2542032"/>
            <a:ext cx="1143000" cy="41148"/>
          </a:xfrm>
          <a:prstGeom prst="rect">
            <a:avLst/>
          </a:prstGeom>
          <a:solidFill>
            <a:srgbClr val="A6F2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7" name="Rounded Rectangle 56"/>
          <p:cNvSpPr/>
          <p:nvPr/>
        </p:nvSpPr>
        <p:spPr>
          <a:xfrm>
            <a:off x="14127480" y="1143000"/>
            <a:ext cx="3017520" cy="347472"/>
          </a:xfrm>
          <a:prstGeom prst="roundRect">
            <a:avLst>
              <a:gd name="adj" fmla="val 50000"/>
            </a:avLst>
          </a:prstGeom>
          <a:solidFill>
            <a:srgbClr val="0A221B"/>
          </a:solidFill>
          <a:ln w="8890">
            <a:solidFill>
              <a:srgbClr val="A6F26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8" name="TextBox 57"/>
          <p:cNvSpPr txBox="1"/>
          <p:nvPr/>
        </p:nvSpPr>
        <p:spPr>
          <a:xfrm>
            <a:off x="14164055" y="1161288"/>
            <a:ext cx="2944368" cy="310896"/>
          </a:xfrm>
          <a:prstGeom prst="rect">
            <a:avLst/>
          </a:prstGeom>
          <a:noFill/>
        </p:spPr>
        <p:txBody>
          <a:bodyPr wrap="square" lIns="9144" tIns="0" rIns="9144" bIns="0" anchor="ctr">
            <a:noAutofit/>
          </a:bodyPr>
          <a:lstStyle/>
          <a:p>
            <a:pPr algn="ctr">
              <a:lnSpc>
                <a:spcPct val="105000"/>
              </a:lnSpc>
              <a:spcAft>
                <a:spcPts val="0"/>
              </a:spcAft>
            </a:pPr>
            <a:r>
              <a:rPr sz="819" b="1" i="0">
                <a:solidFill>
                  <a:srgbClr val="A6F26B"/>
                </a:solidFill>
                <a:latin typeface="Avenir Next"/>
              </a:rPr>
              <a:t>TEAM OF 4</a:t>
            </a:r>
          </a:p>
        </p:txBody>
      </p:sp>
      <p:sp>
        <p:nvSpPr>
          <p:cNvPr id="59" name="TextBox 58"/>
          <p:cNvSpPr txBox="1"/>
          <p:nvPr/>
        </p:nvSpPr>
        <p:spPr>
          <a:xfrm>
            <a:off x="1143000" y="2926080"/>
            <a:ext cx="11887200" cy="438912"/>
          </a:xfrm>
          <a:prstGeom prst="rect">
            <a:avLst/>
          </a:prstGeom>
          <a:noFill/>
        </p:spPr>
        <p:txBody>
          <a:bodyPr wrap="square" lIns="18288" tIns="18288" rIns="18288" bIns="18288" anchor="t">
            <a:noAutofit/>
          </a:bodyPr>
          <a:lstStyle/>
          <a:p>
            <a:pPr algn="l">
              <a:lnSpc>
                <a:spcPct val="105000"/>
              </a:lnSpc>
              <a:spcAft>
                <a:spcPts val="0"/>
              </a:spcAft>
            </a:pPr>
            <a:r>
              <a:rPr sz="2200" b="1" i="1">
                <a:solidFill>
                  <a:srgbClr val="A6F26B"/>
                </a:solidFill>
                <a:latin typeface="Avenir Next"/>
              </a:rPr>
              <a:t>“Trust before advice.”</a:t>
            </a:r>
          </a:p>
        </p:txBody>
      </p:sp>
      <p:sp>
        <p:nvSpPr>
          <p:cNvPr id="60" name="TextBox 59"/>
          <p:cNvSpPr txBox="1"/>
          <p:nvPr/>
        </p:nvSpPr>
        <p:spPr>
          <a:xfrm>
            <a:off x="1143000" y="3456432"/>
            <a:ext cx="12435840" cy="384048"/>
          </a:xfrm>
          <a:prstGeom prst="rect">
            <a:avLst/>
          </a:prstGeom>
          <a:noFill/>
        </p:spPr>
        <p:txBody>
          <a:bodyPr wrap="square" lIns="18288" tIns="18288" rIns="18288" bIns="18288" anchor="t">
            <a:noAutofit/>
          </a:bodyPr>
          <a:lstStyle/>
          <a:p>
            <a:pPr algn="l">
              <a:lnSpc>
                <a:spcPct val="105000"/>
              </a:lnSpc>
              <a:spcAft>
                <a:spcPts val="0"/>
              </a:spcAft>
            </a:pPr>
            <a:r>
              <a:rPr sz="1250" b="0" i="0">
                <a:solidFill>
                  <a:srgbClr val="ADC9BE"/>
                </a:solidFill>
                <a:latin typeface="Avenir Next"/>
              </a:rPr>
              <a:t>AI &amp; backend  ·  web &amp; mobile  ·  IoT &amp; communication  ·  deployment &amp; integration</a:t>
            </a:r>
          </a:p>
        </p:txBody>
      </p:sp>
      <p:sp>
        <p:nvSpPr>
          <p:cNvPr id="61" name="Rounded Rectangle 60"/>
          <p:cNvSpPr/>
          <p:nvPr/>
        </p:nvSpPr>
        <p:spPr>
          <a:xfrm>
            <a:off x="1289304" y="4297680"/>
            <a:ext cx="1691640" cy="283464"/>
          </a:xfrm>
          <a:prstGeom prst="roundRect">
            <a:avLst>
              <a:gd name="adj" fmla="val 50000"/>
            </a:avLst>
          </a:prstGeom>
          <a:solidFill>
            <a:srgbClr val="0A221B"/>
          </a:solidFill>
          <a:ln w="8890">
            <a:solidFill>
              <a:srgbClr val="F5C45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2" name="TextBox 61"/>
          <p:cNvSpPr txBox="1"/>
          <p:nvPr/>
        </p:nvSpPr>
        <p:spPr>
          <a:xfrm>
            <a:off x="1325880" y="4315968"/>
            <a:ext cx="1618488" cy="246888"/>
          </a:xfrm>
          <a:prstGeom prst="rect">
            <a:avLst/>
          </a:prstGeom>
          <a:noFill/>
        </p:spPr>
        <p:txBody>
          <a:bodyPr wrap="square" lIns="9144" tIns="0" rIns="9144" bIns="0" anchor="ctr">
            <a:noAutofit/>
          </a:bodyPr>
          <a:lstStyle/>
          <a:p>
            <a:pPr algn="ctr">
              <a:lnSpc>
                <a:spcPct val="105000"/>
              </a:lnSpc>
              <a:spcAft>
                <a:spcPts val="0"/>
              </a:spcAft>
            </a:pPr>
            <a:r>
              <a:rPr sz="760" b="1" i="0">
                <a:solidFill>
                  <a:srgbClr val="F5C451"/>
                </a:solidFill>
                <a:latin typeface="Avenir Next"/>
              </a:rPr>
              <a:t>TEAM LEADER</a:t>
            </a:r>
          </a:p>
        </p:txBody>
      </p:sp>
      <p:sp>
        <p:nvSpPr>
          <p:cNvPr id="63" name="TextBox 62"/>
          <p:cNvSpPr txBox="1"/>
          <p:nvPr/>
        </p:nvSpPr>
        <p:spPr>
          <a:xfrm>
            <a:off x="3200400" y="8613648"/>
            <a:ext cx="9601200" cy="274320"/>
          </a:xfrm>
          <a:prstGeom prst="rect">
            <a:avLst/>
          </a:prstGeom>
          <a:noFill/>
        </p:spPr>
        <p:txBody>
          <a:bodyPr wrap="square" lIns="18288" tIns="18288" rIns="18288" bIns="18288" anchor="t">
            <a:noAutofit/>
          </a:bodyPr>
          <a:lstStyle/>
          <a:p>
            <a:pPr algn="l">
              <a:lnSpc>
                <a:spcPct val="105000"/>
              </a:lnSpc>
              <a:spcAft>
                <a:spcPts val="0"/>
              </a:spcAft>
            </a:pPr>
            <a:r>
              <a:rPr sz="950" b="0" i="0">
                <a:solidFill>
                  <a:srgbClr val="7CA091"/>
                </a:solidFill>
                <a:latin typeface="Avenir Next"/>
              </a:rPr>
              <a:t>One codebase, one demo story: sensing → trust → forecast → advice → energy.</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1A1D1C"/>
        </a:solidFill>
        <a:effectLst/>
      </p:bgPr>
    </p:bg>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25192566" h="16800292">
                <a:moveTo>
                  <a:pt x="0" y="0"/>
                </a:moveTo>
                <a:lnTo>
                  <a:pt x="25192566" y="0"/>
                </a:lnTo>
                <a:lnTo>
                  <a:pt x="25192566" y="16800292"/>
                </a:lnTo>
                <a:lnTo>
                  <a:pt x="0" y="16800292"/>
                </a:lnTo>
                <a:lnTo>
                  <a:pt x="0" y="0"/>
                </a:lnTo>
                <a:close/>
              </a:path>
            </a:pathLst>
          </a:custGeom>
          <a:blipFill>
            <a:blip r:embed="rId3"/>
            <a:stretch>
              <a:fillRect/>
            </a:stretch>
          </a:blipFill>
        </p:spPr>
        <p:txBody>
          <a:bodyPr/>
          <a:lstStyle/>
          <a:p>
            <a:endParaRPr/>
          </a:p>
        </p:txBody>
      </p:sp>
      <p:sp>
        <p:nvSpPr>
          <p:cNvPr id="3" name="Freeform 3"/>
          <p:cNvSpPr/>
          <p:nvPr/>
        </p:nvSpPr>
        <p:spPr>
          <a:xfrm>
            <a:off x="12596283" y="8658721"/>
            <a:ext cx="6457129" cy="1628279"/>
          </a:xfrm>
          <a:custGeom>
            <a:avLst/>
            <a:gdLst/>
            <a:ahLst/>
            <a:cxnLst/>
            <a:rect l="l" t="t" r="r" b="b"/>
            <a:pathLst>
              <a:path w="6457129" h="1628279">
                <a:moveTo>
                  <a:pt x="0" y="0"/>
                </a:moveTo>
                <a:lnTo>
                  <a:pt x="6457129" y="0"/>
                </a:lnTo>
                <a:lnTo>
                  <a:pt x="6457129" y="1628279"/>
                </a:lnTo>
                <a:lnTo>
                  <a:pt x="0" y="1628279"/>
                </a:lnTo>
                <a:lnTo>
                  <a:pt x="0" y="0"/>
                </a:lnTo>
                <a:close/>
              </a:path>
            </a:pathLst>
          </a:custGeom>
          <a:blipFill>
            <a:blip r:embed="rId4"/>
            <a:stretch>
              <a:fillRect t="-85078" b="-85078"/>
            </a:stretch>
          </a:blipFill>
        </p:spPr>
        <p:txBody>
          <a:bodyPr/>
          <a:lstStyle/>
          <a:p>
            <a:endParaRPr/>
          </a:p>
        </p:txBody>
      </p:sp>
      <p:sp>
        <p:nvSpPr>
          <p:cNvPr id="4" name="Freeform 4"/>
          <p:cNvSpPr/>
          <p:nvPr/>
        </p:nvSpPr>
        <p:spPr>
          <a:xfrm>
            <a:off x="0" y="8072991"/>
            <a:ext cx="2839033" cy="2839033"/>
          </a:xfrm>
          <a:custGeom>
            <a:avLst/>
            <a:gdLst/>
            <a:ahLst/>
            <a:cxnLst/>
            <a:rect l="l" t="t" r="r" b="b"/>
            <a:pathLst>
              <a:path w="2839033" h="2839033">
                <a:moveTo>
                  <a:pt x="0" y="0"/>
                </a:moveTo>
                <a:lnTo>
                  <a:pt x="2839033" y="0"/>
                </a:lnTo>
                <a:lnTo>
                  <a:pt x="2839033" y="2839033"/>
                </a:lnTo>
                <a:lnTo>
                  <a:pt x="0" y="2839033"/>
                </a:lnTo>
                <a:lnTo>
                  <a:pt x="0" y="0"/>
                </a:lnTo>
                <a:close/>
              </a:path>
            </a:pathLst>
          </a:custGeom>
          <a:blipFill>
            <a:blip r:embed="rId5"/>
            <a:stretch>
              <a:fillRect/>
            </a:stretch>
          </a:blipFill>
        </p:spPr>
        <p:txBody>
          <a:bodyPr/>
          <a:lstStyle/>
          <a:p>
            <a:endParaRPr/>
          </a:p>
        </p:txBody>
      </p:sp>
      <p:sp>
        <p:nvSpPr>
          <p:cNvPr id="5" name="TextBox 4"/>
          <p:cNvSpPr txBox="1"/>
          <p:nvPr/>
        </p:nvSpPr>
        <p:spPr>
          <a:xfrm>
            <a:off x="1143000" y="841248"/>
            <a:ext cx="10972800" cy="292608"/>
          </a:xfrm>
          <a:prstGeom prst="rect">
            <a:avLst/>
          </a:prstGeom>
          <a:noFill/>
        </p:spPr>
        <p:txBody>
          <a:bodyPr wrap="square" lIns="0" tIns="0" rIns="0" bIns="0" anchor="t">
            <a:noAutofit/>
          </a:bodyPr>
          <a:lstStyle/>
          <a:p>
            <a:pPr algn="l">
              <a:lnSpc>
                <a:spcPct val="105000"/>
              </a:lnSpc>
              <a:spcAft>
                <a:spcPts val="0"/>
              </a:spcAft>
            </a:pPr>
            <a:r>
              <a:rPr sz="1000" b="1" i="0">
                <a:solidFill>
                  <a:srgbClr val="A6F26B"/>
                </a:solidFill>
                <a:latin typeface="Avenir Next"/>
              </a:rPr>
              <a:t>PROBLEM</a:t>
            </a:r>
          </a:p>
        </p:txBody>
      </p:sp>
      <p:sp>
        <p:nvSpPr>
          <p:cNvPr id="6" name="TextBox 5"/>
          <p:cNvSpPr txBox="1"/>
          <p:nvPr/>
        </p:nvSpPr>
        <p:spPr>
          <a:xfrm>
            <a:off x="1097280" y="1124712"/>
            <a:ext cx="13075920" cy="676656"/>
          </a:xfrm>
          <a:prstGeom prst="rect">
            <a:avLst/>
          </a:prstGeom>
          <a:noFill/>
        </p:spPr>
        <p:txBody>
          <a:bodyPr wrap="square" lIns="0" tIns="0" rIns="0" bIns="0" anchor="t">
            <a:noAutofit/>
          </a:bodyPr>
          <a:lstStyle/>
          <a:p>
            <a:pPr algn="l">
              <a:lnSpc>
                <a:spcPct val="98000"/>
              </a:lnSpc>
              <a:spcAft>
                <a:spcPts val="0"/>
              </a:spcAft>
            </a:pPr>
            <a:r>
              <a:rPr sz="3300" b="1" i="0">
                <a:solidFill>
                  <a:srgbClr val="F4FFFA"/>
                </a:solidFill>
                <a:latin typeface="Avenir Next"/>
              </a:rPr>
              <a:t>Bad data becomes confident bad advice.</a:t>
            </a:r>
          </a:p>
        </p:txBody>
      </p:sp>
      <p:sp>
        <p:nvSpPr>
          <p:cNvPr id="7" name="TextBox 6"/>
          <p:cNvSpPr txBox="1"/>
          <p:nvPr/>
        </p:nvSpPr>
        <p:spPr>
          <a:xfrm>
            <a:off x="1143000" y="1865376"/>
            <a:ext cx="13258800" cy="502920"/>
          </a:xfrm>
          <a:prstGeom prst="rect">
            <a:avLst/>
          </a:prstGeom>
          <a:noFill/>
        </p:spPr>
        <p:txBody>
          <a:bodyPr wrap="square" lIns="0" tIns="0" rIns="0" bIns="0" anchor="t">
            <a:noAutofit/>
          </a:bodyPr>
          <a:lstStyle/>
          <a:p>
            <a:pPr algn="l">
              <a:lnSpc>
                <a:spcPct val="110000"/>
              </a:lnSpc>
              <a:spcAft>
                <a:spcPts val="0"/>
              </a:spcAft>
            </a:pPr>
            <a:r>
              <a:rPr sz="1400" b="0" i="0">
                <a:solidFill>
                  <a:srgbClr val="ADC9BE"/>
                </a:solidFill>
                <a:latin typeface="Avenir Next"/>
              </a:rPr>
              <a:t>Low-cost field sensors fail quietly — and the model still produces an answer.</a:t>
            </a:r>
          </a:p>
        </p:txBody>
      </p:sp>
      <p:sp>
        <p:nvSpPr>
          <p:cNvPr id="8" name="Rectangle 7"/>
          <p:cNvSpPr/>
          <p:nvPr/>
        </p:nvSpPr>
        <p:spPr>
          <a:xfrm>
            <a:off x="1143000" y="2542032"/>
            <a:ext cx="1143000" cy="41148"/>
          </a:xfrm>
          <a:prstGeom prst="rect">
            <a:avLst/>
          </a:prstGeom>
          <a:solidFill>
            <a:srgbClr val="A6F2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ounded Rectangle 8"/>
          <p:cNvSpPr/>
          <p:nvPr/>
        </p:nvSpPr>
        <p:spPr>
          <a:xfrm>
            <a:off x="14127480" y="1143000"/>
            <a:ext cx="3017520" cy="347472"/>
          </a:xfrm>
          <a:prstGeom prst="roundRect">
            <a:avLst>
              <a:gd name="adj" fmla="val 50000"/>
            </a:avLst>
          </a:prstGeom>
          <a:solidFill>
            <a:srgbClr val="0A221B"/>
          </a:solidFill>
          <a:ln w="8890">
            <a:solidFill>
              <a:srgbClr val="A6F26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14164055" y="1161288"/>
            <a:ext cx="2944368" cy="310896"/>
          </a:xfrm>
          <a:prstGeom prst="rect">
            <a:avLst/>
          </a:prstGeom>
          <a:noFill/>
        </p:spPr>
        <p:txBody>
          <a:bodyPr wrap="square" lIns="9144" tIns="0" rIns="9144" bIns="0" anchor="ctr">
            <a:noAutofit/>
          </a:bodyPr>
          <a:lstStyle/>
          <a:p>
            <a:pPr algn="ctr">
              <a:lnSpc>
                <a:spcPct val="105000"/>
              </a:lnSpc>
              <a:spcAft>
                <a:spcPts val="0"/>
              </a:spcAft>
            </a:pPr>
            <a:r>
              <a:rPr sz="819" b="1" i="0">
                <a:solidFill>
                  <a:srgbClr val="A6F26B"/>
                </a:solidFill>
                <a:latin typeface="Avenir Next"/>
              </a:rPr>
              <a:t>PROBLEM</a:t>
            </a:r>
          </a:p>
        </p:txBody>
      </p:sp>
      <p:sp>
        <p:nvSpPr>
          <p:cNvPr id="11" name="Rounded Rectangle 10"/>
          <p:cNvSpPr/>
          <p:nvPr/>
        </p:nvSpPr>
        <p:spPr>
          <a:xfrm>
            <a:off x="1143000" y="2880360"/>
            <a:ext cx="6537960" cy="1335024"/>
          </a:xfrm>
          <a:prstGeom prst="roundRect">
            <a:avLst>
              <a:gd name="adj" fmla="val 8000"/>
            </a:avLst>
          </a:prstGeom>
          <a:solidFill>
            <a:srgbClr val="071813"/>
          </a:solidFill>
          <a:ln w="10160">
            <a:solidFill>
              <a:srgbClr val="2C5A4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Oval 11"/>
          <p:cNvSpPr/>
          <p:nvPr/>
        </p:nvSpPr>
        <p:spPr>
          <a:xfrm>
            <a:off x="1353312" y="3191256"/>
            <a:ext cx="603504" cy="603504"/>
          </a:xfrm>
          <a:prstGeom prst="ellipse">
            <a:avLst/>
          </a:prstGeom>
          <a:solidFill>
            <a:srgbClr val="102C23"/>
          </a:solidFill>
          <a:ln w="12700">
            <a:solidFill>
              <a:srgbClr val="A6F26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1353312" y="3182112"/>
            <a:ext cx="603504" cy="603504"/>
          </a:xfrm>
          <a:prstGeom prst="rect">
            <a:avLst/>
          </a:prstGeom>
          <a:noFill/>
        </p:spPr>
        <p:txBody>
          <a:bodyPr wrap="square" lIns="0" tIns="0" rIns="0" bIns="0" anchor="ctr">
            <a:noAutofit/>
          </a:bodyPr>
          <a:lstStyle/>
          <a:p>
            <a:pPr algn="ctr">
              <a:lnSpc>
                <a:spcPct val="105000"/>
              </a:lnSpc>
              <a:spcAft>
                <a:spcPts val="0"/>
              </a:spcAft>
            </a:pPr>
            <a:r>
              <a:rPr sz="1300" b="1" i="0">
                <a:solidFill>
                  <a:srgbClr val="A6F26B"/>
                </a:solidFill>
                <a:latin typeface="Avenir Next"/>
              </a:rPr>
              <a:t>01</a:t>
            </a:r>
          </a:p>
        </p:txBody>
      </p:sp>
      <p:sp>
        <p:nvSpPr>
          <p:cNvPr id="14" name="TextBox 13"/>
          <p:cNvSpPr txBox="1"/>
          <p:nvPr/>
        </p:nvSpPr>
        <p:spPr>
          <a:xfrm>
            <a:off x="2157984" y="3063240"/>
            <a:ext cx="5212080" cy="310896"/>
          </a:xfrm>
          <a:prstGeom prst="rect">
            <a:avLst/>
          </a:prstGeom>
          <a:noFill/>
        </p:spPr>
        <p:txBody>
          <a:bodyPr wrap="square" lIns="18288" tIns="18288" rIns="18288" bIns="18288" anchor="t">
            <a:noAutofit/>
          </a:bodyPr>
          <a:lstStyle/>
          <a:p>
            <a:pPr algn="l">
              <a:lnSpc>
                <a:spcPct val="105000"/>
              </a:lnSpc>
              <a:spcAft>
                <a:spcPts val="0"/>
              </a:spcAft>
            </a:pPr>
            <a:r>
              <a:rPr sz="1600" b="1" i="0">
                <a:solidFill>
                  <a:srgbClr val="F4FFFA"/>
                </a:solidFill>
                <a:latin typeface="Avenir Next"/>
              </a:rPr>
              <a:t>Sensor degrades</a:t>
            </a:r>
          </a:p>
        </p:txBody>
      </p:sp>
      <p:sp>
        <p:nvSpPr>
          <p:cNvPr id="15" name="TextBox 14"/>
          <p:cNvSpPr txBox="1"/>
          <p:nvPr/>
        </p:nvSpPr>
        <p:spPr>
          <a:xfrm>
            <a:off x="2157984" y="3410712"/>
            <a:ext cx="5166360" cy="621792"/>
          </a:xfrm>
          <a:prstGeom prst="rect">
            <a:avLst/>
          </a:prstGeom>
          <a:noFill/>
        </p:spPr>
        <p:txBody>
          <a:bodyPr wrap="square" lIns="18288" tIns="18288" rIns="18288" bIns="18288" anchor="t">
            <a:noAutofit/>
          </a:bodyPr>
          <a:lstStyle/>
          <a:p>
            <a:pPr algn="l">
              <a:lnSpc>
                <a:spcPct val="108000"/>
              </a:lnSpc>
              <a:spcAft>
                <a:spcPts val="0"/>
              </a:spcAft>
            </a:pPr>
            <a:r>
              <a:rPr sz="1150" b="0" i="0">
                <a:solidFill>
                  <a:srgbClr val="ADC9BE"/>
                </a:solidFill>
                <a:latin typeface="Avenir Next"/>
              </a:rPr>
              <a:t>Dirty, corroded, disconnected or stuck probes produce plausible-looking values.</a:t>
            </a:r>
          </a:p>
        </p:txBody>
      </p:sp>
      <p:sp>
        <p:nvSpPr>
          <p:cNvPr id="16" name="Rounded Rectangle 15"/>
          <p:cNvSpPr/>
          <p:nvPr/>
        </p:nvSpPr>
        <p:spPr>
          <a:xfrm>
            <a:off x="1143000" y="4453128"/>
            <a:ext cx="6537960" cy="1335024"/>
          </a:xfrm>
          <a:prstGeom prst="roundRect">
            <a:avLst>
              <a:gd name="adj" fmla="val 8000"/>
            </a:avLst>
          </a:prstGeom>
          <a:solidFill>
            <a:srgbClr val="071813"/>
          </a:solidFill>
          <a:ln w="10160">
            <a:solidFill>
              <a:srgbClr val="2C5A4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Oval 16"/>
          <p:cNvSpPr/>
          <p:nvPr/>
        </p:nvSpPr>
        <p:spPr>
          <a:xfrm>
            <a:off x="1353312" y="4764024"/>
            <a:ext cx="603504" cy="603504"/>
          </a:xfrm>
          <a:prstGeom prst="ellipse">
            <a:avLst/>
          </a:prstGeom>
          <a:solidFill>
            <a:srgbClr val="102C23"/>
          </a:solidFill>
          <a:ln w="12700">
            <a:solidFill>
              <a:srgbClr val="A6F26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1353312" y="4754880"/>
            <a:ext cx="603504" cy="603504"/>
          </a:xfrm>
          <a:prstGeom prst="rect">
            <a:avLst/>
          </a:prstGeom>
          <a:noFill/>
        </p:spPr>
        <p:txBody>
          <a:bodyPr wrap="square" lIns="0" tIns="0" rIns="0" bIns="0" anchor="ctr">
            <a:noAutofit/>
          </a:bodyPr>
          <a:lstStyle/>
          <a:p>
            <a:pPr algn="ctr">
              <a:lnSpc>
                <a:spcPct val="105000"/>
              </a:lnSpc>
              <a:spcAft>
                <a:spcPts val="0"/>
              </a:spcAft>
            </a:pPr>
            <a:r>
              <a:rPr sz="1300" b="1" i="0">
                <a:solidFill>
                  <a:srgbClr val="A6F26B"/>
                </a:solidFill>
                <a:latin typeface="Avenir Next"/>
              </a:rPr>
              <a:t>02</a:t>
            </a:r>
          </a:p>
        </p:txBody>
      </p:sp>
      <p:sp>
        <p:nvSpPr>
          <p:cNvPr id="19" name="TextBox 18"/>
          <p:cNvSpPr txBox="1"/>
          <p:nvPr/>
        </p:nvSpPr>
        <p:spPr>
          <a:xfrm>
            <a:off x="2157984" y="4636008"/>
            <a:ext cx="5212080" cy="310896"/>
          </a:xfrm>
          <a:prstGeom prst="rect">
            <a:avLst/>
          </a:prstGeom>
          <a:noFill/>
        </p:spPr>
        <p:txBody>
          <a:bodyPr wrap="square" lIns="18288" tIns="18288" rIns="18288" bIns="18288" anchor="t">
            <a:noAutofit/>
          </a:bodyPr>
          <a:lstStyle/>
          <a:p>
            <a:pPr algn="l">
              <a:lnSpc>
                <a:spcPct val="105000"/>
              </a:lnSpc>
              <a:spcAft>
                <a:spcPts val="0"/>
              </a:spcAft>
            </a:pPr>
            <a:r>
              <a:rPr sz="1600" b="1" i="0">
                <a:solidFill>
                  <a:srgbClr val="F4FFFA"/>
                </a:solidFill>
                <a:latin typeface="Avenir Next"/>
              </a:rPr>
              <a:t>The model trusts it</a:t>
            </a:r>
          </a:p>
        </p:txBody>
      </p:sp>
      <p:sp>
        <p:nvSpPr>
          <p:cNvPr id="20" name="TextBox 19"/>
          <p:cNvSpPr txBox="1"/>
          <p:nvPr/>
        </p:nvSpPr>
        <p:spPr>
          <a:xfrm>
            <a:off x="2157984" y="4983480"/>
            <a:ext cx="5166360" cy="621792"/>
          </a:xfrm>
          <a:prstGeom prst="rect">
            <a:avLst/>
          </a:prstGeom>
          <a:noFill/>
        </p:spPr>
        <p:txBody>
          <a:bodyPr wrap="square" lIns="18288" tIns="18288" rIns="18288" bIns="18288" anchor="t">
            <a:noAutofit/>
          </a:bodyPr>
          <a:lstStyle/>
          <a:p>
            <a:pPr algn="l">
              <a:lnSpc>
                <a:spcPct val="108000"/>
              </a:lnSpc>
              <a:spcAft>
                <a:spcPts val="0"/>
              </a:spcAft>
            </a:pPr>
            <a:r>
              <a:rPr sz="1150" b="0" i="0">
                <a:solidFill>
                  <a:srgbClr val="ADC9BE"/>
                </a:solidFill>
                <a:latin typeface="Avenir Next"/>
              </a:rPr>
              <a:t>A forecast cannot tell a real soil reading from a stuck one.</a:t>
            </a:r>
          </a:p>
        </p:txBody>
      </p:sp>
      <p:sp>
        <p:nvSpPr>
          <p:cNvPr id="21" name="Rounded Rectangle 20"/>
          <p:cNvSpPr/>
          <p:nvPr/>
        </p:nvSpPr>
        <p:spPr>
          <a:xfrm>
            <a:off x="1143000" y="6025896"/>
            <a:ext cx="6537960" cy="1335024"/>
          </a:xfrm>
          <a:prstGeom prst="roundRect">
            <a:avLst>
              <a:gd name="adj" fmla="val 8000"/>
            </a:avLst>
          </a:prstGeom>
          <a:solidFill>
            <a:srgbClr val="071813"/>
          </a:solidFill>
          <a:ln w="10160">
            <a:solidFill>
              <a:srgbClr val="2C5A4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Oval 21"/>
          <p:cNvSpPr/>
          <p:nvPr/>
        </p:nvSpPr>
        <p:spPr>
          <a:xfrm>
            <a:off x="1353312" y="6336792"/>
            <a:ext cx="603504" cy="603504"/>
          </a:xfrm>
          <a:prstGeom prst="ellipse">
            <a:avLst/>
          </a:prstGeom>
          <a:solidFill>
            <a:srgbClr val="102C23"/>
          </a:solidFill>
          <a:ln w="12700">
            <a:solidFill>
              <a:srgbClr val="A6F26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1353312" y="6327648"/>
            <a:ext cx="603504" cy="603504"/>
          </a:xfrm>
          <a:prstGeom prst="rect">
            <a:avLst/>
          </a:prstGeom>
          <a:noFill/>
        </p:spPr>
        <p:txBody>
          <a:bodyPr wrap="square" lIns="0" tIns="0" rIns="0" bIns="0" anchor="ctr">
            <a:noAutofit/>
          </a:bodyPr>
          <a:lstStyle/>
          <a:p>
            <a:pPr algn="ctr">
              <a:lnSpc>
                <a:spcPct val="105000"/>
              </a:lnSpc>
              <a:spcAft>
                <a:spcPts val="0"/>
              </a:spcAft>
            </a:pPr>
            <a:r>
              <a:rPr sz="1300" b="1" i="0">
                <a:solidFill>
                  <a:srgbClr val="A6F26B"/>
                </a:solidFill>
                <a:latin typeface="Avenir Next"/>
              </a:rPr>
              <a:t>03</a:t>
            </a:r>
          </a:p>
        </p:txBody>
      </p:sp>
      <p:sp>
        <p:nvSpPr>
          <p:cNvPr id="24" name="TextBox 23"/>
          <p:cNvSpPr txBox="1"/>
          <p:nvPr/>
        </p:nvSpPr>
        <p:spPr>
          <a:xfrm>
            <a:off x="2157984" y="6208776"/>
            <a:ext cx="5212080" cy="310896"/>
          </a:xfrm>
          <a:prstGeom prst="rect">
            <a:avLst/>
          </a:prstGeom>
          <a:noFill/>
        </p:spPr>
        <p:txBody>
          <a:bodyPr wrap="square" lIns="18288" tIns="18288" rIns="18288" bIns="18288" anchor="t">
            <a:noAutofit/>
          </a:bodyPr>
          <a:lstStyle/>
          <a:p>
            <a:pPr algn="l">
              <a:lnSpc>
                <a:spcPct val="105000"/>
              </a:lnSpc>
              <a:spcAft>
                <a:spcPts val="0"/>
              </a:spcAft>
            </a:pPr>
            <a:r>
              <a:rPr sz="1600" b="1" i="0">
                <a:solidFill>
                  <a:srgbClr val="F4FFFA"/>
                </a:solidFill>
                <a:latin typeface="Avenir Next"/>
              </a:rPr>
              <a:t>The farmer acts</a:t>
            </a:r>
          </a:p>
        </p:txBody>
      </p:sp>
      <p:sp>
        <p:nvSpPr>
          <p:cNvPr id="25" name="TextBox 24"/>
          <p:cNvSpPr txBox="1"/>
          <p:nvPr/>
        </p:nvSpPr>
        <p:spPr>
          <a:xfrm>
            <a:off x="2157984" y="6556248"/>
            <a:ext cx="5166360" cy="621792"/>
          </a:xfrm>
          <a:prstGeom prst="rect">
            <a:avLst/>
          </a:prstGeom>
          <a:noFill/>
        </p:spPr>
        <p:txBody>
          <a:bodyPr wrap="square" lIns="18288" tIns="18288" rIns="18288" bIns="18288" anchor="t">
            <a:noAutofit/>
          </a:bodyPr>
          <a:lstStyle/>
          <a:p>
            <a:pPr algn="l">
              <a:lnSpc>
                <a:spcPct val="108000"/>
              </a:lnSpc>
              <a:spcAft>
                <a:spcPts val="0"/>
              </a:spcAft>
            </a:pPr>
            <a:r>
              <a:rPr sz="1150" b="0" i="0">
                <a:solidFill>
                  <a:srgbClr val="ADC9BE"/>
                </a:solidFill>
                <a:latin typeface="Avenir Next"/>
              </a:rPr>
              <a:t>Wrong irrigation advice wastes water and erodes trust in AI.</a:t>
            </a:r>
          </a:p>
        </p:txBody>
      </p:sp>
      <p:sp>
        <p:nvSpPr>
          <p:cNvPr id="26" name="Rounded Rectangle 25"/>
          <p:cNvSpPr/>
          <p:nvPr/>
        </p:nvSpPr>
        <p:spPr>
          <a:xfrm>
            <a:off x="8001000" y="2880360"/>
            <a:ext cx="8458200" cy="4736592"/>
          </a:xfrm>
          <a:prstGeom prst="roundRect">
            <a:avLst>
              <a:gd name="adj" fmla="val 8000"/>
            </a:avLst>
          </a:prstGeom>
          <a:solidFill>
            <a:srgbClr val="0A221B"/>
          </a:solidFill>
          <a:ln w="10160">
            <a:solidFill>
              <a:srgbClr val="2C5A4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TextBox 26"/>
          <p:cNvSpPr txBox="1"/>
          <p:nvPr/>
        </p:nvSpPr>
        <p:spPr>
          <a:xfrm>
            <a:off x="8321040" y="3182112"/>
            <a:ext cx="7818120" cy="292608"/>
          </a:xfrm>
          <a:prstGeom prst="rect">
            <a:avLst/>
          </a:prstGeom>
          <a:noFill/>
        </p:spPr>
        <p:txBody>
          <a:bodyPr wrap="square" lIns="18288" tIns="18288" rIns="18288" bIns="18288" anchor="t">
            <a:noAutofit/>
          </a:bodyPr>
          <a:lstStyle/>
          <a:p>
            <a:pPr algn="l">
              <a:lnSpc>
                <a:spcPct val="105000"/>
              </a:lnSpc>
              <a:spcAft>
                <a:spcPts val="0"/>
              </a:spcAft>
            </a:pPr>
            <a:r>
              <a:rPr sz="950" b="1" i="0">
                <a:solidFill>
                  <a:srgbClr val="F5C451"/>
                </a:solidFill>
                <a:latin typeface="Avenir Next"/>
              </a:rPr>
              <a:t>THE GAP BETWEEN IoT AND AI</a:t>
            </a:r>
          </a:p>
        </p:txBody>
      </p:sp>
      <p:sp>
        <p:nvSpPr>
          <p:cNvPr id="28" name="TextBox 27"/>
          <p:cNvSpPr txBox="1"/>
          <p:nvPr/>
        </p:nvSpPr>
        <p:spPr>
          <a:xfrm>
            <a:off x="8321040" y="3611880"/>
            <a:ext cx="7726679" cy="1600200"/>
          </a:xfrm>
          <a:prstGeom prst="rect">
            <a:avLst/>
          </a:prstGeom>
          <a:noFill/>
        </p:spPr>
        <p:txBody>
          <a:bodyPr wrap="square" lIns="18288" tIns="18288" rIns="18288" bIns="18288" anchor="t">
            <a:noAutofit/>
          </a:bodyPr>
          <a:lstStyle/>
          <a:p>
            <a:pPr algn="l">
              <a:lnSpc>
                <a:spcPct val="100000"/>
              </a:lnSpc>
              <a:spcAft>
                <a:spcPts val="0"/>
              </a:spcAft>
            </a:pPr>
            <a:r>
              <a:rPr sz="2700" b="1" i="0">
                <a:solidFill>
                  <a:srgbClr val="F4FFFA"/>
                </a:solidFill>
                <a:latin typeface="Avenir Next"/>
              </a:rPr>
              <a:t>A forecast is only as trustworthy as the reading behind it.</a:t>
            </a:r>
          </a:p>
        </p:txBody>
      </p:sp>
      <p:sp>
        <p:nvSpPr>
          <p:cNvPr id="29" name="TextBox 28"/>
          <p:cNvSpPr txBox="1"/>
          <p:nvPr/>
        </p:nvSpPr>
        <p:spPr>
          <a:xfrm>
            <a:off x="8321040" y="5440680"/>
            <a:ext cx="7589520" cy="1234440"/>
          </a:xfrm>
          <a:prstGeom prst="rect">
            <a:avLst/>
          </a:prstGeom>
          <a:noFill/>
        </p:spPr>
        <p:txBody>
          <a:bodyPr wrap="square" lIns="27432" tIns="27432" rIns="27432" bIns="27432" anchor="t">
            <a:noAutofit/>
          </a:bodyPr>
          <a:lstStyle/>
          <a:p>
            <a:pPr algn="l">
              <a:lnSpc>
                <a:spcPct val="112000"/>
              </a:lnSpc>
              <a:spcAft>
                <a:spcPts val="1000"/>
              </a:spcAft>
            </a:pPr>
            <a:r>
              <a:rPr sz="1300" b="1" i="0">
                <a:solidFill>
                  <a:srgbClr val="A6F26B"/>
                </a:solidFill>
                <a:latin typeface="Avenir Next"/>
              </a:rPr>
              <a:t>Good data in  </a:t>
            </a:r>
            <a:r>
              <a:rPr sz="1300" b="0" i="0">
                <a:solidFill>
                  <a:srgbClr val="F4FFFA"/>
                </a:solidFill>
                <a:latin typeface="Avenir Next"/>
              </a:rPr>
              <a:t>→  advice the farmer can act on.</a:t>
            </a:r>
          </a:p>
          <a:p>
            <a:pPr algn="l">
              <a:lnSpc>
                <a:spcPct val="112000"/>
              </a:lnSpc>
              <a:spcAft>
                <a:spcPts val="1000"/>
              </a:spcAft>
            </a:pPr>
            <a:r>
              <a:rPr sz="1300" b="1" i="0">
                <a:solidFill>
                  <a:srgbClr val="F26B6B"/>
                </a:solidFill>
                <a:latin typeface="Avenir Next"/>
              </a:rPr>
              <a:t>Bad data in  </a:t>
            </a:r>
            <a:r>
              <a:rPr sz="1300" b="0" i="0">
                <a:solidFill>
                  <a:srgbClr val="F4FFFA"/>
                </a:solidFill>
                <a:latin typeface="Avenir Next"/>
              </a:rPr>
              <a:t>→  a confident answer that is still wrong.</a:t>
            </a:r>
          </a:p>
        </p:txBody>
      </p:sp>
      <p:sp>
        <p:nvSpPr>
          <p:cNvPr id="30" name="Rounded Rectangle 29"/>
          <p:cNvSpPr/>
          <p:nvPr/>
        </p:nvSpPr>
        <p:spPr>
          <a:xfrm>
            <a:off x="8001000" y="6903720"/>
            <a:ext cx="8458200" cy="713232"/>
          </a:xfrm>
          <a:prstGeom prst="roundRect">
            <a:avLst>
              <a:gd name="adj" fmla="val 8000"/>
            </a:avLst>
          </a:prstGeom>
          <a:solidFill>
            <a:srgbClr val="102C23"/>
          </a:solidFill>
          <a:ln w="10160">
            <a:solidFill>
              <a:srgbClr val="A6F26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TextBox 30"/>
          <p:cNvSpPr txBox="1"/>
          <p:nvPr/>
        </p:nvSpPr>
        <p:spPr>
          <a:xfrm>
            <a:off x="8275320" y="7031736"/>
            <a:ext cx="7955279" cy="384048"/>
          </a:xfrm>
          <a:prstGeom prst="rect">
            <a:avLst/>
          </a:prstGeom>
          <a:noFill/>
        </p:spPr>
        <p:txBody>
          <a:bodyPr wrap="square" lIns="18288" tIns="18288" rIns="18288" bIns="18288" anchor="t">
            <a:noAutofit/>
          </a:bodyPr>
          <a:lstStyle/>
          <a:p>
            <a:pPr algn="l">
              <a:lnSpc>
                <a:spcPct val="105000"/>
              </a:lnSpc>
              <a:spcAft>
                <a:spcPts val="0"/>
              </a:spcAft>
            </a:pPr>
            <a:r>
              <a:rPr sz="1250" b="1" i="0">
                <a:solidFill>
                  <a:srgbClr val="A6F26B"/>
                </a:solidFill>
                <a:latin typeface="Avenir Next"/>
              </a:rPr>
              <a:t>TrustFarm inserts a verification layer before the model is allowed to advise.</a:t>
            </a:r>
          </a:p>
        </p:txBody>
      </p:sp>
      <p:sp>
        <p:nvSpPr>
          <p:cNvPr id="32" name="TextBox 31"/>
          <p:cNvSpPr txBox="1"/>
          <p:nvPr/>
        </p:nvSpPr>
        <p:spPr>
          <a:xfrm>
            <a:off x="4983480" y="9619488"/>
            <a:ext cx="5852160" cy="228600"/>
          </a:xfrm>
          <a:prstGeom prst="rect">
            <a:avLst/>
          </a:prstGeom>
          <a:noFill/>
        </p:spPr>
        <p:txBody>
          <a:bodyPr wrap="square" lIns="0" tIns="0" rIns="0" bIns="0" anchor="t">
            <a:noAutofit/>
          </a:bodyPr>
          <a:lstStyle/>
          <a:p>
            <a:pPr algn="l">
              <a:lnSpc>
                <a:spcPct val="105000"/>
              </a:lnSpc>
              <a:spcAft>
                <a:spcPts val="0"/>
              </a:spcAft>
            </a:pPr>
            <a:r>
              <a:rPr sz="819" b="0" i="0">
                <a:solidFill>
                  <a:srgbClr val="7CA091"/>
                </a:solidFill>
                <a:latin typeface="Avenir Next"/>
              </a:rPr>
              <a:t>TrustFarm  ·  INNOVA 2026  ·  ICBT</a:t>
            </a:r>
          </a:p>
        </p:txBody>
      </p:sp>
      <p:sp>
        <p:nvSpPr>
          <p:cNvPr id="33" name="TextBox 32"/>
          <p:cNvSpPr txBox="1"/>
          <p:nvPr/>
        </p:nvSpPr>
        <p:spPr>
          <a:xfrm>
            <a:off x="11018520" y="9619488"/>
            <a:ext cx="1234440" cy="228600"/>
          </a:xfrm>
          <a:prstGeom prst="rect">
            <a:avLst/>
          </a:prstGeom>
          <a:noFill/>
        </p:spPr>
        <p:txBody>
          <a:bodyPr wrap="square" lIns="0" tIns="0" rIns="0" bIns="0" anchor="t">
            <a:noAutofit/>
          </a:bodyPr>
          <a:lstStyle/>
          <a:p>
            <a:pPr algn="r">
              <a:lnSpc>
                <a:spcPct val="105000"/>
              </a:lnSpc>
              <a:spcAft>
                <a:spcPts val="0"/>
              </a:spcAft>
            </a:pPr>
            <a:r>
              <a:rPr sz="819" b="0" i="0">
                <a:solidFill>
                  <a:srgbClr val="7CA091"/>
                </a:solidFill>
                <a:latin typeface="Avenir Next"/>
              </a:rPr>
              <a:t>03 / 25</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1A1D1C"/>
        </a:solidFill>
        <a:effectLst/>
      </p:bgPr>
    </p:bg>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25192566" h="16800292">
                <a:moveTo>
                  <a:pt x="0" y="0"/>
                </a:moveTo>
                <a:lnTo>
                  <a:pt x="25192566" y="0"/>
                </a:lnTo>
                <a:lnTo>
                  <a:pt x="25192566" y="16800292"/>
                </a:lnTo>
                <a:lnTo>
                  <a:pt x="0" y="16800292"/>
                </a:lnTo>
                <a:lnTo>
                  <a:pt x="0" y="0"/>
                </a:lnTo>
                <a:close/>
              </a:path>
            </a:pathLst>
          </a:custGeom>
          <a:blipFill>
            <a:blip r:embed="rId3"/>
            <a:stretch>
              <a:fillRect/>
            </a:stretch>
          </a:blipFill>
        </p:spPr>
        <p:txBody>
          <a:bodyPr/>
          <a:lstStyle/>
          <a:p>
            <a:endParaRPr/>
          </a:p>
        </p:txBody>
      </p:sp>
      <p:sp>
        <p:nvSpPr>
          <p:cNvPr id="3" name="Freeform 3"/>
          <p:cNvSpPr/>
          <p:nvPr/>
        </p:nvSpPr>
        <p:spPr>
          <a:xfrm>
            <a:off x="12596283" y="8658721"/>
            <a:ext cx="6457129" cy="1628279"/>
          </a:xfrm>
          <a:custGeom>
            <a:avLst/>
            <a:gdLst/>
            <a:ahLst/>
            <a:cxnLst/>
            <a:rect l="l" t="t" r="r" b="b"/>
            <a:pathLst>
              <a:path w="6457129" h="1628279">
                <a:moveTo>
                  <a:pt x="0" y="0"/>
                </a:moveTo>
                <a:lnTo>
                  <a:pt x="6457129" y="0"/>
                </a:lnTo>
                <a:lnTo>
                  <a:pt x="6457129" y="1628279"/>
                </a:lnTo>
                <a:lnTo>
                  <a:pt x="0" y="1628279"/>
                </a:lnTo>
                <a:lnTo>
                  <a:pt x="0" y="0"/>
                </a:lnTo>
                <a:close/>
              </a:path>
            </a:pathLst>
          </a:custGeom>
          <a:blipFill>
            <a:blip r:embed="rId4"/>
            <a:stretch>
              <a:fillRect t="-85078" b="-85078"/>
            </a:stretch>
          </a:blipFill>
        </p:spPr>
        <p:txBody>
          <a:bodyPr/>
          <a:lstStyle/>
          <a:p>
            <a:endParaRPr/>
          </a:p>
        </p:txBody>
      </p:sp>
      <p:sp>
        <p:nvSpPr>
          <p:cNvPr id="4" name="Freeform 4"/>
          <p:cNvSpPr/>
          <p:nvPr/>
        </p:nvSpPr>
        <p:spPr>
          <a:xfrm>
            <a:off x="0" y="8072991"/>
            <a:ext cx="2839033" cy="2839033"/>
          </a:xfrm>
          <a:custGeom>
            <a:avLst/>
            <a:gdLst/>
            <a:ahLst/>
            <a:cxnLst/>
            <a:rect l="l" t="t" r="r" b="b"/>
            <a:pathLst>
              <a:path w="2839033" h="2839033">
                <a:moveTo>
                  <a:pt x="0" y="0"/>
                </a:moveTo>
                <a:lnTo>
                  <a:pt x="2839033" y="0"/>
                </a:lnTo>
                <a:lnTo>
                  <a:pt x="2839033" y="2839033"/>
                </a:lnTo>
                <a:lnTo>
                  <a:pt x="0" y="2839033"/>
                </a:lnTo>
                <a:lnTo>
                  <a:pt x="0" y="0"/>
                </a:lnTo>
                <a:close/>
              </a:path>
            </a:pathLst>
          </a:custGeom>
          <a:blipFill>
            <a:blip r:embed="rId5"/>
            <a:stretch>
              <a:fillRect/>
            </a:stretch>
          </a:blipFill>
        </p:spPr>
        <p:txBody>
          <a:bodyPr/>
          <a:lstStyle/>
          <a:p>
            <a:endParaRPr/>
          </a:p>
        </p:txBody>
      </p:sp>
      <p:sp>
        <p:nvSpPr>
          <p:cNvPr id="5" name="TextBox 4"/>
          <p:cNvSpPr txBox="1"/>
          <p:nvPr/>
        </p:nvSpPr>
        <p:spPr>
          <a:xfrm>
            <a:off x="1143000" y="841248"/>
            <a:ext cx="10972800" cy="292608"/>
          </a:xfrm>
          <a:prstGeom prst="rect">
            <a:avLst/>
          </a:prstGeom>
          <a:noFill/>
        </p:spPr>
        <p:txBody>
          <a:bodyPr wrap="square" lIns="0" tIns="0" rIns="0" bIns="0" anchor="t">
            <a:noAutofit/>
          </a:bodyPr>
          <a:lstStyle/>
          <a:p>
            <a:pPr algn="l">
              <a:lnSpc>
                <a:spcPct val="105000"/>
              </a:lnSpc>
              <a:spcAft>
                <a:spcPts val="0"/>
              </a:spcAft>
            </a:pPr>
            <a:r>
              <a:rPr sz="1000" b="1" i="0">
                <a:solidFill>
                  <a:srgbClr val="A6F26B"/>
                </a:solidFill>
                <a:latin typeface="Avenir Next"/>
              </a:rPr>
              <a:t>SDG ALIGNMENT</a:t>
            </a:r>
          </a:p>
        </p:txBody>
      </p:sp>
      <p:sp>
        <p:nvSpPr>
          <p:cNvPr id="6" name="TextBox 5"/>
          <p:cNvSpPr txBox="1"/>
          <p:nvPr/>
        </p:nvSpPr>
        <p:spPr>
          <a:xfrm>
            <a:off x="1097280" y="1124712"/>
            <a:ext cx="13075920" cy="676656"/>
          </a:xfrm>
          <a:prstGeom prst="rect">
            <a:avLst/>
          </a:prstGeom>
          <a:noFill/>
        </p:spPr>
        <p:txBody>
          <a:bodyPr wrap="square" lIns="0" tIns="0" rIns="0" bIns="0" anchor="t">
            <a:noAutofit/>
          </a:bodyPr>
          <a:lstStyle/>
          <a:p>
            <a:pPr algn="l">
              <a:lnSpc>
                <a:spcPct val="98000"/>
              </a:lnSpc>
              <a:spcAft>
                <a:spcPts val="0"/>
              </a:spcAft>
            </a:pPr>
            <a:r>
              <a:rPr sz="3300" b="1" i="0">
                <a:solidFill>
                  <a:srgbClr val="F4FFFA"/>
                </a:solidFill>
                <a:latin typeface="Avenir Next"/>
              </a:rPr>
              <a:t>Trust is the enabling layer for water, food and climate action.</a:t>
            </a:r>
          </a:p>
        </p:txBody>
      </p:sp>
      <p:sp>
        <p:nvSpPr>
          <p:cNvPr id="7" name="TextBox 6"/>
          <p:cNvSpPr txBox="1"/>
          <p:nvPr/>
        </p:nvSpPr>
        <p:spPr>
          <a:xfrm>
            <a:off x="1143000" y="1865376"/>
            <a:ext cx="13258800" cy="502920"/>
          </a:xfrm>
          <a:prstGeom prst="rect">
            <a:avLst/>
          </a:prstGeom>
          <a:noFill/>
        </p:spPr>
        <p:txBody>
          <a:bodyPr wrap="square" lIns="0" tIns="0" rIns="0" bIns="0" anchor="t">
            <a:noAutofit/>
          </a:bodyPr>
          <a:lstStyle/>
          <a:p>
            <a:pPr algn="l">
              <a:lnSpc>
                <a:spcPct val="110000"/>
              </a:lnSpc>
              <a:spcAft>
                <a:spcPts val="0"/>
              </a:spcAft>
            </a:pPr>
            <a:r>
              <a:rPr sz="1400" b="0" i="0">
                <a:solidFill>
                  <a:srgbClr val="ADC9BE"/>
                </a:solidFill>
                <a:latin typeface="Avenir Next"/>
              </a:rPr>
              <a:t>The project contributes to three SDGs through one operating loop.</a:t>
            </a:r>
          </a:p>
        </p:txBody>
      </p:sp>
      <p:sp>
        <p:nvSpPr>
          <p:cNvPr id="8" name="Rectangle 7"/>
          <p:cNvSpPr/>
          <p:nvPr/>
        </p:nvSpPr>
        <p:spPr>
          <a:xfrm>
            <a:off x="1143000" y="2542032"/>
            <a:ext cx="1143000" cy="41148"/>
          </a:xfrm>
          <a:prstGeom prst="rect">
            <a:avLst/>
          </a:prstGeom>
          <a:solidFill>
            <a:srgbClr val="A6F2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ounded Rectangle 8"/>
          <p:cNvSpPr/>
          <p:nvPr/>
        </p:nvSpPr>
        <p:spPr>
          <a:xfrm>
            <a:off x="14127480" y="1143000"/>
            <a:ext cx="3017520" cy="347472"/>
          </a:xfrm>
          <a:prstGeom prst="roundRect">
            <a:avLst>
              <a:gd name="adj" fmla="val 50000"/>
            </a:avLst>
          </a:prstGeom>
          <a:solidFill>
            <a:srgbClr val="0A221B"/>
          </a:solidFill>
          <a:ln w="8890">
            <a:solidFill>
              <a:srgbClr val="A6F26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14164055" y="1161288"/>
            <a:ext cx="2944368" cy="310896"/>
          </a:xfrm>
          <a:prstGeom prst="rect">
            <a:avLst/>
          </a:prstGeom>
          <a:noFill/>
        </p:spPr>
        <p:txBody>
          <a:bodyPr wrap="square" lIns="9144" tIns="0" rIns="9144" bIns="0" anchor="ctr">
            <a:noAutofit/>
          </a:bodyPr>
          <a:lstStyle/>
          <a:p>
            <a:pPr algn="ctr">
              <a:lnSpc>
                <a:spcPct val="105000"/>
              </a:lnSpc>
              <a:spcAft>
                <a:spcPts val="0"/>
              </a:spcAft>
            </a:pPr>
            <a:r>
              <a:rPr sz="819" b="1" i="0">
                <a:solidFill>
                  <a:srgbClr val="A6F26B"/>
                </a:solidFill>
                <a:latin typeface="Avenir Next"/>
              </a:rPr>
              <a:t>SDG 2 · 6 · 13</a:t>
            </a:r>
          </a:p>
        </p:txBody>
      </p:sp>
      <p:sp>
        <p:nvSpPr>
          <p:cNvPr id="11" name="Rounded Rectangle 10"/>
          <p:cNvSpPr/>
          <p:nvPr/>
        </p:nvSpPr>
        <p:spPr>
          <a:xfrm>
            <a:off x="1143000" y="2880360"/>
            <a:ext cx="5166360" cy="4160520"/>
          </a:xfrm>
          <a:prstGeom prst="roundRect">
            <a:avLst>
              <a:gd name="adj" fmla="val 8000"/>
            </a:avLst>
          </a:prstGeom>
          <a:solidFill>
            <a:srgbClr val="071813"/>
          </a:solidFill>
          <a:ln w="10160">
            <a:solidFill>
              <a:srgbClr val="2C5A4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Oval 11"/>
          <p:cNvSpPr/>
          <p:nvPr/>
        </p:nvSpPr>
        <p:spPr>
          <a:xfrm>
            <a:off x="1490472" y="3182112"/>
            <a:ext cx="804672" cy="804672"/>
          </a:xfrm>
          <a:prstGeom prst="ellipse">
            <a:avLst/>
          </a:prstGeom>
          <a:solidFill>
            <a:srgbClr val="102C23"/>
          </a:solidFill>
          <a:ln w="12700">
            <a:solidFill>
              <a:srgbClr val="A6F26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1490472" y="3172968"/>
            <a:ext cx="804672" cy="804672"/>
          </a:xfrm>
          <a:prstGeom prst="rect">
            <a:avLst/>
          </a:prstGeom>
          <a:noFill/>
        </p:spPr>
        <p:txBody>
          <a:bodyPr wrap="square" lIns="0" tIns="0" rIns="0" bIns="0" anchor="ctr">
            <a:noAutofit/>
          </a:bodyPr>
          <a:lstStyle/>
          <a:p>
            <a:pPr algn="ctr">
              <a:lnSpc>
                <a:spcPct val="105000"/>
              </a:lnSpc>
              <a:spcAft>
                <a:spcPts val="0"/>
              </a:spcAft>
            </a:pPr>
            <a:r>
              <a:rPr sz="2400" b="1" i="0">
                <a:solidFill>
                  <a:srgbClr val="A6F26B"/>
                </a:solidFill>
                <a:latin typeface="Avenir Next"/>
              </a:rPr>
              <a:t>2</a:t>
            </a:r>
          </a:p>
        </p:txBody>
      </p:sp>
      <p:sp>
        <p:nvSpPr>
          <p:cNvPr id="14" name="TextBox 13"/>
          <p:cNvSpPr txBox="1"/>
          <p:nvPr/>
        </p:nvSpPr>
        <p:spPr>
          <a:xfrm>
            <a:off x="2468880" y="3200400"/>
            <a:ext cx="3611880" cy="347472"/>
          </a:xfrm>
          <a:prstGeom prst="rect">
            <a:avLst/>
          </a:prstGeom>
          <a:noFill/>
        </p:spPr>
        <p:txBody>
          <a:bodyPr wrap="square" lIns="18288" tIns="18288" rIns="18288" bIns="18288" anchor="t">
            <a:noAutofit/>
          </a:bodyPr>
          <a:lstStyle/>
          <a:p>
            <a:pPr algn="l">
              <a:lnSpc>
                <a:spcPct val="105000"/>
              </a:lnSpc>
              <a:spcAft>
                <a:spcPts val="0"/>
              </a:spcAft>
            </a:pPr>
            <a:r>
              <a:rPr sz="1800" b="1" i="0">
                <a:solidFill>
                  <a:srgbClr val="F4FFFA"/>
                </a:solidFill>
                <a:latin typeface="Avenir Next"/>
              </a:rPr>
              <a:t>Zero Hunger</a:t>
            </a:r>
          </a:p>
        </p:txBody>
      </p:sp>
      <p:sp>
        <p:nvSpPr>
          <p:cNvPr id="15" name="Rounded Rectangle 14"/>
          <p:cNvSpPr/>
          <p:nvPr/>
        </p:nvSpPr>
        <p:spPr>
          <a:xfrm>
            <a:off x="2468880" y="3639312"/>
            <a:ext cx="1389888" cy="274320"/>
          </a:xfrm>
          <a:prstGeom prst="roundRect">
            <a:avLst>
              <a:gd name="adj" fmla="val 50000"/>
            </a:avLst>
          </a:prstGeom>
          <a:solidFill>
            <a:srgbClr val="0A221B"/>
          </a:solidFill>
          <a:ln w="8890">
            <a:solidFill>
              <a:srgbClr val="A6F26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2505456" y="3657600"/>
            <a:ext cx="1316736" cy="237744"/>
          </a:xfrm>
          <a:prstGeom prst="rect">
            <a:avLst/>
          </a:prstGeom>
          <a:noFill/>
        </p:spPr>
        <p:txBody>
          <a:bodyPr wrap="square" lIns="9144" tIns="0" rIns="9144" bIns="0" anchor="ctr">
            <a:noAutofit/>
          </a:bodyPr>
          <a:lstStyle/>
          <a:p>
            <a:pPr algn="ctr">
              <a:lnSpc>
                <a:spcPct val="105000"/>
              </a:lnSpc>
              <a:spcAft>
                <a:spcPts val="0"/>
              </a:spcAft>
            </a:pPr>
            <a:r>
              <a:rPr sz="740" b="1" i="0">
                <a:solidFill>
                  <a:srgbClr val="A6F26B"/>
                </a:solidFill>
                <a:latin typeface="Avenir Next"/>
              </a:rPr>
              <a:t>PRIMARY FOCUS</a:t>
            </a:r>
          </a:p>
        </p:txBody>
      </p:sp>
      <p:sp>
        <p:nvSpPr>
          <p:cNvPr id="17" name="TextBox 16"/>
          <p:cNvSpPr txBox="1"/>
          <p:nvPr/>
        </p:nvSpPr>
        <p:spPr>
          <a:xfrm>
            <a:off x="1508760" y="4434840"/>
            <a:ext cx="4434840" cy="1417320"/>
          </a:xfrm>
          <a:prstGeom prst="rect">
            <a:avLst/>
          </a:prstGeom>
          <a:noFill/>
        </p:spPr>
        <p:txBody>
          <a:bodyPr wrap="square" lIns="18288" tIns="18288" rIns="18288" bIns="18288" anchor="t">
            <a:noAutofit/>
          </a:bodyPr>
          <a:lstStyle/>
          <a:p>
            <a:pPr algn="l">
              <a:lnSpc>
                <a:spcPct val="112000"/>
              </a:lnSpc>
              <a:spcAft>
                <a:spcPts val="0"/>
              </a:spcAft>
            </a:pPr>
            <a:r>
              <a:rPr sz="1220" b="0" i="0">
                <a:solidFill>
                  <a:srgbClr val="ADC9BE"/>
                </a:solidFill>
                <a:latin typeface="Avenir Next"/>
              </a:rPr>
              <a:t>Better irrigation decisions protect yields and reduce avoidable crop stress.</a:t>
            </a:r>
          </a:p>
        </p:txBody>
      </p:sp>
      <p:sp>
        <p:nvSpPr>
          <p:cNvPr id="18" name="Rounded Rectangle 17"/>
          <p:cNvSpPr/>
          <p:nvPr/>
        </p:nvSpPr>
        <p:spPr>
          <a:xfrm>
            <a:off x="6629400" y="2880360"/>
            <a:ext cx="5166360" cy="4160520"/>
          </a:xfrm>
          <a:prstGeom prst="roundRect">
            <a:avLst>
              <a:gd name="adj" fmla="val 8000"/>
            </a:avLst>
          </a:prstGeom>
          <a:solidFill>
            <a:srgbClr val="071813"/>
          </a:solidFill>
          <a:ln w="10160">
            <a:solidFill>
              <a:srgbClr val="2C5A4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Oval 18"/>
          <p:cNvSpPr/>
          <p:nvPr/>
        </p:nvSpPr>
        <p:spPr>
          <a:xfrm>
            <a:off x="6976872" y="3182112"/>
            <a:ext cx="804672" cy="804672"/>
          </a:xfrm>
          <a:prstGeom prst="ellipse">
            <a:avLst/>
          </a:prstGeom>
          <a:solidFill>
            <a:srgbClr val="102C23"/>
          </a:solidFill>
          <a:ln w="12700">
            <a:solidFill>
              <a:srgbClr val="59D7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6976872" y="3172968"/>
            <a:ext cx="804672" cy="804672"/>
          </a:xfrm>
          <a:prstGeom prst="rect">
            <a:avLst/>
          </a:prstGeom>
          <a:noFill/>
        </p:spPr>
        <p:txBody>
          <a:bodyPr wrap="square" lIns="0" tIns="0" rIns="0" bIns="0" anchor="ctr">
            <a:noAutofit/>
          </a:bodyPr>
          <a:lstStyle/>
          <a:p>
            <a:pPr algn="ctr">
              <a:lnSpc>
                <a:spcPct val="105000"/>
              </a:lnSpc>
              <a:spcAft>
                <a:spcPts val="0"/>
              </a:spcAft>
            </a:pPr>
            <a:r>
              <a:rPr sz="2400" b="1" i="0">
                <a:solidFill>
                  <a:srgbClr val="59D7F0"/>
                </a:solidFill>
                <a:latin typeface="Avenir Next"/>
              </a:rPr>
              <a:t>6</a:t>
            </a:r>
          </a:p>
        </p:txBody>
      </p:sp>
      <p:sp>
        <p:nvSpPr>
          <p:cNvPr id="21" name="TextBox 20"/>
          <p:cNvSpPr txBox="1"/>
          <p:nvPr/>
        </p:nvSpPr>
        <p:spPr>
          <a:xfrm>
            <a:off x="7955279" y="3200400"/>
            <a:ext cx="3611880" cy="347472"/>
          </a:xfrm>
          <a:prstGeom prst="rect">
            <a:avLst/>
          </a:prstGeom>
          <a:noFill/>
        </p:spPr>
        <p:txBody>
          <a:bodyPr wrap="square" lIns="18288" tIns="18288" rIns="18288" bIns="18288" anchor="t">
            <a:noAutofit/>
          </a:bodyPr>
          <a:lstStyle/>
          <a:p>
            <a:pPr algn="l">
              <a:lnSpc>
                <a:spcPct val="105000"/>
              </a:lnSpc>
              <a:spcAft>
                <a:spcPts val="0"/>
              </a:spcAft>
            </a:pPr>
            <a:r>
              <a:rPr sz="1800" b="1" i="0">
                <a:solidFill>
                  <a:srgbClr val="F4FFFA"/>
                </a:solidFill>
                <a:latin typeface="Avenir Next"/>
              </a:rPr>
              <a:t>Clean Water</a:t>
            </a:r>
          </a:p>
        </p:txBody>
      </p:sp>
      <p:sp>
        <p:nvSpPr>
          <p:cNvPr id="22" name="Rounded Rectangle 21"/>
          <p:cNvSpPr/>
          <p:nvPr/>
        </p:nvSpPr>
        <p:spPr>
          <a:xfrm>
            <a:off x="7955279" y="3639312"/>
            <a:ext cx="1389888" cy="274320"/>
          </a:xfrm>
          <a:prstGeom prst="roundRect">
            <a:avLst>
              <a:gd name="adj" fmla="val 50000"/>
            </a:avLst>
          </a:prstGeom>
          <a:solidFill>
            <a:srgbClr val="0A221B"/>
          </a:solidFill>
          <a:ln w="8890">
            <a:solidFill>
              <a:srgbClr val="59D7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7991855" y="3657600"/>
            <a:ext cx="1316736" cy="237744"/>
          </a:xfrm>
          <a:prstGeom prst="rect">
            <a:avLst/>
          </a:prstGeom>
          <a:noFill/>
        </p:spPr>
        <p:txBody>
          <a:bodyPr wrap="square" lIns="9144" tIns="0" rIns="9144" bIns="0" anchor="ctr">
            <a:noAutofit/>
          </a:bodyPr>
          <a:lstStyle/>
          <a:p>
            <a:pPr algn="ctr">
              <a:lnSpc>
                <a:spcPct val="105000"/>
              </a:lnSpc>
              <a:spcAft>
                <a:spcPts val="0"/>
              </a:spcAft>
            </a:pPr>
            <a:r>
              <a:rPr sz="740" b="1" i="0">
                <a:solidFill>
                  <a:srgbClr val="59D7F0"/>
                </a:solidFill>
                <a:latin typeface="Avenir Next"/>
              </a:rPr>
              <a:t>SECONDARY</a:t>
            </a:r>
          </a:p>
        </p:txBody>
      </p:sp>
      <p:sp>
        <p:nvSpPr>
          <p:cNvPr id="24" name="TextBox 23"/>
          <p:cNvSpPr txBox="1"/>
          <p:nvPr/>
        </p:nvSpPr>
        <p:spPr>
          <a:xfrm>
            <a:off x="6995160" y="4434840"/>
            <a:ext cx="4434840" cy="1417320"/>
          </a:xfrm>
          <a:prstGeom prst="rect">
            <a:avLst/>
          </a:prstGeom>
          <a:noFill/>
        </p:spPr>
        <p:txBody>
          <a:bodyPr wrap="square" lIns="18288" tIns="18288" rIns="18288" bIns="18288" anchor="t">
            <a:noAutofit/>
          </a:bodyPr>
          <a:lstStyle/>
          <a:p>
            <a:pPr algn="l">
              <a:lnSpc>
                <a:spcPct val="112000"/>
              </a:lnSpc>
              <a:spcAft>
                <a:spcPts val="0"/>
              </a:spcAft>
            </a:pPr>
            <a:r>
              <a:rPr sz="1220" b="0" i="0">
                <a:solidFill>
                  <a:srgbClr val="ADC9BE"/>
                </a:solidFill>
                <a:latin typeface="Avenir Next"/>
              </a:rPr>
              <a:t>Fewer wrong irrigations mean less pumped water and less waste.</a:t>
            </a:r>
          </a:p>
        </p:txBody>
      </p:sp>
      <p:sp>
        <p:nvSpPr>
          <p:cNvPr id="25" name="Rounded Rectangle 24"/>
          <p:cNvSpPr/>
          <p:nvPr/>
        </p:nvSpPr>
        <p:spPr>
          <a:xfrm>
            <a:off x="12115800" y="2880360"/>
            <a:ext cx="5166360" cy="4160520"/>
          </a:xfrm>
          <a:prstGeom prst="roundRect">
            <a:avLst>
              <a:gd name="adj" fmla="val 8000"/>
            </a:avLst>
          </a:prstGeom>
          <a:solidFill>
            <a:srgbClr val="071813"/>
          </a:solidFill>
          <a:ln w="10160">
            <a:solidFill>
              <a:srgbClr val="2C5A4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Oval 25"/>
          <p:cNvSpPr/>
          <p:nvPr/>
        </p:nvSpPr>
        <p:spPr>
          <a:xfrm>
            <a:off x="12463272" y="3182112"/>
            <a:ext cx="804672" cy="804672"/>
          </a:xfrm>
          <a:prstGeom prst="ellipse">
            <a:avLst/>
          </a:prstGeom>
          <a:solidFill>
            <a:srgbClr val="102C23"/>
          </a:solidFill>
          <a:ln w="12700">
            <a:solidFill>
              <a:srgbClr val="F5C45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TextBox 26"/>
          <p:cNvSpPr txBox="1"/>
          <p:nvPr/>
        </p:nvSpPr>
        <p:spPr>
          <a:xfrm>
            <a:off x="12463272" y="3172968"/>
            <a:ext cx="804672" cy="804672"/>
          </a:xfrm>
          <a:prstGeom prst="rect">
            <a:avLst/>
          </a:prstGeom>
          <a:noFill/>
        </p:spPr>
        <p:txBody>
          <a:bodyPr wrap="square" lIns="0" tIns="0" rIns="0" bIns="0" anchor="ctr">
            <a:noAutofit/>
          </a:bodyPr>
          <a:lstStyle/>
          <a:p>
            <a:pPr algn="ctr">
              <a:lnSpc>
                <a:spcPct val="105000"/>
              </a:lnSpc>
              <a:spcAft>
                <a:spcPts val="0"/>
              </a:spcAft>
            </a:pPr>
            <a:r>
              <a:rPr sz="2400" b="1" i="0">
                <a:solidFill>
                  <a:srgbClr val="F5C451"/>
                </a:solidFill>
                <a:latin typeface="Avenir Next"/>
              </a:rPr>
              <a:t>13</a:t>
            </a:r>
          </a:p>
        </p:txBody>
      </p:sp>
      <p:sp>
        <p:nvSpPr>
          <p:cNvPr id="28" name="TextBox 27"/>
          <p:cNvSpPr txBox="1"/>
          <p:nvPr/>
        </p:nvSpPr>
        <p:spPr>
          <a:xfrm>
            <a:off x="13441680" y="3200400"/>
            <a:ext cx="3611880" cy="347472"/>
          </a:xfrm>
          <a:prstGeom prst="rect">
            <a:avLst/>
          </a:prstGeom>
          <a:noFill/>
        </p:spPr>
        <p:txBody>
          <a:bodyPr wrap="square" lIns="18288" tIns="18288" rIns="18288" bIns="18288" anchor="t">
            <a:noAutofit/>
          </a:bodyPr>
          <a:lstStyle/>
          <a:p>
            <a:pPr algn="l">
              <a:lnSpc>
                <a:spcPct val="105000"/>
              </a:lnSpc>
              <a:spcAft>
                <a:spcPts val="0"/>
              </a:spcAft>
            </a:pPr>
            <a:r>
              <a:rPr sz="1800" b="1" i="0">
                <a:solidFill>
                  <a:srgbClr val="F4FFFA"/>
                </a:solidFill>
                <a:latin typeface="Avenir Next"/>
              </a:rPr>
              <a:t>Climate Action</a:t>
            </a:r>
          </a:p>
        </p:txBody>
      </p:sp>
      <p:sp>
        <p:nvSpPr>
          <p:cNvPr id="29" name="Rounded Rectangle 28"/>
          <p:cNvSpPr/>
          <p:nvPr/>
        </p:nvSpPr>
        <p:spPr>
          <a:xfrm>
            <a:off x="13441680" y="3639312"/>
            <a:ext cx="1389888" cy="274320"/>
          </a:xfrm>
          <a:prstGeom prst="roundRect">
            <a:avLst>
              <a:gd name="adj" fmla="val 50000"/>
            </a:avLst>
          </a:prstGeom>
          <a:solidFill>
            <a:srgbClr val="0A221B"/>
          </a:solidFill>
          <a:ln w="8890">
            <a:solidFill>
              <a:srgbClr val="F5C45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TextBox 29"/>
          <p:cNvSpPr txBox="1"/>
          <p:nvPr/>
        </p:nvSpPr>
        <p:spPr>
          <a:xfrm>
            <a:off x="13478255" y="3657600"/>
            <a:ext cx="1316736" cy="237744"/>
          </a:xfrm>
          <a:prstGeom prst="rect">
            <a:avLst/>
          </a:prstGeom>
          <a:noFill/>
        </p:spPr>
        <p:txBody>
          <a:bodyPr wrap="square" lIns="9144" tIns="0" rIns="9144" bIns="0" anchor="ctr">
            <a:noAutofit/>
          </a:bodyPr>
          <a:lstStyle/>
          <a:p>
            <a:pPr algn="ctr">
              <a:lnSpc>
                <a:spcPct val="105000"/>
              </a:lnSpc>
              <a:spcAft>
                <a:spcPts val="0"/>
              </a:spcAft>
            </a:pPr>
            <a:r>
              <a:rPr sz="740" b="1" i="0">
                <a:solidFill>
                  <a:srgbClr val="F5C451"/>
                </a:solidFill>
                <a:latin typeface="Avenir Next"/>
              </a:rPr>
              <a:t>SECONDARY</a:t>
            </a:r>
          </a:p>
        </p:txBody>
      </p:sp>
      <p:sp>
        <p:nvSpPr>
          <p:cNvPr id="31" name="TextBox 30"/>
          <p:cNvSpPr txBox="1"/>
          <p:nvPr/>
        </p:nvSpPr>
        <p:spPr>
          <a:xfrm>
            <a:off x="12481560" y="4434840"/>
            <a:ext cx="4434840" cy="1417320"/>
          </a:xfrm>
          <a:prstGeom prst="rect">
            <a:avLst/>
          </a:prstGeom>
          <a:noFill/>
        </p:spPr>
        <p:txBody>
          <a:bodyPr wrap="square" lIns="18288" tIns="18288" rIns="18288" bIns="18288" anchor="t">
            <a:noAutofit/>
          </a:bodyPr>
          <a:lstStyle/>
          <a:p>
            <a:pPr algn="l">
              <a:lnSpc>
                <a:spcPct val="112000"/>
              </a:lnSpc>
              <a:spcAft>
                <a:spcPts val="0"/>
              </a:spcAft>
            </a:pPr>
            <a:r>
              <a:rPr sz="1220" b="0" i="0">
                <a:solidFill>
                  <a:srgbClr val="ADC9BE"/>
                </a:solidFill>
                <a:latin typeface="Avenir Next"/>
              </a:rPr>
              <a:t>Farm waste is treated as an energy resource, not a disposal problem.</a:t>
            </a:r>
          </a:p>
        </p:txBody>
      </p:sp>
      <p:sp>
        <p:nvSpPr>
          <p:cNvPr id="32" name="Rounded Rectangle 31"/>
          <p:cNvSpPr/>
          <p:nvPr/>
        </p:nvSpPr>
        <p:spPr>
          <a:xfrm>
            <a:off x="1143000" y="7333488"/>
            <a:ext cx="15910559" cy="749808"/>
          </a:xfrm>
          <a:prstGeom prst="roundRect">
            <a:avLst>
              <a:gd name="adj" fmla="val 8000"/>
            </a:avLst>
          </a:prstGeom>
          <a:solidFill>
            <a:srgbClr val="102C23"/>
          </a:solidFill>
          <a:ln w="10160">
            <a:solidFill>
              <a:srgbClr val="A6F26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TextBox 32"/>
          <p:cNvSpPr txBox="1"/>
          <p:nvPr/>
        </p:nvSpPr>
        <p:spPr>
          <a:xfrm>
            <a:off x="1444752" y="7470648"/>
            <a:ext cx="15270480" cy="420624"/>
          </a:xfrm>
          <a:prstGeom prst="rect">
            <a:avLst/>
          </a:prstGeom>
          <a:noFill/>
        </p:spPr>
        <p:txBody>
          <a:bodyPr wrap="square" lIns="18288" tIns="18288" rIns="18288" bIns="18288" anchor="t">
            <a:noAutofit/>
          </a:bodyPr>
          <a:lstStyle/>
          <a:p>
            <a:pPr algn="l">
              <a:lnSpc>
                <a:spcPct val="105000"/>
              </a:lnSpc>
              <a:spcAft>
                <a:spcPts val="0"/>
              </a:spcAft>
            </a:pPr>
            <a:r>
              <a:rPr sz="1230" b="1" i="0">
                <a:solidFill>
                  <a:srgbClr val="F4FFFA"/>
                </a:solidFill>
                <a:latin typeface="Avenir Next"/>
              </a:rPr>
              <a:t>The measurable claim is narrower than the vision: trusted advice, less wasted water, and visible energy — validated in a pilot before savings are claimed.</a:t>
            </a:r>
          </a:p>
        </p:txBody>
      </p:sp>
      <p:sp>
        <p:nvSpPr>
          <p:cNvPr id="34" name="TextBox 33"/>
          <p:cNvSpPr txBox="1"/>
          <p:nvPr/>
        </p:nvSpPr>
        <p:spPr>
          <a:xfrm>
            <a:off x="4983480" y="9619488"/>
            <a:ext cx="5852160" cy="228600"/>
          </a:xfrm>
          <a:prstGeom prst="rect">
            <a:avLst/>
          </a:prstGeom>
          <a:noFill/>
        </p:spPr>
        <p:txBody>
          <a:bodyPr wrap="square" lIns="0" tIns="0" rIns="0" bIns="0" anchor="t">
            <a:noAutofit/>
          </a:bodyPr>
          <a:lstStyle/>
          <a:p>
            <a:pPr algn="l">
              <a:lnSpc>
                <a:spcPct val="105000"/>
              </a:lnSpc>
              <a:spcAft>
                <a:spcPts val="0"/>
              </a:spcAft>
            </a:pPr>
            <a:r>
              <a:rPr sz="819" b="0" i="0">
                <a:solidFill>
                  <a:srgbClr val="7CA091"/>
                </a:solidFill>
                <a:latin typeface="Avenir Next"/>
              </a:rPr>
              <a:t>TrustFarm  ·  INNOVA 2026  ·  ICBT</a:t>
            </a:r>
          </a:p>
        </p:txBody>
      </p:sp>
      <p:sp>
        <p:nvSpPr>
          <p:cNvPr id="35" name="TextBox 34"/>
          <p:cNvSpPr txBox="1"/>
          <p:nvPr/>
        </p:nvSpPr>
        <p:spPr>
          <a:xfrm>
            <a:off x="11018520" y="9619488"/>
            <a:ext cx="1234440" cy="228600"/>
          </a:xfrm>
          <a:prstGeom prst="rect">
            <a:avLst/>
          </a:prstGeom>
          <a:noFill/>
        </p:spPr>
        <p:txBody>
          <a:bodyPr wrap="square" lIns="0" tIns="0" rIns="0" bIns="0" anchor="t">
            <a:noAutofit/>
          </a:bodyPr>
          <a:lstStyle/>
          <a:p>
            <a:pPr algn="r">
              <a:lnSpc>
                <a:spcPct val="105000"/>
              </a:lnSpc>
              <a:spcAft>
                <a:spcPts val="0"/>
              </a:spcAft>
            </a:pPr>
            <a:r>
              <a:rPr sz="819" b="0" i="0">
                <a:solidFill>
                  <a:srgbClr val="7CA091"/>
                </a:solidFill>
                <a:latin typeface="Avenir Next"/>
              </a:rPr>
              <a:t>04 / 25</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1A1D1C"/>
        </a:solidFill>
        <a:effectLst/>
      </p:bgPr>
    </p:bg>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25192566" h="16800292">
                <a:moveTo>
                  <a:pt x="0" y="0"/>
                </a:moveTo>
                <a:lnTo>
                  <a:pt x="25192566" y="0"/>
                </a:lnTo>
                <a:lnTo>
                  <a:pt x="25192566" y="16800292"/>
                </a:lnTo>
                <a:lnTo>
                  <a:pt x="0" y="16800292"/>
                </a:lnTo>
                <a:lnTo>
                  <a:pt x="0" y="0"/>
                </a:lnTo>
                <a:close/>
              </a:path>
            </a:pathLst>
          </a:custGeom>
          <a:blipFill>
            <a:blip r:embed="rId3"/>
            <a:stretch>
              <a:fillRect/>
            </a:stretch>
          </a:blipFill>
        </p:spPr>
        <p:txBody>
          <a:bodyPr/>
          <a:lstStyle/>
          <a:p>
            <a:endParaRPr/>
          </a:p>
        </p:txBody>
      </p:sp>
      <p:sp>
        <p:nvSpPr>
          <p:cNvPr id="3" name="Freeform 3"/>
          <p:cNvSpPr/>
          <p:nvPr/>
        </p:nvSpPr>
        <p:spPr>
          <a:xfrm>
            <a:off x="12596283" y="8658721"/>
            <a:ext cx="6457129" cy="1628279"/>
          </a:xfrm>
          <a:custGeom>
            <a:avLst/>
            <a:gdLst/>
            <a:ahLst/>
            <a:cxnLst/>
            <a:rect l="l" t="t" r="r" b="b"/>
            <a:pathLst>
              <a:path w="6457129" h="1628279">
                <a:moveTo>
                  <a:pt x="0" y="0"/>
                </a:moveTo>
                <a:lnTo>
                  <a:pt x="6457129" y="0"/>
                </a:lnTo>
                <a:lnTo>
                  <a:pt x="6457129" y="1628279"/>
                </a:lnTo>
                <a:lnTo>
                  <a:pt x="0" y="1628279"/>
                </a:lnTo>
                <a:lnTo>
                  <a:pt x="0" y="0"/>
                </a:lnTo>
                <a:close/>
              </a:path>
            </a:pathLst>
          </a:custGeom>
          <a:blipFill>
            <a:blip r:embed="rId4"/>
            <a:stretch>
              <a:fillRect t="-85078" b="-85078"/>
            </a:stretch>
          </a:blipFill>
        </p:spPr>
        <p:txBody>
          <a:bodyPr/>
          <a:lstStyle/>
          <a:p>
            <a:endParaRPr/>
          </a:p>
        </p:txBody>
      </p:sp>
      <p:sp>
        <p:nvSpPr>
          <p:cNvPr id="4" name="Freeform 4"/>
          <p:cNvSpPr/>
          <p:nvPr/>
        </p:nvSpPr>
        <p:spPr>
          <a:xfrm>
            <a:off x="0" y="8072991"/>
            <a:ext cx="2839033" cy="2839033"/>
          </a:xfrm>
          <a:custGeom>
            <a:avLst/>
            <a:gdLst/>
            <a:ahLst/>
            <a:cxnLst/>
            <a:rect l="l" t="t" r="r" b="b"/>
            <a:pathLst>
              <a:path w="2839033" h="2839033">
                <a:moveTo>
                  <a:pt x="0" y="0"/>
                </a:moveTo>
                <a:lnTo>
                  <a:pt x="2839033" y="0"/>
                </a:lnTo>
                <a:lnTo>
                  <a:pt x="2839033" y="2839033"/>
                </a:lnTo>
                <a:lnTo>
                  <a:pt x="0" y="2839033"/>
                </a:lnTo>
                <a:lnTo>
                  <a:pt x="0" y="0"/>
                </a:lnTo>
                <a:close/>
              </a:path>
            </a:pathLst>
          </a:custGeom>
          <a:blipFill>
            <a:blip r:embed="rId5"/>
            <a:stretch>
              <a:fillRect/>
            </a:stretch>
          </a:blipFill>
        </p:spPr>
        <p:txBody>
          <a:bodyPr/>
          <a:lstStyle/>
          <a:p>
            <a:endParaRPr/>
          </a:p>
        </p:txBody>
      </p:sp>
      <p:sp>
        <p:nvSpPr>
          <p:cNvPr id="5" name="TextBox 4"/>
          <p:cNvSpPr txBox="1"/>
          <p:nvPr/>
        </p:nvSpPr>
        <p:spPr>
          <a:xfrm>
            <a:off x="1143000" y="841248"/>
            <a:ext cx="10972800" cy="292608"/>
          </a:xfrm>
          <a:prstGeom prst="rect">
            <a:avLst/>
          </a:prstGeom>
          <a:noFill/>
        </p:spPr>
        <p:txBody>
          <a:bodyPr wrap="square" lIns="0" tIns="0" rIns="0" bIns="0" anchor="t">
            <a:noAutofit/>
          </a:bodyPr>
          <a:lstStyle/>
          <a:p>
            <a:pPr algn="l">
              <a:lnSpc>
                <a:spcPct val="105000"/>
              </a:lnSpc>
              <a:spcAft>
                <a:spcPts val="0"/>
              </a:spcAft>
            </a:pPr>
            <a:r>
              <a:rPr sz="1000" b="1" i="0">
                <a:solidFill>
                  <a:srgbClr val="A6F26B"/>
                </a:solidFill>
                <a:latin typeface="Avenir Next"/>
              </a:rPr>
              <a:t>SOLUTION</a:t>
            </a:r>
          </a:p>
        </p:txBody>
      </p:sp>
      <p:sp>
        <p:nvSpPr>
          <p:cNvPr id="6" name="TextBox 5"/>
          <p:cNvSpPr txBox="1"/>
          <p:nvPr/>
        </p:nvSpPr>
        <p:spPr>
          <a:xfrm>
            <a:off x="1097280" y="1124712"/>
            <a:ext cx="13075920" cy="676656"/>
          </a:xfrm>
          <a:prstGeom prst="rect">
            <a:avLst/>
          </a:prstGeom>
          <a:noFill/>
        </p:spPr>
        <p:txBody>
          <a:bodyPr wrap="square" lIns="0" tIns="0" rIns="0" bIns="0" anchor="t">
            <a:noAutofit/>
          </a:bodyPr>
          <a:lstStyle/>
          <a:p>
            <a:pPr algn="l">
              <a:lnSpc>
                <a:spcPct val="98000"/>
              </a:lnSpc>
              <a:spcAft>
                <a:spcPts val="0"/>
              </a:spcAft>
            </a:pPr>
            <a:r>
              <a:rPr sz="3300" b="1" i="0">
                <a:solidFill>
                  <a:srgbClr val="F4FFFA"/>
                </a:solidFill>
                <a:latin typeface="Avenir Next"/>
              </a:rPr>
              <a:t>One loop: sense, verify, forecast, advise, power.</a:t>
            </a:r>
          </a:p>
        </p:txBody>
      </p:sp>
      <p:sp>
        <p:nvSpPr>
          <p:cNvPr id="7" name="TextBox 6"/>
          <p:cNvSpPr txBox="1"/>
          <p:nvPr/>
        </p:nvSpPr>
        <p:spPr>
          <a:xfrm>
            <a:off x="1143000" y="1865376"/>
            <a:ext cx="13258800" cy="502920"/>
          </a:xfrm>
          <a:prstGeom prst="rect">
            <a:avLst/>
          </a:prstGeom>
          <a:noFill/>
        </p:spPr>
        <p:txBody>
          <a:bodyPr wrap="square" lIns="0" tIns="0" rIns="0" bIns="0" anchor="t">
            <a:noAutofit/>
          </a:bodyPr>
          <a:lstStyle/>
          <a:p>
            <a:pPr algn="l">
              <a:lnSpc>
                <a:spcPct val="110000"/>
              </a:lnSpc>
              <a:spcAft>
                <a:spcPts val="0"/>
              </a:spcAft>
            </a:pPr>
            <a:r>
              <a:rPr sz="1400" b="0" i="0">
                <a:solidFill>
                  <a:srgbClr val="ADC9BE"/>
                </a:solidFill>
                <a:latin typeface="Avenir Next"/>
              </a:rPr>
              <a:t>Trust-gated AI plus energy-aware irrigation advice — demonstrated in a live 3D twin.</a:t>
            </a:r>
          </a:p>
        </p:txBody>
      </p:sp>
      <p:sp>
        <p:nvSpPr>
          <p:cNvPr id="8" name="Rectangle 7"/>
          <p:cNvSpPr/>
          <p:nvPr/>
        </p:nvSpPr>
        <p:spPr>
          <a:xfrm>
            <a:off x="1143000" y="2542032"/>
            <a:ext cx="1143000" cy="41148"/>
          </a:xfrm>
          <a:prstGeom prst="rect">
            <a:avLst/>
          </a:prstGeom>
          <a:solidFill>
            <a:srgbClr val="A6F2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ounded Rectangle 8"/>
          <p:cNvSpPr/>
          <p:nvPr/>
        </p:nvSpPr>
        <p:spPr>
          <a:xfrm>
            <a:off x="14127480" y="1143000"/>
            <a:ext cx="3017520" cy="347472"/>
          </a:xfrm>
          <a:prstGeom prst="roundRect">
            <a:avLst>
              <a:gd name="adj" fmla="val 50000"/>
            </a:avLst>
          </a:prstGeom>
          <a:solidFill>
            <a:srgbClr val="0A221B"/>
          </a:solidFill>
          <a:ln w="8890">
            <a:solidFill>
              <a:srgbClr val="A6F26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14164055" y="1161288"/>
            <a:ext cx="2944368" cy="310896"/>
          </a:xfrm>
          <a:prstGeom prst="rect">
            <a:avLst/>
          </a:prstGeom>
          <a:noFill/>
        </p:spPr>
        <p:txBody>
          <a:bodyPr wrap="square" lIns="9144" tIns="0" rIns="9144" bIns="0" anchor="ctr">
            <a:noAutofit/>
          </a:bodyPr>
          <a:lstStyle/>
          <a:p>
            <a:pPr algn="ctr">
              <a:lnSpc>
                <a:spcPct val="105000"/>
              </a:lnSpc>
              <a:spcAft>
                <a:spcPts val="0"/>
              </a:spcAft>
            </a:pPr>
            <a:r>
              <a:rPr sz="819" b="1" i="0">
                <a:solidFill>
                  <a:srgbClr val="A6F26B"/>
                </a:solidFill>
                <a:latin typeface="Avenir Next"/>
              </a:rPr>
              <a:t>SOLUTION</a:t>
            </a:r>
          </a:p>
        </p:txBody>
      </p:sp>
      <p:sp>
        <p:nvSpPr>
          <p:cNvPr id="11" name="Rounded Rectangle 10"/>
          <p:cNvSpPr/>
          <p:nvPr/>
        </p:nvSpPr>
        <p:spPr>
          <a:xfrm>
            <a:off x="1143000" y="2907792"/>
            <a:ext cx="2971800" cy="1024128"/>
          </a:xfrm>
          <a:prstGeom prst="roundRect">
            <a:avLst>
              <a:gd name="adj" fmla="val 8000"/>
            </a:avLst>
          </a:prstGeom>
          <a:solidFill>
            <a:srgbClr val="071813"/>
          </a:solidFill>
          <a:ln w="10160">
            <a:solidFill>
              <a:srgbClr val="A6F26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1307592" y="3054096"/>
            <a:ext cx="2651760" cy="274320"/>
          </a:xfrm>
          <a:prstGeom prst="rect">
            <a:avLst/>
          </a:prstGeom>
          <a:noFill/>
        </p:spPr>
        <p:txBody>
          <a:bodyPr wrap="square" lIns="18288" tIns="18288" rIns="18288" bIns="18288" anchor="t">
            <a:noAutofit/>
          </a:bodyPr>
          <a:lstStyle/>
          <a:p>
            <a:pPr algn="l">
              <a:lnSpc>
                <a:spcPct val="105000"/>
              </a:lnSpc>
              <a:spcAft>
                <a:spcPts val="0"/>
              </a:spcAft>
            </a:pPr>
            <a:r>
              <a:rPr sz="1300" b="1" i="0">
                <a:solidFill>
                  <a:srgbClr val="A6F26B"/>
                </a:solidFill>
                <a:latin typeface="Avenir Next"/>
              </a:rPr>
              <a:t>SENSE</a:t>
            </a:r>
          </a:p>
        </p:txBody>
      </p:sp>
      <p:sp>
        <p:nvSpPr>
          <p:cNvPr id="13" name="TextBox 12"/>
          <p:cNvSpPr txBox="1"/>
          <p:nvPr/>
        </p:nvSpPr>
        <p:spPr>
          <a:xfrm>
            <a:off x="1307592" y="3383280"/>
            <a:ext cx="2651760" cy="274320"/>
          </a:xfrm>
          <a:prstGeom prst="rect">
            <a:avLst/>
          </a:prstGeom>
          <a:noFill/>
        </p:spPr>
        <p:txBody>
          <a:bodyPr wrap="square" lIns="18288" tIns="18288" rIns="18288" bIns="18288" anchor="t">
            <a:noAutofit/>
          </a:bodyPr>
          <a:lstStyle/>
          <a:p>
            <a:pPr algn="l">
              <a:lnSpc>
                <a:spcPct val="105000"/>
              </a:lnSpc>
              <a:spcAft>
                <a:spcPts val="0"/>
              </a:spcAft>
            </a:pPr>
            <a:r>
              <a:rPr sz="950" b="0" i="0">
                <a:solidFill>
                  <a:srgbClr val="ADC9BE"/>
                </a:solidFill>
                <a:latin typeface="Avenir Next"/>
              </a:rPr>
              <a:t>ESP32 + INA219</a:t>
            </a:r>
          </a:p>
        </p:txBody>
      </p:sp>
      <p:sp>
        <p:nvSpPr>
          <p:cNvPr id="14" name="Right Arrow 13"/>
          <p:cNvSpPr/>
          <p:nvPr/>
        </p:nvSpPr>
        <p:spPr>
          <a:xfrm>
            <a:off x="4142231" y="3273552"/>
            <a:ext cx="246888" cy="228600"/>
          </a:xfrm>
          <a:prstGeom prst="rightArrow">
            <a:avLst/>
          </a:prstGeom>
          <a:solidFill>
            <a:srgbClr val="A6F2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Rounded Rectangle 14"/>
          <p:cNvSpPr/>
          <p:nvPr/>
        </p:nvSpPr>
        <p:spPr>
          <a:xfrm>
            <a:off x="4416552" y="2907792"/>
            <a:ext cx="2971800" cy="1024128"/>
          </a:xfrm>
          <a:prstGeom prst="roundRect">
            <a:avLst>
              <a:gd name="adj" fmla="val 8000"/>
            </a:avLst>
          </a:prstGeom>
          <a:solidFill>
            <a:srgbClr val="071813"/>
          </a:solidFill>
          <a:ln w="10160">
            <a:solidFill>
              <a:srgbClr val="59D7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4581144" y="3054096"/>
            <a:ext cx="2651760" cy="274320"/>
          </a:xfrm>
          <a:prstGeom prst="rect">
            <a:avLst/>
          </a:prstGeom>
          <a:noFill/>
        </p:spPr>
        <p:txBody>
          <a:bodyPr wrap="square" lIns="18288" tIns="18288" rIns="18288" bIns="18288" anchor="t">
            <a:noAutofit/>
          </a:bodyPr>
          <a:lstStyle/>
          <a:p>
            <a:pPr algn="l">
              <a:lnSpc>
                <a:spcPct val="105000"/>
              </a:lnSpc>
              <a:spcAft>
                <a:spcPts val="0"/>
              </a:spcAft>
            </a:pPr>
            <a:r>
              <a:rPr sz="1300" b="1" i="0">
                <a:solidFill>
                  <a:srgbClr val="59D7F0"/>
                </a:solidFill>
                <a:latin typeface="Avenir Next"/>
              </a:rPr>
              <a:t>VERIFY</a:t>
            </a:r>
          </a:p>
        </p:txBody>
      </p:sp>
      <p:sp>
        <p:nvSpPr>
          <p:cNvPr id="17" name="TextBox 16"/>
          <p:cNvSpPr txBox="1"/>
          <p:nvPr/>
        </p:nvSpPr>
        <p:spPr>
          <a:xfrm>
            <a:off x="4581144" y="3383280"/>
            <a:ext cx="2651760" cy="274320"/>
          </a:xfrm>
          <a:prstGeom prst="rect">
            <a:avLst/>
          </a:prstGeom>
          <a:noFill/>
        </p:spPr>
        <p:txBody>
          <a:bodyPr wrap="square" lIns="18288" tIns="18288" rIns="18288" bIns="18288" anchor="t">
            <a:noAutofit/>
          </a:bodyPr>
          <a:lstStyle/>
          <a:p>
            <a:pPr algn="l">
              <a:lnSpc>
                <a:spcPct val="105000"/>
              </a:lnSpc>
              <a:spcAft>
                <a:spcPts val="0"/>
              </a:spcAft>
            </a:pPr>
            <a:r>
              <a:rPr sz="950" b="0" i="0">
                <a:solidFill>
                  <a:srgbClr val="ADC9BE"/>
                </a:solidFill>
                <a:latin typeface="Avenir Next"/>
              </a:rPr>
              <a:t>Trust Engine</a:t>
            </a:r>
          </a:p>
        </p:txBody>
      </p:sp>
      <p:sp>
        <p:nvSpPr>
          <p:cNvPr id="18" name="Right Arrow 17"/>
          <p:cNvSpPr/>
          <p:nvPr/>
        </p:nvSpPr>
        <p:spPr>
          <a:xfrm>
            <a:off x="7415783" y="3273552"/>
            <a:ext cx="246888" cy="228600"/>
          </a:xfrm>
          <a:prstGeom prst="rightArrow">
            <a:avLst/>
          </a:prstGeom>
          <a:solidFill>
            <a:srgbClr val="59D7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Rounded Rectangle 18"/>
          <p:cNvSpPr/>
          <p:nvPr/>
        </p:nvSpPr>
        <p:spPr>
          <a:xfrm>
            <a:off x="7690104" y="2907792"/>
            <a:ext cx="2971800" cy="1024128"/>
          </a:xfrm>
          <a:prstGeom prst="roundRect">
            <a:avLst>
              <a:gd name="adj" fmla="val 8000"/>
            </a:avLst>
          </a:prstGeom>
          <a:solidFill>
            <a:srgbClr val="071813"/>
          </a:solidFill>
          <a:ln w="10160">
            <a:solidFill>
              <a:srgbClr val="F5C45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7854696" y="3054096"/>
            <a:ext cx="2651760" cy="274320"/>
          </a:xfrm>
          <a:prstGeom prst="rect">
            <a:avLst/>
          </a:prstGeom>
          <a:noFill/>
        </p:spPr>
        <p:txBody>
          <a:bodyPr wrap="square" lIns="18288" tIns="18288" rIns="18288" bIns="18288" anchor="t">
            <a:noAutofit/>
          </a:bodyPr>
          <a:lstStyle/>
          <a:p>
            <a:pPr algn="l">
              <a:lnSpc>
                <a:spcPct val="105000"/>
              </a:lnSpc>
              <a:spcAft>
                <a:spcPts val="0"/>
              </a:spcAft>
            </a:pPr>
            <a:r>
              <a:rPr sz="1300" b="1" i="0">
                <a:solidFill>
                  <a:srgbClr val="F5C451"/>
                </a:solidFill>
                <a:latin typeface="Avenir Next"/>
              </a:rPr>
              <a:t>PREDICT</a:t>
            </a:r>
          </a:p>
        </p:txBody>
      </p:sp>
      <p:sp>
        <p:nvSpPr>
          <p:cNvPr id="21" name="TextBox 20"/>
          <p:cNvSpPr txBox="1"/>
          <p:nvPr/>
        </p:nvSpPr>
        <p:spPr>
          <a:xfrm>
            <a:off x="7854696" y="3383280"/>
            <a:ext cx="2651760" cy="274320"/>
          </a:xfrm>
          <a:prstGeom prst="rect">
            <a:avLst/>
          </a:prstGeom>
          <a:noFill/>
        </p:spPr>
        <p:txBody>
          <a:bodyPr wrap="square" lIns="18288" tIns="18288" rIns="18288" bIns="18288" anchor="t">
            <a:noAutofit/>
          </a:bodyPr>
          <a:lstStyle/>
          <a:p>
            <a:pPr algn="l">
              <a:lnSpc>
                <a:spcPct val="105000"/>
              </a:lnSpc>
              <a:spcAft>
                <a:spcPts val="0"/>
              </a:spcAft>
            </a:pPr>
            <a:r>
              <a:rPr sz="950" b="0" i="0">
                <a:solidFill>
                  <a:srgbClr val="ADC9BE"/>
                </a:solidFill>
                <a:latin typeface="Avenir Next"/>
              </a:rPr>
              <a:t>3-hour forecast</a:t>
            </a:r>
          </a:p>
        </p:txBody>
      </p:sp>
      <p:sp>
        <p:nvSpPr>
          <p:cNvPr id="22" name="Right Arrow 21"/>
          <p:cNvSpPr/>
          <p:nvPr/>
        </p:nvSpPr>
        <p:spPr>
          <a:xfrm>
            <a:off x="10689336" y="3273552"/>
            <a:ext cx="246888" cy="228600"/>
          </a:xfrm>
          <a:prstGeom prst="rightArrow">
            <a:avLst/>
          </a:prstGeom>
          <a:solidFill>
            <a:srgbClr val="F5C45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Rounded Rectangle 22"/>
          <p:cNvSpPr/>
          <p:nvPr/>
        </p:nvSpPr>
        <p:spPr>
          <a:xfrm>
            <a:off x="10963656" y="2907792"/>
            <a:ext cx="2971800" cy="1024128"/>
          </a:xfrm>
          <a:prstGeom prst="roundRect">
            <a:avLst>
              <a:gd name="adj" fmla="val 8000"/>
            </a:avLst>
          </a:prstGeom>
          <a:solidFill>
            <a:srgbClr val="071813"/>
          </a:solidFill>
          <a:ln w="10160">
            <a:solidFill>
              <a:srgbClr val="A6F26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11128248" y="3054096"/>
            <a:ext cx="2651760" cy="274320"/>
          </a:xfrm>
          <a:prstGeom prst="rect">
            <a:avLst/>
          </a:prstGeom>
          <a:noFill/>
        </p:spPr>
        <p:txBody>
          <a:bodyPr wrap="square" lIns="18288" tIns="18288" rIns="18288" bIns="18288" anchor="t">
            <a:noAutofit/>
          </a:bodyPr>
          <a:lstStyle/>
          <a:p>
            <a:pPr algn="l">
              <a:lnSpc>
                <a:spcPct val="105000"/>
              </a:lnSpc>
              <a:spcAft>
                <a:spcPts val="0"/>
              </a:spcAft>
            </a:pPr>
            <a:r>
              <a:rPr sz="1300" b="1" i="0">
                <a:solidFill>
                  <a:srgbClr val="A6F26B"/>
                </a:solidFill>
                <a:latin typeface="Avenir Next"/>
              </a:rPr>
              <a:t>ADVISE</a:t>
            </a:r>
          </a:p>
        </p:txBody>
      </p:sp>
      <p:sp>
        <p:nvSpPr>
          <p:cNvPr id="25" name="TextBox 24"/>
          <p:cNvSpPr txBox="1"/>
          <p:nvPr/>
        </p:nvSpPr>
        <p:spPr>
          <a:xfrm>
            <a:off x="11128248" y="3383280"/>
            <a:ext cx="2651760" cy="274320"/>
          </a:xfrm>
          <a:prstGeom prst="rect">
            <a:avLst/>
          </a:prstGeom>
          <a:noFill/>
        </p:spPr>
        <p:txBody>
          <a:bodyPr wrap="square" lIns="18288" tIns="18288" rIns="18288" bIns="18288" anchor="t">
            <a:noAutofit/>
          </a:bodyPr>
          <a:lstStyle/>
          <a:p>
            <a:pPr algn="l">
              <a:lnSpc>
                <a:spcPct val="105000"/>
              </a:lnSpc>
              <a:spcAft>
                <a:spcPts val="0"/>
              </a:spcAft>
            </a:pPr>
            <a:r>
              <a:rPr sz="950" b="0" i="0">
                <a:solidFill>
                  <a:srgbClr val="ADC9BE"/>
                </a:solidFill>
                <a:latin typeface="Avenir Next"/>
              </a:rPr>
              <a:t>Explained action</a:t>
            </a:r>
          </a:p>
        </p:txBody>
      </p:sp>
      <p:sp>
        <p:nvSpPr>
          <p:cNvPr id="26" name="Right Arrow 25"/>
          <p:cNvSpPr/>
          <p:nvPr/>
        </p:nvSpPr>
        <p:spPr>
          <a:xfrm>
            <a:off x="13962888" y="3273552"/>
            <a:ext cx="246888" cy="228600"/>
          </a:xfrm>
          <a:prstGeom prst="rightArrow">
            <a:avLst/>
          </a:prstGeom>
          <a:solidFill>
            <a:srgbClr val="A6F2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Rounded Rectangle 26"/>
          <p:cNvSpPr/>
          <p:nvPr/>
        </p:nvSpPr>
        <p:spPr>
          <a:xfrm>
            <a:off x="14237208" y="2907792"/>
            <a:ext cx="2971800" cy="1024128"/>
          </a:xfrm>
          <a:prstGeom prst="roundRect">
            <a:avLst>
              <a:gd name="adj" fmla="val 8000"/>
            </a:avLst>
          </a:prstGeom>
          <a:solidFill>
            <a:srgbClr val="071813"/>
          </a:solidFill>
          <a:ln w="10160">
            <a:solidFill>
              <a:srgbClr val="F5C45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TextBox 27"/>
          <p:cNvSpPr txBox="1"/>
          <p:nvPr/>
        </p:nvSpPr>
        <p:spPr>
          <a:xfrm>
            <a:off x="14401800" y="3054096"/>
            <a:ext cx="2651760" cy="274320"/>
          </a:xfrm>
          <a:prstGeom prst="rect">
            <a:avLst/>
          </a:prstGeom>
          <a:noFill/>
        </p:spPr>
        <p:txBody>
          <a:bodyPr wrap="square" lIns="18288" tIns="18288" rIns="18288" bIns="18288" anchor="t">
            <a:noAutofit/>
          </a:bodyPr>
          <a:lstStyle/>
          <a:p>
            <a:pPr algn="l">
              <a:lnSpc>
                <a:spcPct val="105000"/>
              </a:lnSpc>
              <a:spcAft>
                <a:spcPts val="0"/>
              </a:spcAft>
            </a:pPr>
            <a:r>
              <a:rPr sz="1300" b="1" i="0">
                <a:solidFill>
                  <a:srgbClr val="F5C451"/>
                </a:solidFill>
                <a:latin typeface="Avenir Next"/>
              </a:rPr>
              <a:t>POWER</a:t>
            </a:r>
          </a:p>
        </p:txBody>
      </p:sp>
      <p:sp>
        <p:nvSpPr>
          <p:cNvPr id="29" name="TextBox 28"/>
          <p:cNvSpPr txBox="1"/>
          <p:nvPr/>
        </p:nvSpPr>
        <p:spPr>
          <a:xfrm>
            <a:off x="14401800" y="3383280"/>
            <a:ext cx="2651760" cy="274320"/>
          </a:xfrm>
          <a:prstGeom prst="rect">
            <a:avLst/>
          </a:prstGeom>
          <a:noFill/>
        </p:spPr>
        <p:txBody>
          <a:bodyPr wrap="square" lIns="18288" tIns="18288" rIns="18288" bIns="18288" anchor="t">
            <a:noAutofit/>
          </a:bodyPr>
          <a:lstStyle/>
          <a:p>
            <a:pPr algn="l">
              <a:lnSpc>
                <a:spcPct val="105000"/>
              </a:lnSpc>
              <a:spcAft>
                <a:spcPts val="0"/>
              </a:spcAft>
            </a:pPr>
            <a:r>
              <a:rPr sz="950" b="0" i="0">
                <a:solidFill>
                  <a:srgbClr val="ADC9BE"/>
                </a:solidFill>
                <a:latin typeface="Avenir Next"/>
              </a:rPr>
              <a:t>Energy gate</a:t>
            </a:r>
          </a:p>
        </p:txBody>
      </p:sp>
      <p:sp>
        <p:nvSpPr>
          <p:cNvPr id="30" name="Rounded Rectangle 29"/>
          <p:cNvSpPr/>
          <p:nvPr/>
        </p:nvSpPr>
        <p:spPr>
          <a:xfrm>
            <a:off x="1143000" y="4370832"/>
            <a:ext cx="5074920" cy="2331720"/>
          </a:xfrm>
          <a:prstGeom prst="roundRect">
            <a:avLst>
              <a:gd name="adj" fmla="val 8000"/>
            </a:avLst>
          </a:prstGeom>
          <a:solidFill>
            <a:srgbClr val="0A221B"/>
          </a:solidFill>
          <a:ln w="10160">
            <a:solidFill>
              <a:srgbClr val="2C5A4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TextBox 30"/>
          <p:cNvSpPr txBox="1"/>
          <p:nvPr/>
        </p:nvSpPr>
        <p:spPr>
          <a:xfrm>
            <a:off x="1389888" y="4572000"/>
            <a:ext cx="4572000" cy="274320"/>
          </a:xfrm>
          <a:prstGeom prst="rect">
            <a:avLst/>
          </a:prstGeom>
          <a:noFill/>
        </p:spPr>
        <p:txBody>
          <a:bodyPr wrap="square" lIns="18288" tIns="18288" rIns="18288" bIns="18288" anchor="t">
            <a:noAutofit/>
          </a:bodyPr>
          <a:lstStyle/>
          <a:p>
            <a:pPr algn="l">
              <a:lnSpc>
                <a:spcPct val="105000"/>
              </a:lnSpc>
              <a:spcAft>
                <a:spcPts val="0"/>
              </a:spcAft>
            </a:pPr>
            <a:r>
              <a:rPr sz="950" b="1" i="0">
                <a:solidFill>
                  <a:srgbClr val="59D7F0"/>
                </a:solidFill>
                <a:latin typeface="Avenir Next"/>
              </a:rPr>
              <a:t>DATA-QUALITY GATE</a:t>
            </a:r>
          </a:p>
        </p:txBody>
      </p:sp>
      <p:sp>
        <p:nvSpPr>
          <p:cNvPr id="32" name="TextBox 31"/>
          <p:cNvSpPr txBox="1"/>
          <p:nvPr/>
        </p:nvSpPr>
        <p:spPr>
          <a:xfrm>
            <a:off x="1389888" y="4892040"/>
            <a:ext cx="4526280" cy="365760"/>
          </a:xfrm>
          <a:prstGeom prst="rect">
            <a:avLst/>
          </a:prstGeom>
          <a:noFill/>
        </p:spPr>
        <p:txBody>
          <a:bodyPr wrap="square" lIns="18288" tIns="18288" rIns="18288" bIns="18288" anchor="t">
            <a:noAutofit/>
          </a:bodyPr>
          <a:lstStyle/>
          <a:p>
            <a:pPr algn="l">
              <a:lnSpc>
                <a:spcPct val="105000"/>
              </a:lnSpc>
              <a:spcAft>
                <a:spcPts val="0"/>
              </a:spcAft>
            </a:pPr>
            <a:r>
              <a:rPr sz="1450" b="1" i="0">
                <a:solidFill>
                  <a:srgbClr val="F4FFFA"/>
                </a:solidFill>
                <a:latin typeface="Avenir Next"/>
              </a:rPr>
              <a:t>The model is not always allowed to answer.</a:t>
            </a:r>
          </a:p>
        </p:txBody>
      </p:sp>
      <p:sp>
        <p:nvSpPr>
          <p:cNvPr id="33" name="TextBox 32"/>
          <p:cNvSpPr txBox="1"/>
          <p:nvPr/>
        </p:nvSpPr>
        <p:spPr>
          <a:xfrm>
            <a:off x="1389888" y="5394960"/>
            <a:ext cx="4526280" cy="1005840"/>
          </a:xfrm>
          <a:prstGeom prst="rect">
            <a:avLst/>
          </a:prstGeom>
          <a:noFill/>
        </p:spPr>
        <p:txBody>
          <a:bodyPr wrap="square" lIns="18288" tIns="18288" rIns="18288" bIns="18288" anchor="t">
            <a:noAutofit/>
          </a:bodyPr>
          <a:lstStyle/>
          <a:p>
            <a:pPr algn="l">
              <a:lnSpc>
                <a:spcPct val="112000"/>
              </a:lnSpc>
              <a:spcAft>
                <a:spcPts val="0"/>
              </a:spcAft>
            </a:pPr>
            <a:r>
              <a:rPr sz="1150" b="0" i="0">
                <a:solidFill>
                  <a:srgbClr val="ADC9BE"/>
                </a:solidFill>
                <a:latin typeface="Avenir Next"/>
              </a:rPr>
              <a:t>Green → advise.  Amber → predict, but ask for a sensor check.  Red → pause and alert.</a:t>
            </a:r>
          </a:p>
        </p:txBody>
      </p:sp>
      <p:sp>
        <p:nvSpPr>
          <p:cNvPr id="34" name="Rounded Rectangle 33"/>
          <p:cNvSpPr/>
          <p:nvPr/>
        </p:nvSpPr>
        <p:spPr>
          <a:xfrm>
            <a:off x="6583680" y="4370832"/>
            <a:ext cx="5074920" cy="2331720"/>
          </a:xfrm>
          <a:prstGeom prst="roundRect">
            <a:avLst>
              <a:gd name="adj" fmla="val 8000"/>
            </a:avLst>
          </a:prstGeom>
          <a:solidFill>
            <a:srgbClr val="0A221B"/>
          </a:solidFill>
          <a:ln w="10160">
            <a:solidFill>
              <a:srgbClr val="2C5A4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TextBox 34"/>
          <p:cNvSpPr txBox="1"/>
          <p:nvPr/>
        </p:nvSpPr>
        <p:spPr>
          <a:xfrm>
            <a:off x="6830568" y="4572000"/>
            <a:ext cx="4572000" cy="274320"/>
          </a:xfrm>
          <a:prstGeom prst="rect">
            <a:avLst/>
          </a:prstGeom>
          <a:noFill/>
        </p:spPr>
        <p:txBody>
          <a:bodyPr wrap="square" lIns="18288" tIns="18288" rIns="18288" bIns="18288" anchor="t">
            <a:noAutofit/>
          </a:bodyPr>
          <a:lstStyle/>
          <a:p>
            <a:pPr algn="l">
              <a:lnSpc>
                <a:spcPct val="105000"/>
              </a:lnSpc>
              <a:spcAft>
                <a:spcPts val="0"/>
              </a:spcAft>
            </a:pPr>
            <a:r>
              <a:rPr sz="950" b="1" i="0">
                <a:solidFill>
                  <a:srgbClr val="F5C451"/>
                </a:solidFill>
                <a:latin typeface="Avenir Next"/>
              </a:rPr>
              <a:t>3-HOUR FORECAST</a:t>
            </a:r>
          </a:p>
        </p:txBody>
      </p:sp>
      <p:sp>
        <p:nvSpPr>
          <p:cNvPr id="36" name="TextBox 35"/>
          <p:cNvSpPr txBox="1"/>
          <p:nvPr/>
        </p:nvSpPr>
        <p:spPr>
          <a:xfrm>
            <a:off x="6830568" y="4892040"/>
            <a:ext cx="4526280" cy="365760"/>
          </a:xfrm>
          <a:prstGeom prst="rect">
            <a:avLst/>
          </a:prstGeom>
          <a:noFill/>
        </p:spPr>
        <p:txBody>
          <a:bodyPr wrap="square" lIns="18288" tIns="18288" rIns="18288" bIns="18288" anchor="t">
            <a:noAutofit/>
          </a:bodyPr>
          <a:lstStyle/>
          <a:p>
            <a:pPr algn="l">
              <a:lnSpc>
                <a:spcPct val="105000"/>
              </a:lnSpc>
              <a:spcAft>
                <a:spcPts val="0"/>
              </a:spcAft>
            </a:pPr>
            <a:r>
              <a:rPr sz="1450" b="1" i="0">
                <a:solidFill>
                  <a:srgbClr val="F4FFFA"/>
                </a:solidFill>
                <a:latin typeface="Avenir Next"/>
              </a:rPr>
              <a:t>Soil moisture, 36 steps ahead.</a:t>
            </a:r>
          </a:p>
        </p:txBody>
      </p:sp>
      <p:sp>
        <p:nvSpPr>
          <p:cNvPr id="37" name="TextBox 36"/>
          <p:cNvSpPr txBox="1"/>
          <p:nvPr/>
        </p:nvSpPr>
        <p:spPr>
          <a:xfrm>
            <a:off x="6830568" y="5394960"/>
            <a:ext cx="4526280" cy="1005840"/>
          </a:xfrm>
          <a:prstGeom prst="rect">
            <a:avLst/>
          </a:prstGeom>
          <a:noFill/>
        </p:spPr>
        <p:txBody>
          <a:bodyPr wrap="square" lIns="18288" tIns="18288" rIns="18288" bIns="18288" anchor="t">
            <a:noAutofit/>
          </a:bodyPr>
          <a:lstStyle/>
          <a:p>
            <a:pPr algn="l">
              <a:lnSpc>
                <a:spcPct val="112000"/>
              </a:lnSpc>
              <a:spcAft>
                <a:spcPts val="0"/>
              </a:spcAft>
            </a:pPr>
            <a:r>
              <a:rPr sz="1150" b="0" i="0">
                <a:solidFill>
                  <a:srgbClr val="ADC9BE"/>
                </a:solidFill>
                <a:latin typeface="Avenir Next"/>
              </a:rPr>
              <a:t>A GradientBoosting model forecasts soil moisture; a balanced classifier turns it into Low / Medium / High need.</a:t>
            </a:r>
          </a:p>
        </p:txBody>
      </p:sp>
      <p:sp>
        <p:nvSpPr>
          <p:cNvPr id="38" name="Rounded Rectangle 37"/>
          <p:cNvSpPr/>
          <p:nvPr/>
        </p:nvSpPr>
        <p:spPr>
          <a:xfrm>
            <a:off x="12024360" y="4370832"/>
            <a:ext cx="5029200" cy="2331720"/>
          </a:xfrm>
          <a:prstGeom prst="roundRect">
            <a:avLst>
              <a:gd name="adj" fmla="val 8000"/>
            </a:avLst>
          </a:prstGeom>
          <a:solidFill>
            <a:srgbClr val="0A221B"/>
          </a:solidFill>
          <a:ln w="10160">
            <a:solidFill>
              <a:srgbClr val="2C5A4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9" name="TextBox 38"/>
          <p:cNvSpPr txBox="1"/>
          <p:nvPr/>
        </p:nvSpPr>
        <p:spPr>
          <a:xfrm>
            <a:off x="12271248" y="4572000"/>
            <a:ext cx="4572000" cy="274320"/>
          </a:xfrm>
          <a:prstGeom prst="rect">
            <a:avLst/>
          </a:prstGeom>
          <a:noFill/>
        </p:spPr>
        <p:txBody>
          <a:bodyPr wrap="square" lIns="18288" tIns="18288" rIns="18288" bIns="18288" anchor="t">
            <a:noAutofit/>
          </a:bodyPr>
          <a:lstStyle/>
          <a:p>
            <a:pPr algn="l">
              <a:lnSpc>
                <a:spcPct val="105000"/>
              </a:lnSpc>
              <a:spcAft>
                <a:spcPts val="0"/>
              </a:spcAft>
            </a:pPr>
            <a:r>
              <a:rPr sz="950" b="1" i="0">
                <a:solidFill>
                  <a:srgbClr val="A6F26B"/>
                </a:solidFill>
                <a:latin typeface="Avenir Next"/>
              </a:rPr>
              <a:t>ENERGY-AWARE ADVICE</a:t>
            </a:r>
          </a:p>
        </p:txBody>
      </p:sp>
      <p:sp>
        <p:nvSpPr>
          <p:cNvPr id="40" name="TextBox 39"/>
          <p:cNvSpPr txBox="1"/>
          <p:nvPr/>
        </p:nvSpPr>
        <p:spPr>
          <a:xfrm>
            <a:off x="12271248" y="4892040"/>
            <a:ext cx="4526280" cy="365760"/>
          </a:xfrm>
          <a:prstGeom prst="rect">
            <a:avLst/>
          </a:prstGeom>
          <a:noFill/>
        </p:spPr>
        <p:txBody>
          <a:bodyPr wrap="square" lIns="18288" tIns="18288" rIns="18288" bIns="18288" anchor="t">
            <a:noAutofit/>
          </a:bodyPr>
          <a:lstStyle/>
          <a:p>
            <a:pPr algn="l">
              <a:lnSpc>
                <a:spcPct val="105000"/>
              </a:lnSpc>
              <a:spcAft>
                <a:spcPts val="0"/>
              </a:spcAft>
            </a:pPr>
            <a:r>
              <a:rPr sz="1450" b="1" i="0">
                <a:solidFill>
                  <a:srgbClr val="F4FFFA"/>
                </a:solidFill>
                <a:latin typeface="Avenir Next"/>
              </a:rPr>
              <a:t>Water only when power allows.</a:t>
            </a:r>
          </a:p>
        </p:txBody>
      </p:sp>
      <p:sp>
        <p:nvSpPr>
          <p:cNvPr id="41" name="TextBox 40"/>
          <p:cNvSpPr txBox="1"/>
          <p:nvPr/>
        </p:nvSpPr>
        <p:spPr>
          <a:xfrm>
            <a:off x="12271248" y="5394960"/>
            <a:ext cx="4526280" cy="1005840"/>
          </a:xfrm>
          <a:prstGeom prst="rect">
            <a:avLst/>
          </a:prstGeom>
          <a:noFill/>
        </p:spPr>
        <p:txBody>
          <a:bodyPr wrap="square" lIns="18288" tIns="18288" rIns="18288" bIns="18288" anchor="t">
            <a:noAutofit/>
          </a:bodyPr>
          <a:lstStyle/>
          <a:p>
            <a:pPr algn="l">
              <a:lnSpc>
                <a:spcPct val="112000"/>
              </a:lnSpc>
              <a:spcAft>
                <a:spcPts val="0"/>
              </a:spcAft>
            </a:pPr>
            <a:r>
              <a:rPr sz="1150" b="0" i="0">
                <a:solidFill>
                  <a:srgbClr val="ADC9BE"/>
                </a:solidFill>
                <a:latin typeface="Avenir Next"/>
              </a:rPr>
              <a:t>Battery state and generation can turn “irrigate now” into “delay or use manual supply”.</a:t>
            </a:r>
          </a:p>
        </p:txBody>
      </p:sp>
      <p:sp>
        <p:nvSpPr>
          <p:cNvPr id="42" name="TextBox 41"/>
          <p:cNvSpPr txBox="1"/>
          <p:nvPr/>
        </p:nvSpPr>
        <p:spPr>
          <a:xfrm>
            <a:off x="1143000" y="7114032"/>
            <a:ext cx="15910559" cy="365760"/>
          </a:xfrm>
          <a:prstGeom prst="rect">
            <a:avLst/>
          </a:prstGeom>
          <a:noFill/>
        </p:spPr>
        <p:txBody>
          <a:bodyPr wrap="square" lIns="18288" tIns="18288" rIns="18288" bIns="18288" anchor="t">
            <a:noAutofit/>
          </a:bodyPr>
          <a:lstStyle/>
          <a:p>
            <a:pPr algn="l">
              <a:lnSpc>
                <a:spcPct val="105000"/>
              </a:lnSpc>
              <a:spcAft>
                <a:spcPts val="0"/>
              </a:spcAft>
            </a:pPr>
            <a:r>
              <a:rPr sz="1500" b="1" i="0">
                <a:solidFill>
                  <a:srgbClr val="A6F26B"/>
                </a:solidFill>
                <a:latin typeface="Avenir Next"/>
              </a:rPr>
              <a:t>This is one integrated system — not three disconnected prototypes.</a:t>
            </a:r>
          </a:p>
        </p:txBody>
      </p:sp>
      <p:sp>
        <p:nvSpPr>
          <p:cNvPr id="43" name="TextBox 42"/>
          <p:cNvSpPr txBox="1"/>
          <p:nvPr/>
        </p:nvSpPr>
        <p:spPr>
          <a:xfrm>
            <a:off x="1143000" y="7543800"/>
            <a:ext cx="15910559" cy="320040"/>
          </a:xfrm>
          <a:prstGeom prst="rect">
            <a:avLst/>
          </a:prstGeom>
          <a:noFill/>
        </p:spPr>
        <p:txBody>
          <a:bodyPr wrap="square" lIns="18288" tIns="18288" rIns="18288" bIns="18288" anchor="t">
            <a:noAutofit/>
          </a:bodyPr>
          <a:lstStyle/>
          <a:p>
            <a:pPr algn="l">
              <a:lnSpc>
                <a:spcPct val="105000"/>
              </a:lnSpc>
              <a:spcAft>
                <a:spcPts val="0"/>
              </a:spcAft>
            </a:pPr>
            <a:r>
              <a:rPr sz="1050" b="0" i="0">
                <a:solidFill>
                  <a:srgbClr val="7CA091"/>
                </a:solidFill>
                <a:latin typeface="Avenir Next"/>
              </a:rPr>
              <a:t>Status: trust engine, forecast, advice, monitoring and 3D twin are implemented. Physical energy hardware and field validation are next.</a:t>
            </a:r>
          </a:p>
        </p:txBody>
      </p:sp>
      <p:sp>
        <p:nvSpPr>
          <p:cNvPr id="44" name="TextBox 43"/>
          <p:cNvSpPr txBox="1"/>
          <p:nvPr/>
        </p:nvSpPr>
        <p:spPr>
          <a:xfrm>
            <a:off x="4983480" y="9619488"/>
            <a:ext cx="5852160" cy="228600"/>
          </a:xfrm>
          <a:prstGeom prst="rect">
            <a:avLst/>
          </a:prstGeom>
          <a:noFill/>
        </p:spPr>
        <p:txBody>
          <a:bodyPr wrap="square" lIns="0" tIns="0" rIns="0" bIns="0" anchor="t">
            <a:noAutofit/>
          </a:bodyPr>
          <a:lstStyle/>
          <a:p>
            <a:pPr algn="l">
              <a:lnSpc>
                <a:spcPct val="105000"/>
              </a:lnSpc>
              <a:spcAft>
                <a:spcPts val="0"/>
              </a:spcAft>
            </a:pPr>
            <a:r>
              <a:rPr sz="819" b="0" i="0">
                <a:solidFill>
                  <a:srgbClr val="7CA091"/>
                </a:solidFill>
                <a:latin typeface="Avenir Next"/>
              </a:rPr>
              <a:t>TrustFarm  ·  INNOVA 2026  ·  ICBT</a:t>
            </a:r>
          </a:p>
        </p:txBody>
      </p:sp>
      <p:sp>
        <p:nvSpPr>
          <p:cNvPr id="45" name="TextBox 44"/>
          <p:cNvSpPr txBox="1"/>
          <p:nvPr/>
        </p:nvSpPr>
        <p:spPr>
          <a:xfrm>
            <a:off x="11018520" y="9619488"/>
            <a:ext cx="1234440" cy="228600"/>
          </a:xfrm>
          <a:prstGeom prst="rect">
            <a:avLst/>
          </a:prstGeom>
          <a:noFill/>
        </p:spPr>
        <p:txBody>
          <a:bodyPr wrap="square" lIns="0" tIns="0" rIns="0" bIns="0" anchor="t">
            <a:noAutofit/>
          </a:bodyPr>
          <a:lstStyle/>
          <a:p>
            <a:pPr algn="r">
              <a:lnSpc>
                <a:spcPct val="105000"/>
              </a:lnSpc>
              <a:spcAft>
                <a:spcPts val="0"/>
              </a:spcAft>
            </a:pPr>
            <a:r>
              <a:rPr sz="819" b="0" i="0">
                <a:solidFill>
                  <a:srgbClr val="7CA091"/>
                </a:solidFill>
                <a:latin typeface="Avenir Next"/>
              </a:rPr>
              <a:t>05 / 25</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1A1D1C"/>
        </a:solidFill>
        <a:effectLst/>
      </p:bgPr>
    </p:bg>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25192566" h="16800292">
                <a:moveTo>
                  <a:pt x="0" y="0"/>
                </a:moveTo>
                <a:lnTo>
                  <a:pt x="25192566" y="0"/>
                </a:lnTo>
                <a:lnTo>
                  <a:pt x="25192566" y="16800292"/>
                </a:lnTo>
                <a:lnTo>
                  <a:pt x="0" y="16800292"/>
                </a:lnTo>
                <a:lnTo>
                  <a:pt x="0" y="0"/>
                </a:lnTo>
                <a:close/>
              </a:path>
            </a:pathLst>
          </a:custGeom>
          <a:blipFill>
            <a:blip r:embed="rId3"/>
            <a:stretch>
              <a:fillRect/>
            </a:stretch>
          </a:blipFill>
        </p:spPr>
        <p:txBody>
          <a:bodyPr/>
          <a:lstStyle/>
          <a:p>
            <a:endParaRPr/>
          </a:p>
        </p:txBody>
      </p:sp>
      <p:sp>
        <p:nvSpPr>
          <p:cNvPr id="3" name="Freeform 3"/>
          <p:cNvSpPr/>
          <p:nvPr/>
        </p:nvSpPr>
        <p:spPr>
          <a:xfrm>
            <a:off x="12596283" y="8658721"/>
            <a:ext cx="6457129" cy="1628279"/>
          </a:xfrm>
          <a:custGeom>
            <a:avLst/>
            <a:gdLst/>
            <a:ahLst/>
            <a:cxnLst/>
            <a:rect l="l" t="t" r="r" b="b"/>
            <a:pathLst>
              <a:path w="6457129" h="1628279">
                <a:moveTo>
                  <a:pt x="0" y="0"/>
                </a:moveTo>
                <a:lnTo>
                  <a:pt x="6457129" y="0"/>
                </a:lnTo>
                <a:lnTo>
                  <a:pt x="6457129" y="1628279"/>
                </a:lnTo>
                <a:lnTo>
                  <a:pt x="0" y="1628279"/>
                </a:lnTo>
                <a:lnTo>
                  <a:pt x="0" y="0"/>
                </a:lnTo>
                <a:close/>
              </a:path>
            </a:pathLst>
          </a:custGeom>
          <a:blipFill>
            <a:blip r:embed="rId4"/>
            <a:stretch>
              <a:fillRect t="-85078" b="-85078"/>
            </a:stretch>
          </a:blipFill>
        </p:spPr>
        <p:txBody>
          <a:bodyPr/>
          <a:lstStyle/>
          <a:p>
            <a:endParaRPr/>
          </a:p>
        </p:txBody>
      </p:sp>
      <p:sp>
        <p:nvSpPr>
          <p:cNvPr id="4" name="Freeform 4"/>
          <p:cNvSpPr/>
          <p:nvPr/>
        </p:nvSpPr>
        <p:spPr>
          <a:xfrm>
            <a:off x="0" y="8072991"/>
            <a:ext cx="2839033" cy="2839033"/>
          </a:xfrm>
          <a:custGeom>
            <a:avLst/>
            <a:gdLst/>
            <a:ahLst/>
            <a:cxnLst/>
            <a:rect l="l" t="t" r="r" b="b"/>
            <a:pathLst>
              <a:path w="2839033" h="2839033">
                <a:moveTo>
                  <a:pt x="0" y="0"/>
                </a:moveTo>
                <a:lnTo>
                  <a:pt x="2839033" y="0"/>
                </a:lnTo>
                <a:lnTo>
                  <a:pt x="2839033" y="2839033"/>
                </a:lnTo>
                <a:lnTo>
                  <a:pt x="0" y="2839033"/>
                </a:lnTo>
                <a:lnTo>
                  <a:pt x="0" y="0"/>
                </a:lnTo>
                <a:close/>
              </a:path>
            </a:pathLst>
          </a:custGeom>
          <a:blipFill>
            <a:blip r:embed="rId5"/>
            <a:stretch>
              <a:fillRect/>
            </a:stretch>
          </a:blipFill>
        </p:spPr>
        <p:txBody>
          <a:bodyPr/>
          <a:lstStyle/>
          <a:p>
            <a:endParaRPr/>
          </a:p>
        </p:txBody>
      </p:sp>
      <p:sp>
        <p:nvSpPr>
          <p:cNvPr id="5" name="TextBox 4"/>
          <p:cNvSpPr txBox="1"/>
          <p:nvPr/>
        </p:nvSpPr>
        <p:spPr>
          <a:xfrm>
            <a:off x="1143000" y="841248"/>
            <a:ext cx="10972800" cy="292608"/>
          </a:xfrm>
          <a:prstGeom prst="rect">
            <a:avLst/>
          </a:prstGeom>
          <a:noFill/>
        </p:spPr>
        <p:txBody>
          <a:bodyPr wrap="square" lIns="0" tIns="0" rIns="0" bIns="0" anchor="t">
            <a:noAutofit/>
          </a:bodyPr>
          <a:lstStyle/>
          <a:p>
            <a:pPr algn="l">
              <a:lnSpc>
                <a:spcPct val="105000"/>
              </a:lnSpc>
              <a:spcAft>
                <a:spcPts val="0"/>
              </a:spcAft>
            </a:pPr>
            <a:r>
              <a:rPr sz="1000" b="1" i="0">
                <a:solidFill>
                  <a:srgbClr val="A6F26B"/>
                </a:solidFill>
                <a:latin typeface="Avenir Next"/>
              </a:rPr>
              <a:t>3D SYSTEM VIEW</a:t>
            </a:r>
          </a:p>
        </p:txBody>
      </p:sp>
      <p:sp>
        <p:nvSpPr>
          <p:cNvPr id="6" name="TextBox 5"/>
          <p:cNvSpPr txBox="1"/>
          <p:nvPr/>
        </p:nvSpPr>
        <p:spPr>
          <a:xfrm>
            <a:off x="1097280" y="1124712"/>
            <a:ext cx="13075920" cy="676656"/>
          </a:xfrm>
          <a:prstGeom prst="rect">
            <a:avLst/>
          </a:prstGeom>
          <a:noFill/>
        </p:spPr>
        <p:txBody>
          <a:bodyPr wrap="square" lIns="0" tIns="0" rIns="0" bIns="0" anchor="t">
            <a:noAutofit/>
          </a:bodyPr>
          <a:lstStyle/>
          <a:p>
            <a:pPr algn="l">
              <a:lnSpc>
                <a:spcPct val="98000"/>
              </a:lnSpc>
              <a:spcAft>
                <a:spcPts val="0"/>
              </a:spcAft>
            </a:pPr>
            <a:r>
              <a:rPr sz="3300" b="1" i="0">
                <a:solidFill>
                  <a:srgbClr val="F4FFFA"/>
                </a:solidFill>
                <a:latin typeface="Avenir Next"/>
              </a:rPr>
              <a:t>Interactive 3D digital twin.</a:t>
            </a:r>
          </a:p>
        </p:txBody>
      </p:sp>
      <p:sp>
        <p:nvSpPr>
          <p:cNvPr id="7" name="TextBox 6"/>
          <p:cNvSpPr txBox="1"/>
          <p:nvPr/>
        </p:nvSpPr>
        <p:spPr>
          <a:xfrm>
            <a:off x="1143000" y="1865376"/>
            <a:ext cx="13258800" cy="502920"/>
          </a:xfrm>
          <a:prstGeom prst="rect">
            <a:avLst/>
          </a:prstGeom>
          <a:noFill/>
        </p:spPr>
        <p:txBody>
          <a:bodyPr wrap="square" lIns="0" tIns="0" rIns="0" bIns="0" anchor="t">
            <a:noAutofit/>
          </a:bodyPr>
          <a:lstStyle/>
          <a:p>
            <a:pPr algn="l">
              <a:lnSpc>
                <a:spcPct val="110000"/>
              </a:lnSpc>
              <a:spcAft>
                <a:spcPts val="0"/>
              </a:spcAft>
            </a:pPr>
            <a:r>
              <a:rPr sz="1400" b="0" i="0">
                <a:solidFill>
                  <a:srgbClr val="ADC9BE"/>
                </a:solidFill>
                <a:latin typeface="Avenir Next"/>
              </a:rPr>
              <a:t>A real browser-based hardware model — not a rendered mock-up.</a:t>
            </a:r>
          </a:p>
        </p:txBody>
      </p:sp>
      <p:sp>
        <p:nvSpPr>
          <p:cNvPr id="8" name="Rectangle 7"/>
          <p:cNvSpPr/>
          <p:nvPr/>
        </p:nvSpPr>
        <p:spPr>
          <a:xfrm>
            <a:off x="1143000" y="2542032"/>
            <a:ext cx="1143000" cy="41148"/>
          </a:xfrm>
          <a:prstGeom prst="rect">
            <a:avLst/>
          </a:prstGeom>
          <a:solidFill>
            <a:srgbClr val="A6F2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ounded Rectangle 8"/>
          <p:cNvSpPr/>
          <p:nvPr/>
        </p:nvSpPr>
        <p:spPr>
          <a:xfrm>
            <a:off x="14127480" y="1143000"/>
            <a:ext cx="3017520" cy="347472"/>
          </a:xfrm>
          <a:prstGeom prst="roundRect">
            <a:avLst>
              <a:gd name="adj" fmla="val 50000"/>
            </a:avLst>
          </a:prstGeom>
          <a:solidFill>
            <a:srgbClr val="0A221B"/>
          </a:solidFill>
          <a:ln w="8890">
            <a:solidFill>
              <a:srgbClr val="A6F26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14164055" y="1161288"/>
            <a:ext cx="2944368" cy="310896"/>
          </a:xfrm>
          <a:prstGeom prst="rect">
            <a:avLst/>
          </a:prstGeom>
          <a:noFill/>
        </p:spPr>
        <p:txBody>
          <a:bodyPr wrap="square" lIns="9144" tIns="0" rIns="9144" bIns="0" anchor="ctr">
            <a:noAutofit/>
          </a:bodyPr>
          <a:lstStyle/>
          <a:p>
            <a:pPr algn="ctr">
              <a:lnSpc>
                <a:spcPct val="105000"/>
              </a:lnSpc>
              <a:spcAft>
                <a:spcPts val="0"/>
              </a:spcAft>
            </a:pPr>
            <a:r>
              <a:rPr sz="819" b="1" i="0">
                <a:solidFill>
                  <a:srgbClr val="A6F26B"/>
                </a:solidFill>
                <a:latin typeface="Avenir Next"/>
              </a:rPr>
              <a:t>IMPLEMENTED · THREE.JS</a:t>
            </a:r>
          </a:p>
        </p:txBody>
      </p:sp>
      <p:pic>
        <p:nvPicPr>
          <p:cNvPr id="11" name="Picture 10" descr="Interactive 3D circuit model of the TrustFarm ESP32 node"/>
          <p:cNvPicPr>
            <a:picLocks noChangeAspect="1"/>
          </p:cNvPicPr>
          <p:nvPr/>
        </p:nvPicPr>
        <p:blipFill>
          <a:blip r:embed="rId6"/>
          <a:stretch>
            <a:fillRect/>
          </a:stretch>
        </p:blipFill>
        <p:spPr>
          <a:xfrm>
            <a:off x="3017520" y="2761488"/>
            <a:ext cx="9235440" cy="5312664"/>
          </a:xfrm>
          <a:prstGeom prst="rect">
            <a:avLst/>
          </a:prstGeom>
        </p:spPr>
      </p:pic>
      <p:sp>
        <p:nvSpPr>
          <p:cNvPr id="12" name="TextBox 11"/>
          <p:cNvSpPr txBox="1"/>
          <p:nvPr/>
        </p:nvSpPr>
        <p:spPr>
          <a:xfrm>
            <a:off x="3063240" y="8174736"/>
            <a:ext cx="9098280" cy="274320"/>
          </a:xfrm>
          <a:prstGeom prst="rect">
            <a:avLst/>
          </a:prstGeom>
          <a:noFill/>
        </p:spPr>
        <p:txBody>
          <a:bodyPr wrap="square" lIns="18288" tIns="18288" rIns="18288" bIns="18288" anchor="t">
            <a:noAutofit/>
          </a:bodyPr>
          <a:lstStyle/>
          <a:p>
            <a:pPr algn="l">
              <a:lnSpc>
                <a:spcPct val="105000"/>
              </a:lnSpc>
              <a:spcAft>
                <a:spcPts val="0"/>
              </a:spcAft>
            </a:pPr>
            <a:r>
              <a:rPr sz="880" b="0" i="0">
                <a:solidFill>
                  <a:srgbClr val="7CA091"/>
                </a:solidFill>
                <a:latin typeface="Avenir Next"/>
              </a:rPr>
              <a:t>circuit.html  ·  actual project model  ·  demo telemetry shown</a:t>
            </a:r>
          </a:p>
        </p:txBody>
      </p:sp>
      <p:sp>
        <p:nvSpPr>
          <p:cNvPr id="13" name="Rounded Rectangle 12"/>
          <p:cNvSpPr/>
          <p:nvPr/>
        </p:nvSpPr>
        <p:spPr>
          <a:xfrm>
            <a:off x="12573000" y="2761488"/>
            <a:ext cx="4526280" cy="5303520"/>
          </a:xfrm>
          <a:prstGeom prst="roundRect">
            <a:avLst>
              <a:gd name="adj" fmla="val 8000"/>
            </a:avLst>
          </a:prstGeom>
          <a:solidFill>
            <a:srgbClr val="0A221B"/>
          </a:solidFill>
          <a:ln w="10160">
            <a:solidFill>
              <a:srgbClr val="2C5A4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12819888" y="2999232"/>
            <a:ext cx="4023360" cy="274320"/>
          </a:xfrm>
          <a:prstGeom prst="rect">
            <a:avLst/>
          </a:prstGeom>
          <a:noFill/>
        </p:spPr>
        <p:txBody>
          <a:bodyPr wrap="square" lIns="18288" tIns="18288" rIns="18288" bIns="18288" anchor="t">
            <a:noAutofit/>
          </a:bodyPr>
          <a:lstStyle/>
          <a:p>
            <a:pPr algn="l">
              <a:lnSpc>
                <a:spcPct val="105000"/>
              </a:lnSpc>
              <a:spcAft>
                <a:spcPts val="0"/>
              </a:spcAft>
            </a:pPr>
            <a:r>
              <a:rPr sz="950" b="1" i="0">
                <a:solidFill>
                  <a:srgbClr val="A6F26B"/>
                </a:solidFill>
                <a:latin typeface="Avenir Next"/>
              </a:rPr>
              <a:t>WHAT JUDGES CAN DO</a:t>
            </a:r>
          </a:p>
        </p:txBody>
      </p:sp>
      <p:sp>
        <p:nvSpPr>
          <p:cNvPr id="15" name="TextBox 14"/>
          <p:cNvSpPr txBox="1"/>
          <p:nvPr/>
        </p:nvSpPr>
        <p:spPr>
          <a:xfrm>
            <a:off x="12819888" y="3401568"/>
            <a:ext cx="3977639" cy="2880360"/>
          </a:xfrm>
          <a:prstGeom prst="rect">
            <a:avLst/>
          </a:prstGeom>
          <a:noFill/>
        </p:spPr>
        <p:txBody>
          <a:bodyPr wrap="square" lIns="0" tIns="0" rIns="0" bIns="0" anchor="t">
            <a:noAutofit/>
          </a:bodyPr>
          <a:lstStyle/>
          <a:p>
            <a:pPr algn="l">
              <a:lnSpc>
                <a:spcPct val="112000"/>
              </a:lnSpc>
              <a:spcAft>
                <a:spcPts val="800"/>
              </a:spcAft>
            </a:pPr>
            <a:r>
              <a:rPr sz="1019" b="1" i="0">
                <a:solidFill>
                  <a:srgbClr val="A6F26B"/>
                </a:solidFill>
                <a:latin typeface="Avenir Next"/>
              </a:rPr>
              <a:t>•  </a:t>
            </a:r>
            <a:r>
              <a:rPr sz="1019" b="1" i="0">
                <a:solidFill>
                  <a:srgbClr val="F4FFFA"/>
                </a:solidFill>
                <a:latin typeface="Avenir Next"/>
              </a:rPr>
              <a:t>Orbit and inspect</a:t>
            </a:r>
            <a:r>
              <a:rPr sz="1019" b="0" i="0">
                <a:solidFill>
                  <a:srgbClr val="F4FFFA"/>
                </a:solidFill>
                <a:latin typeface="Avenir Next"/>
              </a:rPr>
              <a:t> labelled ESP32, probes, INA219, relay, battery and generator.</a:t>
            </a:r>
          </a:p>
          <a:p>
            <a:pPr algn="l">
              <a:lnSpc>
                <a:spcPct val="112000"/>
              </a:lnSpc>
              <a:spcAft>
                <a:spcPts val="800"/>
              </a:spcAft>
            </a:pPr>
            <a:r>
              <a:rPr sz="1019" b="1" i="0">
                <a:solidFill>
                  <a:srgbClr val="A6F26B"/>
                </a:solidFill>
                <a:latin typeface="Avenir Next"/>
              </a:rPr>
              <a:t>•  </a:t>
            </a:r>
            <a:r>
              <a:rPr sz="1019" b="1" i="0">
                <a:solidFill>
                  <a:srgbClr val="F4FFFA"/>
                </a:solidFill>
                <a:latin typeface="Avenir Next"/>
              </a:rPr>
              <a:t>Inject a fault</a:t>
            </a:r>
            <a:r>
              <a:rPr sz="1019" b="0" i="0">
                <a:solidFill>
                  <a:srgbClr val="F4FFFA"/>
                </a:solidFill>
                <a:latin typeface="Avenir Next"/>
              </a:rPr>
              <a:t> and watch Trust turn Red; the buzzer and LED respond.</a:t>
            </a:r>
          </a:p>
          <a:p>
            <a:pPr algn="l">
              <a:lnSpc>
                <a:spcPct val="112000"/>
              </a:lnSpc>
              <a:spcAft>
                <a:spcPts val="800"/>
              </a:spcAft>
            </a:pPr>
            <a:r>
              <a:rPr sz="1019" b="1" i="0">
                <a:solidFill>
                  <a:srgbClr val="A6F26B"/>
                </a:solidFill>
                <a:latin typeface="Avenir Next"/>
              </a:rPr>
              <a:t>•  </a:t>
            </a:r>
            <a:r>
              <a:rPr sz="1019" b="1" i="0">
                <a:solidFill>
                  <a:srgbClr val="F4FFFA"/>
                </a:solidFill>
                <a:latin typeface="Avenir Next"/>
              </a:rPr>
              <a:t>Simulate rain or 15% battery</a:t>
            </a:r>
            <a:r>
              <a:rPr sz="1019" b="0" i="0">
                <a:solidFill>
                  <a:srgbClr val="F4FFFA"/>
                </a:solidFill>
                <a:latin typeface="Avenir Next"/>
              </a:rPr>
              <a:t> to show wet/dry logic and PROTECT mode.</a:t>
            </a:r>
          </a:p>
          <a:p>
            <a:pPr algn="l">
              <a:lnSpc>
                <a:spcPct val="112000"/>
              </a:lnSpc>
              <a:spcAft>
                <a:spcPts val="800"/>
              </a:spcAft>
            </a:pPr>
            <a:r>
              <a:rPr sz="1019" b="1" i="0">
                <a:solidFill>
                  <a:srgbClr val="A6F26B"/>
                </a:solidFill>
                <a:latin typeface="Avenir Next"/>
              </a:rPr>
              <a:t>•  </a:t>
            </a:r>
            <a:r>
              <a:rPr sz="1019" b="1" i="0">
                <a:solidFill>
                  <a:srgbClr val="F4FFFA"/>
                </a:solidFill>
                <a:latin typeface="Avenir Next"/>
              </a:rPr>
              <a:t>Follow the data</a:t>
            </a:r>
            <a:r>
              <a:rPr sz="1019" b="0" i="0">
                <a:solidFill>
                  <a:srgbClr val="F4FFFA"/>
                </a:solidFill>
                <a:latin typeface="Avenir Next"/>
              </a:rPr>
              <a:t> through animated flow particles and pin labels.</a:t>
            </a:r>
          </a:p>
        </p:txBody>
      </p:sp>
      <p:sp>
        <p:nvSpPr>
          <p:cNvPr id="16" name="Rounded Rectangle 15"/>
          <p:cNvSpPr/>
          <p:nvPr/>
        </p:nvSpPr>
        <p:spPr>
          <a:xfrm>
            <a:off x="12819888" y="6702552"/>
            <a:ext cx="1627632" cy="310896"/>
          </a:xfrm>
          <a:prstGeom prst="roundRect">
            <a:avLst>
              <a:gd name="adj" fmla="val 50000"/>
            </a:avLst>
          </a:prstGeom>
          <a:solidFill>
            <a:srgbClr val="0A221B"/>
          </a:solidFill>
          <a:ln w="8890">
            <a:solidFill>
              <a:srgbClr val="A6F26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12856463" y="6720840"/>
            <a:ext cx="1554480" cy="274320"/>
          </a:xfrm>
          <a:prstGeom prst="rect">
            <a:avLst/>
          </a:prstGeom>
          <a:noFill/>
        </p:spPr>
        <p:txBody>
          <a:bodyPr wrap="square" lIns="9144" tIns="0" rIns="9144" bIns="0" anchor="ctr">
            <a:noAutofit/>
          </a:bodyPr>
          <a:lstStyle/>
          <a:p>
            <a:pPr algn="ctr">
              <a:lnSpc>
                <a:spcPct val="105000"/>
              </a:lnSpc>
              <a:spcAft>
                <a:spcPts val="0"/>
              </a:spcAft>
            </a:pPr>
            <a:r>
              <a:rPr sz="740" b="1" i="0">
                <a:solidFill>
                  <a:srgbClr val="A6F26B"/>
                </a:solidFill>
                <a:latin typeface="Avenir Next"/>
              </a:rPr>
              <a:t>NORMAL · GREEN</a:t>
            </a:r>
          </a:p>
        </p:txBody>
      </p:sp>
      <p:sp>
        <p:nvSpPr>
          <p:cNvPr id="18" name="Rounded Rectangle 17"/>
          <p:cNvSpPr/>
          <p:nvPr/>
        </p:nvSpPr>
        <p:spPr>
          <a:xfrm>
            <a:off x="14584680" y="6702552"/>
            <a:ext cx="1481328" cy="310896"/>
          </a:xfrm>
          <a:prstGeom prst="roundRect">
            <a:avLst>
              <a:gd name="adj" fmla="val 50000"/>
            </a:avLst>
          </a:prstGeom>
          <a:solidFill>
            <a:srgbClr val="0A221B"/>
          </a:solidFill>
          <a:ln w="8890">
            <a:solidFill>
              <a:srgbClr val="F26B6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14621255" y="6720840"/>
            <a:ext cx="1408176" cy="274320"/>
          </a:xfrm>
          <a:prstGeom prst="rect">
            <a:avLst/>
          </a:prstGeom>
          <a:noFill/>
        </p:spPr>
        <p:txBody>
          <a:bodyPr wrap="square" lIns="9144" tIns="0" rIns="9144" bIns="0" anchor="ctr">
            <a:noAutofit/>
          </a:bodyPr>
          <a:lstStyle/>
          <a:p>
            <a:pPr algn="ctr">
              <a:lnSpc>
                <a:spcPct val="105000"/>
              </a:lnSpc>
              <a:spcAft>
                <a:spcPts val="0"/>
              </a:spcAft>
            </a:pPr>
            <a:r>
              <a:rPr sz="740" b="1" i="0">
                <a:solidFill>
                  <a:srgbClr val="F26B6B"/>
                </a:solidFill>
                <a:latin typeface="Avenir Next"/>
              </a:rPr>
              <a:t>FAULT · RED</a:t>
            </a:r>
          </a:p>
        </p:txBody>
      </p:sp>
      <p:sp>
        <p:nvSpPr>
          <p:cNvPr id="20" name="Rounded Rectangle 19"/>
          <p:cNvSpPr/>
          <p:nvPr/>
        </p:nvSpPr>
        <p:spPr>
          <a:xfrm>
            <a:off x="16203167" y="6702552"/>
            <a:ext cx="749808" cy="310896"/>
          </a:xfrm>
          <a:prstGeom prst="roundRect">
            <a:avLst>
              <a:gd name="adj" fmla="val 50000"/>
            </a:avLst>
          </a:prstGeom>
          <a:solidFill>
            <a:srgbClr val="0A221B"/>
          </a:solidFill>
          <a:ln w="8890">
            <a:solidFill>
              <a:srgbClr val="59D7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16239743" y="6720840"/>
            <a:ext cx="676656" cy="274320"/>
          </a:xfrm>
          <a:prstGeom prst="rect">
            <a:avLst/>
          </a:prstGeom>
          <a:noFill/>
        </p:spPr>
        <p:txBody>
          <a:bodyPr wrap="square" lIns="9144" tIns="0" rIns="9144" bIns="0" anchor="ctr">
            <a:noAutofit/>
          </a:bodyPr>
          <a:lstStyle/>
          <a:p>
            <a:pPr algn="ctr">
              <a:lnSpc>
                <a:spcPct val="105000"/>
              </a:lnSpc>
              <a:spcAft>
                <a:spcPts val="0"/>
              </a:spcAft>
            </a:pPr>
            <a:r>
              <a:rPr sz="700" b="1" i="0">
                <a:solidFill>
                  <a:srgbClr val="59D7F0"/>
                </a:solidFill>
                <a:latin typeface="Avenir Next"/>
              </a:rPr>
              <a:t>RAIN</a:t>
            </a:r>
          </a:p>
        </p:txBody>
      </p:sp>
      <p:sp>
        <p:nvSpPr>
          <p:cNvPr id="22" name="TextBox 21"/>
          <p:cNvSpPr txBox="1"/>
          <p:nvPr/>
        </p:nvSpPr>
        <p:spPr>
          <a:xfrm>
            <a:off x="12819888" y="7168896"/>
            <a:ext cx="3977639" cy="603504"/>
          </a:xfrm>
          <a:prstGeom prst="rect">
            <a:avLst/>
          </a:prstGeom>
          <a:noFill/>
        </p:spPr>
        <p:txBody>
          <a:bodyPr wrap="square" lIns="18288" tIns="18288" rIns="18288" bIns="18288" anchor="t">
            <a:noAutofit/>
          </a:bodyPr>
          <a:lstStyle/>
          <a:p>
            <a:pPr algn="l">
              <a:lnSpc>
                <a:spcPct val="110000"/>
              </a:lnSpc>
              <a:spcAft>
                <a:spcPts val="0"/>
              </a:spcAft>
            </a:pPr>
            <a:r>
              <a:rPr sz="980" b="0" i="0">
                <a:solidFill>
                  <a:srgbClr val="ADC9BE"/>
                </a:solidFill>
                <a:latin typeface="Avenir Next"/>
              </a:rPr>
              <a:t>The same model is the visual language for the mobile twin on the next slide.</a:t>
            </a:r>
          </a:p>
        </p:txBody>
      </p:sp>
      <p:sp>
        <p:nvSpPr>
          <p:cNvPr id="23" name="TextBox 22"/>
          <p:cNvSpPr txBox="1"/>
          <p:nvPr/>
        </p:nvSpPr>
        <p:spPr>
          <a:xfrm>
            <a:off x="4983480" y="9619488"/>
            <a:ext cx="5852160" cy="228600"/>
          </a:xfrm>
          <a:prstGeom prst="rect">
            <a:avLst/>
          </a:prstGeom>
          <a:noFill/>
        </p:spPr>
        <p:txBody>
          <a:bodyPr wrap="square" lIns="0" tIns="0" rIns="0" bIns="0" anchor="t">
            <a:noAutofit/>
          </a:bodyPr>
          <a:lstStyle/>
          <a:p>
            <a:pPr algn="l">
              <a:lnSpc>
                <a:spcPct val="105000"/>
              </a:lnSpc>
              <a:spcAft>
                <a:spcPts val="0"/>
              </a:spcAft>
            </a:pPr>
            <a:r>
              <a:rPr sz="819" b="0" i="0">
                <a:solidFill>
                  <a:srgbClr val="7CA091"/>
                </a:solidFill>
                <a:latin typeface="Avenir Next"/>
              </a:rPr>
              <a:t>TrustFarm  ·  INNOVA 2026  ·  ICBT</a:t>
            </a:r>
          </a:p>
        </p:txBody>
      </p:sp>
      <p:sp>
        <p:nvSpPr>
          <p:cNvPr id="24" name="TextBox 23"/>
          <p:cNvSpPr txBox="1"/>
          <p:nvPr/>
        </p:nvSpPr>
        <p:spPr>
          <a:xfrm>
            <a:off x="11018520" y="9619488"/>
            <a:ext cx="1234440" cy="228600"/>
          </a:xfrm>
          <a:prstGeom prst="rect">
            <a:avLst/>
          </a:prstGeom>
          <a:noFill/>
        </p:spPr>
        <p:txBody>
          <a:bodyPr wrap="square" lIns="0" tIns="0" rIns="0" bIns="0" anchor="t">
            <a:noAutofit/>
          </a:bodyPr>
          <a:lstStyle/>
          <a:p>
            <a:pPr algn="r">
              <a:lnSpc>
                <a:spcPct val="105000"/>
              </a:lnSpc>
              <a:spcAft>
                <a:spcPts val="0"/>
              </a:spcAft>
            </a:pPr>
            <a:r>
              <a:rPr sz="819" b="0" i="0">
                <a:solidFill>
                  <a:srgbClr val="7CA091"/>
                </a:solidFill>
                <a:latin typeface="Avenir Next"/>
              </a:rPr>
              <a:t>06 / 25</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1A1D1C"/>
        </a:solidFill>
        <a:effectLst/>
      </p:bgPr>
    </p:bg>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25192566" h="16800292">
                <a:moveTo>
                  <a:pt x="0" y="0"/>
                </a:moveTo>
                <a:lnTo>
                  <a:pt x="25192566" y="0"/>
                </a:lnTo>
                <a:lnTo>
                  <a:pt x="25192566" y="16800292"/>
                </a:lnTo>
                <a:lnTo>
                  <a:pt x="0" y="16800292"/>
                </a:lnTo>
                <a:lnTo>
                  <a:pt x="0" y="0"/>
                </a:lnTo>
                <a:close/>
              </a:path>
            </a:pathLst>
          </a:custGeom>
          <a:blipFill>
            <a:blip r:embed="rId3"/>
            <a:stretch>
              <a:fillRect/>
            </a:stretch>
          </a:blipFill>
        </p:spPr>
        <p:txBody>
          <a:bodyPr/>
          <a:lstStyle/>
          <a:p>
            <a:endParaRPr/>
          </a:p>
        </p:txBody>
      </p:sp>
      <p:sp>
        <p:nvSpPr>
          <p:cNvPr id="3" name="Freeform 3"/>
          <p:cNvSpPr/>
          <p:nvPr/>
        </p:nvSpPr>
        <p:spPr>
          <a:xfrm>
            <a:off x="12596283" y="8658721"/>
            <a:ext cx="6457129" cy="1628279"/>
          </a:xfrm>
          <a:custGeom>
            <a:avLst/>
            <a:gdLst/>
            <a:ahLst/>
            <a:cxnLst/>
            <a:rect l="l" t="t" r="r" b="b"/>
            <a:pathLst>
              <a:path w="6457129" h="1628279">
                <a:moveTo>
                  <a:pt x="0" y="0"/>
                </a:moveTo>
                <a:lnTo>
                  <a:pt x="6457129" y="0"/>
                </a:lnTo>
                <a:lnTo>
                  <a:pt x="6457129" y="1628279"/>
                </a:lnTo>
                <a:lnTo>
                  <a:pt x="0" y="1628279"/>
                </a:lnTo>
                <a:lnTo>
                  <a:pt x="0" y="0"/>
                </a:lnTo>
                <a:close/>
              </a:path>
            </a:pathLst>
          </a:custGeom>
          <a:blipFill>
            <a:blip r:embed="rId4"/>
            <a:stretch>
              <a:fillRect t="-85078" b="-85078"/>
            </a:stretch>
          </a:blipFill>
        </p:spPr>
        <p:txBody>
          <a:bodyPr/>
          <a:lstStyle/>
          <a:p>
            <a:endParaRPr/>
          </a:p>
        </p:txBody>
      </p:sp>
      <p:sp>
        <p:nvSpPr>
          <p:cNvPr id="4" name="Freeform 4"/>
          <p:cNvSpPr/>
          <p:nvPr/>
        </p:nvSpPr>
        <p:spPr>
          <a:xfrm>
            <a:off x="0" y="8072991"/>
            <a:ext cx="2839033" cy="2839033"/>
          </a:xfrm>
          <a:custGeom>
            <a:avLst/>
            <a:gdLst/>
            <a:ahLst/>
            <a:cxnLst/>
            <a:rect l="l" t="t" r="r" b="b"/>
            <a:pathLst>
              <a:path w="2839033" h="2839033">
                <a:moveTo>
                  <a:pt x="0" y="0"/>
                </a:moveTo>
                <a:lnTo>
                  <a:pt x="2839033" y="0"/>
                </a:lnTo>
                <a:lnTo>
                  <a:pt x="2839033" y="2839033"/>
                </a:lnTo>
                <a:lnTo>
                  <a:pt x="0" y="2839033"/>
                </a:lnTo>
                <a:lnTo>
                  <a:pt x="0" y="0"/>
                </a:lnTo>
                <a:close/>
              </a:path>
            </a:pathLst>
          </a:custGeom>
          <a:blipFill>
            <a:blip r:embed="rId5"/>
            <a:stretch>
              <a:fillRect/>
            </a:stretch>
          </a:blipFill>
        </p:spPr>
        <p:txBody>
          <a:bodyPr/>
          <a:lstStyle/>
          <a:p>
            <a:endParaRPr/>
          </a:p>
        </p:txBody>
      </p:sp>
      <p:sp>
        <p:nvSpPr>
          <p:cNvPr id="5" name="TextBox 4"/>
          <p:cNvSpPr txBox="1"/>
          <p:nvPr/>
        </p:nvSpPr>
        <p:spPr>
          <a:xfrm>
            <a:off x="1143000" y="841248"/>
            <a:ext cx="10972800" cy="292608"/>
          </a:xfrm>
          <a:prstGeom prst="rect">
            <a:avLst/>
          </a:prstGeom>
          <a:noFill/>
        </p:spPr>
        <p:txBody>
          <a:bodyPr wrap="square" lIns="0" tIns="0" rIns="0" bIns="0" anchor="t">
            <a:noAutofit/>
          </a:bodyPr>
          <a:lstStyle/>
          <a:p>
            <a:pPr algn="l">
              <a:lnSpc>
                <a:spcPct val="105000"/>
              </a:lnSpc>
              <a:spcAft>
                <a:spcPts val="0"/>
              </a:spcAft>
            </a:pPr>
            <a:r>
              <a:rPr sz="1000" b="1" i="0">
                <a:solidFill>
                  <a:srgbClr val="A6F26B"/>
                </a:solidFill>
                <a:latin typeface="Avenir Next"/>
              </a:rPr>
              <a:t>DIGITAL TWIN · MOBILE</a:t>
            </a:r>
          </a:p>
        </p:txBody>
      </p:sp>
      <p:sp>
        <p:nvSpPr>
          <p:cNvPr id="6" name="TextBox 5"/>
          <p:cNvSpPr txBox="1"/>
          <p:nvPr/>
        </p:nvSpPr>
        <p:spPr>
          <a:xfrm>
            <a:off x="1097280" y="1124712"/>
            <a:ext cx="13075920" cy="676656"/>
          </a:xfrm>
          <a:prstGeom prst="rect">
            <a:avLst/>
          </a:prstGeom>
          <a:noFill/>
        </p:spPr>
        <p:txBody>
          <a:bodyPr wrap="square" lIns="0" tIns="0" rIns="0" bIns="0" anchor="t">
            <a:noAutofit/>
          </a:bodyPr>
          <a:lstStyle/>
          <a:p>
            <a:pPr algn="l">
              <a:lnSpc>
                <a:spcPct val="98000"/>
              </a:lnSpc>
              <a:spcAft>
                <a:spcPts val="0"/>
              </a:spcAft>
            </a:pPr>
            <a:r>
              <a:rPr sz="3300" b="1" i="0">
                <a:solidFill>
                  <a:srgbClr val="F4FFFA"/>
                </a:solidFill>
                <a:latin typeface="Avenir Next"/>
              </a:rPr>
              <a:t>The twin in your hand.</a:t>
            </a:r>
          </a:p>
        </p:txBody>
      </p:sp>
      <p:sp>
        <p:nvSpPr>
          <p:cNvPr id="7" name="TextBox 6"/>
          <p:cNvSpPr txBox="1"/>
          <p:nvPr/>
        </p:nvSpPr>
        <p:spPr>
          <a:xfrm>
            <a:off x="1143000" y="1865376"/>
            <a:ext cx="13258800" cy="502920"/>
          </a:xfrm>
          <a:prstGeom prst="rect">
            <a:avLst/>
          </a:prstGeom>
          <a:noFill/>
        </p:spPr>
        <p:txBody>
          <a:bodyPr wrap="square" lIns="0" tIns="0" rIns="0" bIns="0" anchor="t">
            <a:noAutofit/>
          </a:bodyPr>
          <a:lstStyle/>
          <a:p>
            <a:pPr algn="l">
              <a:lnSpc>
                <a:spcPct val="110000"/>
              </a:lnSpc>
              <a:spcAft>
                <a:spcPts val="0"/>
              </a:spcAft>
            </a:pPr>
            <a:r>
              <a:rPr sz="1400" b="0" i="0">
                <a:solidFill>
                  <a:srgbClr val="ADC9BE"/>
                </a:solidFill>
                <a:latin typeface="Avenir Next"/>
              </a:rPr>
              <a:t>The Flutter app uses the same telemetry, trust state and 3D language.</a:t>
            </a:r>
          </a:p>
        </p:txBody>
      </p:sp>
      <p:sp>
        <p:nvSpPr>
          <p:cNvPr id="8" name="Rectangle 7"/>
          <p:cNvSpPr/>
          <p:nvPr/>
        </p:nvSpPr>
        <p:spPr>
          <a:xfrm>
            <a:off x="1143000" y="2542032"/>
            <a:ext cx="1143000" cy="41148"/>
          </a:xfrm>
          <a:prstGeom prst="rect">
            <a:avLst/>
          </a:prstGeom>
          <a:solidFill>
            <a:srgbClr val="A6F2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ounded Rectangle 8"/>
          <p:cNvSpPr/>
          <p:nvPr/>
        </p:nvSpPr>
        <p:spPr>
          <a:xfrm>
            <a:off x="14127480" y="1143000"/>
            <a:ext cx="3017520" cy="347472"/>
          </a:xfrm>
          <a:prstGeom prst="roundRect">
            <a:avLst>
              <a:gd name="adj" fmla="val 50000"/>
            </a:avLst>
          </a:prstGeom>
          <a:solidFill>
            <a:srgbClr val="0A221B"/>
          </a:solidFill>
          <a:ln w="8890">
            <a:solidFill>
              <a:srgbClr val="A6F26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14164055" y="1161288"/>
            <a:ext cx="2944368" cy="310896"/>
          </a:xfrm>
          <a:prstGeom prst="rect">
            <a:avLst/>
          </a:prstGeom>
          <a:noFill/>
        </p:spPr>
        <p:txBody>
          <a:bodyPr wrap="square" lIns="9144" tIns="0" rIns="9144" bIns="0" anchor="ctr">
            <a:noAutofit/>
          </a:bodyPr>
          <a:lstStyle/>
          <a:p>
            <a:pPr algn="ctr">
              <a:lnSpc>
                <a:spcPct val="105000"/>
              </a:lnSpc>
              <a:spcAft>
                <a:spcPts val="0"/>
              </a:spcAft>
            </a:pPr>
            <a:r>
              <a:rPr sz="819" b="1" i="0">
                <a:solidFill>
                  <a:srgbClr val="A6F26B"/>
                </a:solidFill>
                <a:latin typeface="Avenir Next"/>
              </a:rPr>
              <a:t>IMPLEMENTED · FLUTTER</a:t>
            </a:r>
          </a:p>
        </p:txBody>
      </p:sp>
      <p:pic>
        <p:nvPicPr>
          <p:cNvPr id="11" name="Picture 10" descr="Flutter mobile digital twin on a phone"/>
          <p:cNvPicPr>
            <a:picLocks noChangeAspect="1"/>
          </p:cNvPicPr>
          <p:nvPr/>
        </p:nvPicPr>
        <p:blipFill>
          <a:blip r:embed="rId6"/>
          <a:stretch>
            <a:fillRect/>
          </a:stretch>
        </p:blipFill>
        <p:spPr>
          <a:xfrm>
            <a:off x="1234440" y="2743200"/>
            <a:ext cx="2615184" cy="5449824"/>
          </a:xfrm>
          <a:prstGeom prst="rect">
            <a:avLst/>
          </a:prstGeom>
        </p:spPr>
      </p:pic>
      <p:pic>
        <p:nvPicPr>
          <p:cNvPr id="12" name="Picture 11" descr="Flutter digital twin at desktop width"/>
          <p:cNvPicPr>
            <a:picLocks noChangeAspect="1"/>
          </p:cNvPicPr>
          <p:nvPr/>
        </p:nvPicPr>
        <p:blipFill>
          <a:blip r:embed="rId7"/>
          <a:stretch>
            <a:fillRect/>
          </a:stretch>
        </p:blipFill>
        <p:spPr>
          <a:xfrm>
            <a:off x="4160520" y="2743200"/>
            <a:ext cx="8961120" cy="5724144"/>
          </a:xfrm>
          <a:prstGeom prst="rect">
            <a:avLst/>
          </a:prstGeom>
        </p:spPr>
      </p:pic>
      <p:sp>
        <p:nvSpPr>
          <p:cNvPr id="13" name="Rounded Rectangle 12"/>
          <p:cNvSpPr/>
          <p:nvPr/>
        </p:nvSpPr>
        <p:spPr>
          <a:xfrm>
            <a:off x="13533120" y="2743200"/>
            <a:ext cx="3611880" cy="5394960"/>
          </a:xfrm>
          <a:prstGeom prst="roundRect">
            <a:avLst>
              <a:gd name="adj" fmla="val 8000"/>
            </a:avLst>
          </a:prstGeom>
          <a:solidFill>
            <a:srgbClr val="0A221B"/>
          </a:solidFill>
          <a:ln w="10160">
            <a:solidFill>
              <a:srgbClr val="2C5A4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13761720" y="2980944"/>
            <a:ext cx="3154680" cy="274320"/>
          </a:xfrm>
          <a:prstGeom prst="rect">
            <a:avLst/>
          </a:prstGeom>
          <a:noFill/>
        </p:spPr>
        <p:txBody>
          <a:bodyPr wrap="square" lIns="18288" tIns="18288" rIns="18288" bIns="18288" anchor="t">
            <a:noAutofit/>
          </a:bodyPr>
          <a:lstStyle/>
          <a:p>
            <a:pPr algn="l">
              <a:lnSpc>
                <a:spcPct val="105000"/>
              </a:lnSpc>
              <a:spcAft>
                <a:spcPts val="0"/>
              </a:spcAft>
            </a:pPr>
            <a:r>
              <a:rPr sz="950" b="1" i="0">
                <a:solidFill>
                  <a:srgbClr val="A6F26B"/>
                </a:solidFill>
                <a:latin typeface="Avenir Next"/>
              </a:rPr>
              <a:t>TAP A HOTSPOT</a:t>
            </a:r>
          </a:p>
        </p:txBody>
      </p:sp>
      <p:sp>
        <p:nvSpPr>
          <p:cNvPr id="15" name="TextBox 14"/>
          <p:cNvSpPr txBox="1"/>
          <p:nvPr/>
        </p:nvSpPr>
        <p:spPr>
          <a:xfrm>
            <a:off x="13761720" y="3364992"/>
            <a:ext cx="3108960" cy="2880360"/>
          </a:xfrm>
          <a:prstGeom prst="rect">
            <a:avLst/>
          </a:prstGeom>
          <a:noFill/>
        </p:spPr>
        <p:txBody>
          <a:bodyPr wrap="square" lIns="0" tIns="0" rIns="0" bIns="0" anchor="t">
            <a:noAutofit/>
          </a:bodyPr>
          <a:lstStyle/>
          <a:p>
            <a:pPr algn="l">
              <a:lnSpc>
                <a:spcPct val="112000"/>
              </a:lnSpc>
              <a:spcAft>
                <a:spcPts val="700"/>
              </a:spcAft>
            </a:pPr>
            <a:r>
              <a:rPr sz="990" b="1" i="0">
                <a:solidFill>
                  <a:srgbClr val="A6F26B"/>
                </a:solidFill>
                <a:latin typeface="Avenir Next"/>
              </a:rPr>
              <a:t>•  </a:t>
            </a:r>
            <a:r>
              <a:rPr sz="990" b="0" i="0">
                <a:solidFill>
                  <a:srgbClr val="F4FFFA"/>
                </a:solidFill>
                <a:latin typeface="Avenir Next"/>
              </a:rPr>
              <a:t>ESP32 node · Green 100/100</a:t>
            </a:r>
          </a:p>
          <a:p>
            <a:pPr algn="l">
              <a:lnSpc>
                <a:spcPct val="112000"/>
              </a:lnSpc>
              <a:spcAft>
                <a:spcPts val="700"/>
              </a:spcAft>
            </a:pPr>
            <a:r>
              <a:rPr sz="990" b="1" i="0">
                <a:solidFill>
                  <a:srgbClr val="A6F26B"/>
                </a:solidFill>
                <a:latin typeface="Avenir Next"/>
              </a:rPr>
              <a:t>•  </a:t>
            </a:r>
            <a:r>
              <a:rPr sz="990" b="0" i="0">
                <a:solidFill>
                  <a:srgbClr val="F4FFFA"/>
                </a:solidFill>
                <a:latin typeface="Avenir Next"/>
              </a:rPr>
              <a:t>Soil probes · 28.4% and 29.1%</a:t>
            </a:r>
          </a:p>
          <a:p>
            <a:pPr algn="l">
              <a:lnSpc>
                <a:spcPct val="112000"/>
              </a:lnSpc>
              <a:spcAft>
                <a:spcPts val="700"/>
              </a:spcAft>
            </a:pPr>
            <a:r>
              <a:rPr sz="990" b="1" i="0">
                <a:solidFill>
                  <a:srgbClr val="A6F26B"/>
                </a:solidFill>
                <a:latin typeface="Avenir Next"/>
              </a:rPr>
              <a:t>•  </a:t>
            </a:r>
            <a:r>
              <a:rPr sz="990" b="0" i="0">
                <a:solidFill>
                  <a:srgbClr val="F4FFFA"/>
                </a:solidFill>
                <a:latin typeface="Avenir Next"/>
              </a:rPr>
              <a:t>Waste-to-energy · 78 W charging</a:t>
            </a:r>
          </a:p>
          <a:p>
            <a:pPr algn="l">
              <a:lnSpc>
                <a:spcPct val="112000"/>
              </a:lnSpc>
              <a:spcAft>
                <a:spcPts val="700"/>
              </a:spcAft>
            </a:pPr>
            <a:r>
              <a:rPr sz="990" b="1" i="0">
                <a:solidFill>
                  <a:srgbClr val="A6F26B"/>
                </a:solidFill>
                <a:latin typeface="Avenir Next"/>
              </a:rPr>
              <a:t>•  </a:t>
            </a:r>
            <a:r>
              <a:rPr sz="990" b="0" i="0">
                <a:solidFill>
                  <a:srgbClr val="F4FFFA"/>
                </a:solidFill>
                <a:latin typeface="Avenir Next"/>
              </a:rPr>
              <a:t>Battery · 74% with 14 W load</a:t>
            </a:r>
          </a:p>
          <a:p>
            <a:pPr algn="l">
              <a:lnSpc>
                <a:spcPct val="112000"/>
              </a:lnSpc>
              <a:spcAft>
                <a:spcPts val="700"/>
              </a:spcAft>
            </a:pPr>
            <a:r>
              <a:rPr sz="990" b="1" i="0">
                <a:solidFill>
                  <a:srgbClr val="A6F26B"/>
                </a:solidFill>
                <a:latin typeface="Avenir Next"/>
              </a:rPr>
              <a:t>•  </a:t>
            </a:r>
            <a:r>
              <a:rPr sz="990" b="0" i="0">
                <a:solidFill>
                  <a:srgbClr val="F4FFFA"/>
                </a:solidFill>
                <a:latin typeface="Avenir Next"/>
              </a:rPr>
              <a:t>Irrigation line · no action</a:t>
            </a:r>
          </a:p>
        </p:txBody>
      </p:sp>
      <p:sp>
        <p:nvSpPr>
          <p:cNvPr id="16" name="Rectangle 15"/>
          <p:cNvSpPr/>
          <p:nvPr/>
        </p:nvSpPr>
        <p:spPr>
          <a:xfrm>
            <a:off x="13761720" y="5806440"/>
            <a:ext cx="2880360" cy="36576"/>
          </a:xfrm>
          <a:prstGeom prst="rect">
            <a:avLst/>
          </a:prstGeom>
          <a:solidFill>
            <a:srgbClr val="2C5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13761720" y="5971032"/>
            <a:ext cx="3063240" cy="274320"/>
          </a:xfrm>
          <a:prstGeom prst="rect">
            <a:avLst/>
          </a:prstGeom>
          <a:noFill/>
        </p:spPr>
        <p:txBody>
          <a:bodyPr wrap="square" lIns="18288" tIns="18288" rIns="18288" bIns="18288" anchor="t">
            <a:noAutofit/>
          </a:bodyPr>
          <a:lstStyle/>
          <a:p>
            <a:pPr algn="l">
              <a:lnSpc>
                <a:spcPct val="105000"/>
              </a:lnSpc>
              <a:spcAft>
                <a:spcPts val="0"/>
              </a:spcAft>
            </a:pPr>
            <a:r>
              <a:rPr sz="950" b="1" i="0">
                <a:solidFill>
                  <a:srgbClr val="59D7F0"/>
                </a:solidFill>
                <a:latin typeface="Avenir Next"/>
              </a:rPr>
              <a:t>OFFLINE BEHAVIOUR</a:t>
            </a:r>
          </a:p>
        </p:txBody>
      </p:sp>
      <p:sp>
        <p:nvSpPr>
          <p:cNvPr id="18" name="TextBox 17"/>
          <p:cNvSpPr txBox="1"/>
          <p:nvPr/>
        </p:nvSpPr>
        <p:spPr>
          <a:xfrm>
            <a:off x="13761720" y="6291072"/>
            <a:ext cx="3063240" cy="1188720"/>
          </a:xfrm>
          <a:prstGeom prst="rect">
            <a:avLst/>
          </a:prstGeom>
          <a:noFill/>
        </p:spPr>
        <p:txBody>
          <a:bodyPr wrap="square" lIns="18288" tIns="18288" rIns="18288" bIns="18288" anchor="t">
            <a:noAutofit/>
          </a:bodyPr>
          <a:lstStyle/>
          <a:p>
            <a:pPr algn="l">
              <a:lnSpc>
                <a:spcPct val="112000"/>
              </a:lnSpc>
              <a:spcAft>
                <a:spcPts val="0"/>
              </a:spcAft>
            </a:pPr>
            <a:r>
              <a:rPr sz="980" b="0" i="0">
                <a:solidFill>
                  <a:srgbClr val="ADC9BE"/>
                </a:solidFill>
                <a:latin typeface="Avenir Next"/>
              </a:rPr>
              <a:t>The app keeps the last verified state and shows it as cached when the server is unreachable.</a:t>
            </a:r>
          </a:p>
        </p:txBody>
      </p:sp>
      <p:sp>
        <p:nvSpPr>
          <p:cNvPr id="19" name="TextBox 18"/>
          <p:cNvSpPr txBox="1"/>
          <p:nvPr/>
        </p:nvSpPr>
        <p:spPr>
          <a:xfrm>
            <a:off x="4206240" y="8577072"/>
            <a:ext cx="8869680" cy="274320"/>
          </a:xfrm>
          <a:prstGeom prst="rect">
            <a:avLst/>
          </a:prstGeom>
          <a:noFill/>
        </p:spPr>
        <p:txBody>
          <a:bodyPr wrap="square" lIns="18288" tIns="18288" rIns="18288" bIns="18288" anchor="t">
            <a:noAutofit/>
          </a:bodyPr>
          <a:lstStyle/>
          <a:p>
            <a:pPr algn="l">
              <a:lnSpc>
                <a:spcPct val="105000"/>
              </a:lnSpc>
              <a:spcAft>
                <a:spcPts val="0"/>
              </a:spcAft>
            </a:pPr>
            <a:r>
              <a:rPr sz="880" b="0" i="0">
                <a:solidFill>
                  <a:srgbClr val="7CA091"/>
                </a:solidFill>
                <a:latin typeface="Avenir Next"/>
              </a:rPr>
              <a:t>Preview rendered from the actual Flutter build with seeded demo data.</a:t>
            </a:r>
          </a:p>
        </p:txBody>
      </p:sp>
      <p:sp>
        <p:nvSpPr>
          <p:cNvPr id="20" name="TextBox 19"/>
          <p:cNvSpPr txBox="1"/>
          <p:nvPr/>
        </p:nvSpPr>
        <p:spPr>
          <a:xfrm>
            <a:off x="4983480" y="9619488"/>
            <a:ext cx="5852160" cy="228600"/>
          </a:xfrm>
          <a:prstGeom prst="rect">
            <a:avLst/>
          </a:prstGeom>
          <a:noFill/>
        </p:spPr>
        <p:txBody>
          <a:bodyPr wrap="square" lIns="0" tIns="0" rIns="0" bIns="0" anchor="t">
            <a:noAutofit/>
          </a:bodyPr>
          <a:lstStyle/>
          <a:p>
            <a:pPr algn="l">
              <a:lnSpc>
                <a:spcPct val="105000"/>
              </a:lnSpc>
              <a:spcAft>
                <a:spcPts val="0"/>
              </a:spcAft>
            </a:pPr>
            <a:r>
              <a:rPr sz="819" b="0" i="0">
                <a:solidFill>
                  <a:srgbClr val="7CA091"/>
                </a:solidFill>
                <a:latin typeface="Avenir Next"/>
              </a:rPr>
              <a:t>TrustFarm  ·  INNOVA 2026  ·  ICBT</a:t>
            </a:r>
          </a:p>
        </p:txBody>
      </p:sp>
      <p:sp>
        <p:nvSpPr>
          <p:cNvPr id="21" name="TextBox 20"/>
          <p:cNvSpPr txBox="1"/>
          <p:nvPr/>
        </p:nvSpPr>
        <p:spPr>
          <a:xfrm>
            <a:off x="11018520" y="9619488"/>
            <a:ext cx="1234440" cy="228600"/>
          </a:xfrm>
          <a:prstGeom prst="rect">
            <a:avLst/>
          </a:prstGeom>
          <a:noFill/>
        </p:spPr>
        <p:txBody>
          <a:bodyPr wrap="square" lIns="0" tIns="0" rIns="0" bIns="0" anchor="t">
            <a:noAutofit/>
          </a:bodyPr>
          <a:lstStyle/>
          <a:p>
            <a:pPr algn="r">
              <a:lnSpc>
                <a:spcPct val="105000"/>
              </a:lnSpc>
              <a:spcAft>
                <a:spcPts val="0"/>
              </a:spcAft>
            </a:pPr>
            <a:r>
              <a:rPr sz="819" b="0" i="0">
                <a:solidFill>
                  <a:srgbClr val="7CA091"/>
                </a:solidFill>
                <a:latin typeface="Avenir Next"/>
              </a:rPr>
              <a:t>07 / 25</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1A1D1C"/>
        </a:solidFill>
        <a:effectLst/>
      </p:bgPr>
    </p:bg>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25192566" h="16800292">
                <a:moveTo>
                  <a:pt x="0" y="0"/>
                </a:moveTo>
                <a:lnTo>
                  <a:pt x="25192566" y="0"/>
                </a:lnTo>
                <a:lnTo>
                  <a:pt x="25192566" y="16800292"/>
                </a:lnTo>
                <a:lnTo>
                  <a:pt x="0" y="16800292"/>
                </a:lnTo>
                <a:lnTo>
                  <a:pt x="0" y="0"/>
                </a:lnTo>
                <a:close/>
              </a:path>
            </a:pathLst>
          </a:custGeom>
          <a:blipFill>
            <a:blip r:embed="rId3"/>
            <a:stretch>
              <a:fillRect/>
            </a:stretch>
          </a:blipFill>
        </p:spPr>
        <p:txBody>
          <a:bodyPr/>
          <a:lstStyle/>
          <a:p>
            <a:endParaRPr/>
          </a:p>
        </p:txBody>
      </p:sp>
      <p:sp>
        <p:nvSpPr>
          <p:cNvPr id="3" name="Freeform 3"/>
          <p:cNvSpPr/>
          <p:nvPr/>
        </p:nvSpPr>
        <p:spPr>
          <a:xfrm>
            <a:off x="12596283" y="8658721"/>
            <a:ext cx="6457129" cy="1628279"/>
          </a:xfrm>
          <a:custGeom>
            <a:avLst/>
            <a:gdLst/>
            <a:ahLst/>
            <a:cxnLst/>
            <a:rect l="l" t="t" r="r" b="b"/>
            <a:pathLst>
              <a:path w="6457129" h="1628279">
                <a:moveTo>
                  <a:pt x="0" y="0"/>
                </a:moveTo>
                <a:lnTo>
                  <a:pt x="6457129" y="0"/>
                </a:lnTo>
                <a:lnTo>
                  <a:pt x="6457129" y="1628279"/>
                </a:lnTo>
                <a:lnTo>
                  <a:pt x="0" y="1628279"/>
                </a:lnTo>
                <a:lnTo>
                  <a:pt x="0" y="0"/>
                </a:lnTo>
                <a:close/>
              </a:path>
            </a:pathLst>
          </a:custGeom>
          <a:blipFill>
            <a:blip r:embed="rId4"/>
            <a:stretch>
              <a:fillRect t="-85078" b="-85078"/>
            </a:stretch>
          </a:blipFill>
        </p:spPr>
        <p:txBody>
          <a:bodyPr/>
          <a:lstStyle/>
          <a:p>
            <a:endParaRPr/>
          </a:p>
        </p:txBody>
      </p:sp>
      <p:sp>
        <p:nvSpPr>
          <p:cNvPr id="4" name="Freeform 4"/>
          <p:cNvSpPr/>
          <p:nvPr/>
        </p:nvSpPr>
        <p:spPr>
          <a:xfrm>
            <a:off x="0" y="8072991"/>
            <a:ext cx="2839033" cy="2839033"/>
          </a:xfrm>
          <a:custGeom>
            <a:avLst/>
            <a:gdLst/>
            <a:ahLst/>
            <a:cxnLst/>
            <a:rect l="l" t="t" r="r" b="b"/>
            <a:pathLst>
              <a:path w="2839033" h="2839033">
                <a:moveTo>
                  <a:pt x="0" y="0"/>
                </a:moveTo>
                <a:lnTo>
                  <a:pt x="2839033" y="0"/>
                </a:lnTo>
                <a:lnTo>
                  <a:pt x="2839033" y="2839033"/>
                </a:lnTo>
                <a:lnTo>
                  <a:pt x="0" y="2839033"/>
                </a:lnTo>
                <a:lnTo>
                  <a:pt x="0" y="0"/>
                </a:lnTo>
                <a:close/>
              </a:path>
            </a:pathLst>
          </a:custGeom>
          <a:blipFill>
            <a:blip r:embed="rId5"/>
            <a:stretch>
              <a:fillRect/>
            </a:stretch>
          </a:blipFill>
        </p:spPr>
        <p:txBody>
          <a:bodyPr/>
          <a:lstStyle/>
          <a:p>
            <a:endParaRPr/>
          </a:p>
        </p:txBody>
      </p:sp>
      <mc:AlternateContent xmlns:mc="http://schemas.openxmlformats.org/markup-compatibility/2006" xmlns:p14="http://schemas.microsoft.com/office/powerpoint/2010/main">
        <mc:Choice Requires="p14">
          <p:contentPart p14:bwMode="auto" r:id="rId6">
            <p14:nvContentPartPr>
              <p14:cNvPr id="8" name="Ink 7">
                <a:extLst>
                  <a:ext uri="{FF2B5EF4-FFF2-40B4-BE49-F238E27FC236}">
                    <a16:creationId xmlns:a16="http://schemas.microsoft.com/office/drawing/2014/main" id="{711A465F-D963-503D-129C-23EF5F6B2CB4}"/>
                  </a:ext>
                </a:extLst>
              </p14:cNvPr>
              <p14:cNvContentPartPr/>
              <p14:nvPr/>
            </p14:nvContentPartPr>
            <p14:xfrm>
              <a:off x="4940535" y="5132230"/>
              <a:ext cx="360" cy="360"/>
            </p14:xfrm>
          </p:contentPart>
        </mc:Choice>
        <mc:Fallback xmlns="">
          <p:pic>
            <p:nvPicPr>
              <p:cNvPr id="8" name="Ink 7">
                <a:extLst>
                  <a:ext uri="{FF2B5EF4-FFF2-40B4-BE49-F238E27FC236}">
                    <a16:creationId xmlns:a16="http://schemas.microsoft.com/office/drawing/2014/main" id="{711A465F-D963-503D-129C-23EF5F6B2CB4}"/>
                  </a:ext>
                </a:extLst>
              </p:cNvPr>
              <p:cNvPicPr/>
              <p:nvPr/>
            </p:nvPicPr>
            <p:blipFill>
              <a:blip r:embed="rId8"/>
              <a:stretch>
                <a:fillRect/>
              </a:stretch>
            </p:blipFill>
            <p:spPr>
              <a:xfrm>
                <a:off x="4934415" y="5126110"/>
                <a:ext cx="12600" cy="12600"/>
              </a:xfrm>
              <a:prstGeom prst="rect">
                <a:avLst/>
              </a:prstGeom>
            </p:spPr>
          </p:pic>
        </mc:Fallback>
      </mc:AlternateContent>
      <mc:AlternateContent xmlns:mc="http://schemas.openxmlformats.org/markup-compatibility/2006" xmlns:p14="http://schemas.microsoft.com/office/powerpoint/2010/main">
        <mc:Choice Requires="p14">
          <p:contentPart p14:bwMode="auto" r:id="rId9">
            <p14:nvContentPartPr>
              <p14:cNvPr id="9" name="Ink 8">
                <a:extLst>
                  <a:ext uri="{FF2B5EF4-FFF2-40B4-BE49-F238E27FC236}">
                    <a16:creationId xmlns:a16="http://schemas.microsoft.com/office/drawing/2014/main" id="{8F6BB8E0-B936-834D-5F42-5A5AAA99779C}"/>
                  </a:ext>
                </a:extLst>
              </p14:cNvPr>
              <p14:cNvContentPartPr/>
              <p14:nvPr/>
            </p14:nvContentPartPr>
            <p14:xfrm>
              <a:off x="7270815" y="3185350"/>
              <a:ext cx="360" cy="360"/>
            </p14:xfrm>
          </p:contentPart>
        </mc:Choice>
        <mc:Fallback xmlns="">
          <p:pic>
            <p:nvPicPr>
              <p:cNvPr id="9" name="Ink 8">
                <a:extLst>
                  <a:ext uri="{FF2B5EF4-FFF2-40B4-BE49-F238E27FC236}">
                    <a16:creationId xmlns:a16="http://schemas.microsoft.com/office/drawing/2014/main" id="{8F6BB8E0-B936-834D-5F42-5A5AAA99779C}"/>
                  </a:ext>
                </a:extLst>
              </p:cNvPr>
              <p:cNvPicPr/>
              <p:nvPr/>
            </p:nvPicPr>
            <p:blipFill>
              <a:blip r:embed="rId8"/>
              <a:stretch>
                <a:fillRect/>
              </a:stretch>
            </p:blipFill>
            <p:spPr>
              <a:xfrm>
                <a:off x="7264695" y="3179230"/>
                <a:ext cx="12600" cy="12600"/>
              </a:xfrm>
              <a:prstGeom prst="rect">
                <a:avLst/>
              </a:prstGeom>
            </p:spPr>
          </p:pic>
        </mc:Fallback>
      </mc:AlternateContent>
      <p:sp>
        <p:nvSpPr>
          <p:cNvPr id="10" name="TextBox 9"/>
          <p:cNvSpPr txBox="1"/>
          <p:nvPr/>
        </p:nvSpPr>
        <p:spPr>
          <a:xfrm>
            <a:off x="1143000" y="841248"/>
            <a:ext cx="10972800" cy="292608"/>
          </a:xfrm>
          <a:prstGeom prst="rect">
            <a:avLst/>
          </a:prstGeom>
          <a:noFill/>
        </p:spPr>
        <p:txBody>
          <a:bodyPr wrap="square" lIns="0" tIns="0" rIns="0" bIns="0" anchor="t">
            <a:noAutofit/>
          </a:bodyPr>
          <a:lstStyle/>
          <a:p>
            <a:pPr algn="l">
              <a:lnSpc>
                <a:spcPct val="105000"/>
              </a:lnSpc>
              <a:spcAft>
                <a:spcPts val="0"/>
              </a:spcAft>
            </a:pPr>
            <a:r>
              <a:rPr sz="1000" b="1" i="0">
                <a:solidFill>
                  <a:srgbClr val="A6F26B"/>
                </a:solidFill>
                <a:latin typeface="Avenir Next"/>
              </a:rPr>
              <a:t>ARCHITECTURE</a:t>
            </a:r>
          </a:p>
        </p:txBody>
      </p:sp>
      <p:sp>
        <p:nvSpPr>
          <p:cNvPr id="11" name="TextBox 10"/>
          <p:cNvSpPr txBox="1"/>
          <p:nvPr/>
        </p:nvSpPr>
        <p:spPr>
          <a:xfrm>
            <a:off x="1097280" y="1124712"/>
            <a:ext cx="13075920" cy="676656"/>
          </a:xfrm>
          <a:prstGeom prst="rect">
            <a:avLst/>
          </a:prstGeom>
          <a:noFill/>
        </p:spPr>
        <p:txBody>
          <a:bodyPr wrap="square" lIns="0" tIns="0" rIns="0" bIns="0" anchor="t">
            <a:noAutofit/>
          </a:bodyPr>
          <a:lstStyle/>
          <a:p>
            <a:pPr algn="l">
              <a:lnSpc>
                <a:spcPct val="98000"/>
              </a:lnSpc>
              <a:spcAft>
                <a:spcPts val="0"/>
              </a:spcAft>
            </a:pPr>
            <a:r>
              <a:rPr sz="3300" b="1" i="0">
                <a:solidFill>
                  <a:srgbClr val="F4FFFA"/>
                </a:solidFill>
                <a:latin typeface="Avenir Next"/>
              </a:rPr>
              <a:t>One system, two physical paths.</a:t>
            </a:r>
          </a:p>
        </p:txBody>
      </p:sp>
      <p:sp>
        <p:nvSpPr>
          <p:cNvPr id="12" name="TextBox 11"/>
          <p:cNvSpPr txBox="1"/>
          <p:nvPr/>
        </p:nvSpPr>
        <p:spPr>
          <a:xfrm>
            <a:off x="1143000" y="1865376"/>
            <a:ext cx="13258800" cy="502920"/>
          </a:xfrm>
          <a:prstGeom prst="rect">
            <a:avLst/>
          </a:prstGeom>
          <a:noFill/>
        </p:spPr>
        <p:txBody>
          <a:bodyPr wrap="square" lIns="0" tIns="0" rIns="0" bIns="0" anchor="t">
            <a:noAutofit/>
          </a:bodyPr>
          <a:lstStyle/>
          <a:p>
            <a:pPr algn="l">
              <a:lnSpc>
                <a:spcPct val="110000"/>
              </a:lnSpc>
              <a:spcAft>
                <a:spcPts val="0"/>
              </a:spcAft>
            </a:pPr>
            <a:r>
              <a:rPr sz="1400" b="0" i="0">
                <a:solidFill>
                  <a:srgbClr val="ADC9BE"/>
                </a:solidFill>
                <a:latin typeface="Avenir Next"/>
              </a:rPr>
              <a:t>Data flows from field to advice; energy flows from waste to farm loads.</a:t>
            </a:r>
          </a:p>
        </p:txBody>
      </p:sp>
      <p:sp>
        <p:nvSpPr>
          <p:cNvPr id="13" name="Rectangle 12"/>
          <p:cNvSpPr/>
          <p:nvPr/>
        </p:nvSpPr>
        <p:spPr>
          <a:xfrm>
            <a:off x="1143000" y="2542032"/>
            <a:ext cx="1143000" cy="41148"/>
          </a:xfrm>
          <a:prstGeom prst="rect">
            <a:avLst/>
          </a:prstGeom>
          <a:solidFill>
            <a:srgbClr val="A6F2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Rounded Rectangle 13"/>
          <p:cNvSpPr/>
          <p:nvPr/>
        </p:nvSpPr>
        <p:spPr>
          <a:xfrm>
            <a:off x="14127480" y="1143000"/>
            <a:ext cx="3017520" cy="347472"/>
          </a:xfrm>
          <a:prstGeom prst="roundRect">
            <a:avLst>
              <a:gd name="adj" fmla="val 50000"/>
            </a:avLst>
          </a:prstGeom>
          <a:solidFill>
            <a:srgbClr val="0A221B"/>
          </a:solidFill>
          <a:ln w="8890">
            <a:solidFill>
              <a:srgbClr val="A6F26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14164055" y="1161288"/>
            <a:ext cx="2944368" cy="310896"/>
          </a:xfrm>
          <a:prstGeom prst="rect">
            <a:avLst/>
          </a:prstGeom>
          <a:noFill/>
        </p:spPr>
        <p:txBody>
          <a:bodyPr wrap="square" lIns="9144" tIns="0" rIns="9144" bIns="0" anchor="ctr">
            <a:noAutofit/>
          </a:bodyPr>
          <a:lstStyle/>
          <a:p>
            <a:pPr algn="ctr">
              <a:lnSpc>
                <a:spcPct val="105000"/>
              </a:lnSpc>
              <a:spcAft>
                <a:spcPts val="0"/>
              </a:spcAft>
            </a:pPr>
            <a:r>
              <a:rPr sz="819" b="1" i="0">
                <a:solidFill>
                  <a:srgbClr val="A6F26B"/>
                </a:solidFill>
                <a:latin typeface="Avenir Next"/>
              </a:rPr>
              <a:t>IMPLEMENTED + PROPOSED</a:t>
            </a:r>
          </a:p>
        </p:txBody>
      </p:sp>
      <p:sp>
        <p:nvSpPr>
          <p:cNvPr id="16" name="TextBox 15"/>
          <p:cNvSpPr txBox="1"/>
          <p:nvPr/>
        </p:nvSpPr>
        <p:spPr>
          <a:xfrm>
            <a:off x="1143000" y="2761488"/>
            <a:ext cx="3657600" cy="219456"/>
          </a:xfrm>
          <a:prstGeom prst="rect">
            <a:avLst/>
          </a:prstGeom>
          <a:noFill/>
        </p:spPr>
        <p:txBody>
          <a:bodyPr wrap="square" lIns="18288" tIns="18288" rIns="18288" bIns="18288" anchor="t">
            <a:noAutofit/>
          </a:bodyPr>
          <a:lstStyle/>
          <a:p>
            <a:pPr algn="l">
              <a:lnSpc>
                <a:spcPct val="105000"/>
              </a:lnSpc>
              <a:spcAft>
                <a:spcPts val="0"/>
              </a:spcAft>
            </a:pPr>
            <a:r>
              <a:rPr sz="900" b="1" i="0">
                <a:solidFill>
                  <a:srgbClr val="59D7F0"/>
                </a:solidFill>
                <a:latin typeface="Avenir Next"/>
              </a:rPr>
              <a:t>DATA PATH</a:t>
            </a:r>
          </a:p>
        </p:txBody>
      </p:sp>
      <p:sp>
        <p:nvSpPr>
          <p:cNvPr id="17" name="TextBox 16"/>
          <p:cNvSpPr txBox="1"/>
          <p:nvPr/>
        </p:nvSpPr>
        <p:spPr>
          <a:xfrm>
            <a:off x="1143000" y="4828032"/>
            <a:ext cx="3657600" cy="219456"/>
          </a:xfrm>
          <a:prstGeom prst="rect">
            <a:avLst/>
          </a:prstGeom>
          <a:noFill/>
        </p:spPr>
        <p:txBody>
          <a:bodyPr wrap="square" lIns="18288" tIns="18288" rIns="18288" bIns="18288" anchor="t">
            <a:noAutofit/>
          </a:bodyPr>
          <a:lstStyle/>
          <a:p>
            <a:pPr algn="l">
              <a:lnSpc>
                <a:spcPct val="105000"/>
              </a:lnSpc>
              <a:spcAft>
                <a:spcPts val="0"/>
              </a:spcAft>
            </a:pPr>
            <a:r>
              <a:rPr sz="900" b="1" i="0">
                <a:solidFill>
                  <a:srgbClr val="F5C451"/>
                </a:solidFill>
                <a:latin typeface="Avenir Next"/>
              </a:rPr>
              <a:t>ENERGY PATH</a:t>
            </a:r>
          </a:p>
        </p:txBody>
      </p:sp>
      <p:sp>
        <p:nvSpPr>
          <p:cNvPr id="18" name="Rounded Rectangle 17"/>
          <p:cNvSpPr/>
          <p:nvPr/>
        </p:nvSpPr>
        <p:spPr>
          <a:xfrm>
            <a:off x="1143000" y="3017520"/>
            <a:ext cx="2423160" cy="1078992"/>
          </a:xfrm>
          <a:prstGeom prst="roundRect">
            <a:avLst>
              <a:gd name="adj" fmla="val 8000"/>
            </a:avLst>
          </a:prstGeom>
          <a:solidFill>
            <a:srgbClr val="071813"/>
          </a:solidFill>
          <a:ln w="10160">
            <a:solidFill>
              <a:srgbClr val="2C5A4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1280160" y="3154680"/>
            <a:ext cx="2148840" cy="274320"/>
          </a:xfrm>
          <a:prstGeom prst="rect">
            <a:avLst/>
          </a:prstGeom>
          <a:noFill/>
        </p:spPr>
        <p:txBody>
          <a:bodyPr wrap="square" lIns="18288" tIns="18288" rIns="18288" bIns="18288" anchor="t">
            <a:noAutofit/>
          </a:bodyPr>
          <a:lstStyle/>
          <a:p>
            <a:pPr algn="l">
              <a:lnSpc>
                <a:spcPct val="105000"/>
              </a:lnSpc>
              <a:spcAft>
                <a:spcPts val="0"/>
              </a:spcAft>
            </a:pPr>
            <a:r>
              <a:rPr sz="1050" b="1" i="0">
                <a:solidFill>
                  <a:srgbClr val="F4FFFA"/>
                </a:solidFill>
                <a:latin typeface="Avenir Next"/>
              </a:rPr>
              <a:t>ESP32 + sensors</a:t>
            </a:r>
          </a:p>
        </p:txBody>
      </p:sp>
      <p:sp>
        <p:nvSpPr>
          <p:cNvPr id="20" name="TextBox 19"/>
          <p:cNvSpPr txBox="1"/>
          <p:nvPr/>
        </p:nvSpPr>
        <p:spPr>
          <a:xfrm>
            <a:off x="1280160" y="3474720"/>
            <a:ext cx="2148840" cy="457200"/>
          </a:xfrm>
          <a:prstGeom prst="rect">
            <a:avLst/>
          </a:prstGeom>
          <a:noFill/>
        </p:spPr>
        <p:txBody>
          <a:bodyPr wrap="square" lIns="18288" tIns="18288" rIns="18288" bIns="18288" anchor="t">
            <a:noAutofit/>
          </a:bodyPr>
          <a:lstStyle/>
          <a:p>
            <a:pPr algn="l">
              <a:lnSpc>
                <a:spcPct val="105000"/>
              </a:lnSpc>
              <a:spcAft>
                <a:spcPts val="0"/>
              </a:spcAft>
            </a:pPr>
            <a:r>
              <a:rPr sz="830" b="0" i="0">
                <a:solidFill>
                  <a:srgbClr val="ADC9BE"/>
                </a:solidFill>
                <a:latin typeface="Avenir Next"/>
              </a:rPr>
              <a:t>soil ×2 · DHT22 · rain · flow</a:t>
            </a:r>
          </a:p>
        </p:txBody>
      </p:sp>
      <p:sp>
        <p:nvSpPr>
          <p:cNvPr id="21" name="Right Arrow 20"/>
          <p:cNvSpPr/>
          <p:nvPr/>
        </p:nvSpPr>
        <p:spPr>
          <a:xfrm>
            <a:off x="3602736" y="3410712"/>
            <a:ext cx="201168" cy="182880"/>
          </a:xfrm>
          <a:prstGeom prst="rightArrow">
            <a:avLst/>
          </a:prstGeom>
          <a:solidFill>
            <a:srgbClr val="A6F2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Rounded Rectangle 21"/>
          <p:cNvSpPr/>
          <p:nvPr/>
        </p:nvSpPr>
        <p:spPr>
          <a:xfrm>
            <a:off x="3822191" y="3017520"/>
            <a:ext cx="2148840" cy="1078992"/>
          </a:xfrm>
          <a:prstGeom prst="roundRect">
            <a:avLst>
              <a:gd name="adj" fmla="val 8000"/>
            </a:avLst>
          </a:prstGeom>
          <a:solidFill>
            <a:srgbClr val="071813"/>
          </a:solidFill>
          <a:ln w="10160">
            <a:solidFill>
              <a:srgbClr val="2C5A4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3959352" y="3154680"/>
            <a:ext cx="1874520" cy="274320"/>
          </a:xfrm>
          <a:prstGeom prst="rect">
            <a:avLst/>
          </a:prstGeom>
          <a:noFill/>
        </p:spPr>
        <p:txBody>
          <a:bodyPr wrap="square" lIns="18288" tIns="18288" rIns="18288" bIns="18288" anchor="t">
            <a:noAutofit/>
          </a:bodyPr>
          <a:lstStyle/>
          <a:p>
            <a:pPr algn="l">
              <a:lnSpc>
                <a:spcPct val="105000"/>
              </a:lnSpc>
              <a:spcAft>
                <a:spcPts val="0"/>
              </a:spcAft>
            </a:pPr>
            <a:r>
              <a:rPr sz="1050" b="1" i="0">
                <a:solidFill>
                  <a:srgbClr val="F4FFFA"/>
                </a:solidFill>
                <a:latin typeface="Avenir Next"/>
              </a:rPr>
              <a:t>Mosquitto</a:t>
            </a:r>
          </a:p>
        </p:txBody>
      </p:sp>
      <p:sp>
        <p:nvSpPr>
          <p:cNvPr id="24" name="TextBox 23"/>
          <p:cNvSpPr txBox="1"/>
          <p:nvPr/>
        </p:nvSpPr>
        <p:spPr>
          <a:xfrm>
            <a:off x="3959352" y="3474720"/>
            <a:ext cx="1874520" cy="457200"/>
          </a:xfrm>
          <a:prstGeom prst="rect">
            <a:avLst/>
          </a:prstGeom>
          <a:noFill/>
        </p:spPr>
        <p:txBody>
          <a:bodyPr wrap="square" lIns="18288" tIns="18288" rIns="18288" bIns="18288" anchor="t">
            <a:noAutofit/>
          </a:bodyPr>
          <a:lstStyle/>
          <a:p>
            <a:pPr algn="l">
              <a:lnSpc>
                <a:spcPct val="105000"/>
              </a:lnSpc>
              <a:spcAft>
                <a:spcPts val="0"/>
              </a:spcAft>
            </a:pPr>
            <a:r>
              <a:rPr sz="830" b="0" i="0">
                <a:solidFill>
                  <a:srgbClr val="ADC9BE"/>
                </a:solidFill>
                <a:latin typeface="Avenir Next"/>
              </a:rPr>
              <a:t>MQTT 1883 · user + password</a:t>
            </a:r>
          </a:p>
        </p:txBody>
      </p:sp>
      <p:sp>
        <p:nvSpPr>
          <p:cNvPr id="25" name="Right Arrow 24"/>
          <p:cNvSpPr/>
          <p:nvPr/>
        </p:nvSpPr>
        <p:spPr>
          <a:xfrm>
            <a:off x="6007607" y="3410712"/>
            <a:ext cx="201168" cy="182880"/>
          </a:xfrm>
          <a:prstGeom prst="rightArrow">
            <a:avLst/>
          </a:prstGeom>
          <a:solidFill>
            <a:srgbClr val="A6F2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Rounded Rectangle 25"/>
          <p:cNvSpPr/>
          <p:nvPr/>
        </p:nvSpPr>
        <p:spPr>
          <a:xfrm>
            <a:off x="6236208" y="3017520"/>
            <a:ext cx="2788920" cy="1078992"/>
          </a:xfrm>
          <a:prstGeom prst="roundRect">
            <a:avLst>
              <a:gd name="adj" fmla="val 8000"/>
            </a:avLst>
          </a:prstGeom>
          <a:solidFill>
            <a:srgbClr val="071813"/>
          </a:solidFill>
          <a:ln w="10160">
            <a:solidFill>
              <a:srgbClr val="2C5A4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TextBox 26"/>
          <p:cNvSpPr txBox="1"/>
          <p:nvPr/>
        </p:nvSpPr>
        <p:spPr>
          <a:xfrm>
            <a:off x="6373368" y="3154680"/>
            <a:ext cx="2514600" cy="274320"/>
          </a:xfrm>
          <a:prstGeom prst="rect">
            <a:avLst/>
          </a:prstGeom>
          <a:noFill/>
        </p:spPr>
        <p:txBody>
          <a:bodyPr wrap="square" lIns="18288" tIns="18288" rIns="18288" bIns="18288" anchor="t">
            <a:noAutofit/>
          </a:bodyPr>
          <a:lstStyle/>
          <a:p>
            <a:pPr algn="l">
              <a:lnSpc>
                <a:spcPct val="105000"/>
              </a:lnSpc>
              <a:spcAft>
                <a:spcPts val="0"/>
              </a:spcAft>
            </a:pPr>
            <a:r>
              <a:rPr sz="1050" b="1" i="0">
                <a:solidFill>
                  <a:srgbClr val="F4FFFA"/>
                </a:solidFill>
                <a:latin typeface="Avenir Next"/>
              </a:rPr>
              <a:t>FastAPI + DB</a:t>
            </a:r>
          </a:p>
        </p:txBody>
      </p:sp>
      <p:sp>
        <p:nvSpPr>
          <p:cNvPr id="28" name="TextBox 27"/>
          <p:cNvSpPr txBox="1"/>
          <p:nvPr/>
        </p:nvSpPr>
        <p:spPr>
          <a:xfrm>
            <a:off x="6373368" y="3474720"/>
            <a:ext cx="2514600" cy="457200"/>
          </a:xfrm>
          <a:prstGeom prst="rect">
            <a:avLst/>
          </a:prstGeom>
          <a:noFill/>
        </p:spPr>
        <p:txBody>
          <a:bodyPr wrap="square" lIns="18288" tIns="18288" rIns="18288" bIns="18288" anchor="t">
            <a:noAutofit/>
          </a:bodyPr>
          <a:lstStyle/>
          <a:p>
            <a:pPr algn="l">
              <a:lnSpc>
                <a:spcPct val="105000"/>
              </a:lnSpc>
              <a:spcAft>
                <a:spcPts val="0"/>
              </a:spcAft>
            </a:pPr>
            <a:r>
              <a:rPr sz="830" b="0" i="0">
                <a:solidFill>
                  <a:srgbClr val="ADC9BE"/>
                </a:solidFill>
                <a:latin typeface="Avenir Next"/>
              </a:rPr>
              <a:t>ingest · SQLAlchemy · Postgres</a:t>
            </a:r>
          </a:p>
        </p:txBody>
      </p:sp>
      <p:sp>
        <p:nvSpPr>
          <p:cNvPr id="29" name="Right Arrow 28"/>
          <p:cNvSpPr/>
          <p:nvPr/>
        </p:nvSpPr>
        <p:spPr>
          <a:xfrm>
            <a:off x="9061704" y="3410712"/>
            <a:ext cx="201168" cy="182880"/>
          </a:xfrm>
          <a:prstGeom prst="rightArrow">
            <a:avLst/>
          </a:prstGeom>
          <a:solidFill>
            <a:srgbClr val="A6F2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Rounded Rectangle 29"/>
          <p:cNvSpPr/>
          <p:nvPr/>
        </p:nvSpPr>
        <p:spPr>
          <a:xfrm>
            <a:off x="9262872" y="3017520"/>
            <a:ext cx="2514600" cy="1078992"/>
          </a:xfrm>
          <a:prstGeom prst="roundRect">
            <a:avLst>
              <a:gd name="adj" fmla="val 8000"/>
            </a:avLst>
          </a:prstGeom>
          <a:solidFill>
            <a:srgbClr val="071813"/>
          </a:solidFill>
          <a:ln w="10160">
            <a:solidFill>
              <a:srgbClr val="2C5A4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TextBox 30"/>
          <p:cNvSpPr txBox="1"/>
          <p:nvPr/>
        </p:nvSpPr>
        <p:spPr>
          <a:xfrm>
            <a:off x="9400032" y="3154680"/>
            <a:ext cx="2240280" cy="274320"/>
          </a:xfrm>
          <a:prstGeom prst="rect">
            <a:avLst/>
          </a:prstGeom>
          <a:noFill/>
        </p:spPr>
        <p:txBody>
          <a:bodyPr wrap="square" lIns="18288" tIns="18288" rIns="18288" bIns="18288" anchor="t">
            <a:noAutofit/>
          </a:bodyPr>
          <a:lstStyle/>
          <a:p>
            <a:pPr algn="l">
              <a:lnSpc>
                <a:spcPct val="105000"/>
              </a:lnSpc>
              <a:spcAft>
                <a:spcPts val="0"/>
              </a:spcAft>
            </a:pPr>
            <a:r>
              <a:rPr sz="1050" b="1" i="0">
                <a:solidFill>
                  <a:srgbClr val="F4FFFA"/>
                </a:solidFill>
                <a:latin typeface="Avenir Next"/>
              </a:rPr>
              <a:t>Trust + AI</a:t>
            </a:r>
          </a:p>
        </p:txBody>
      </p:sp>
      <p:sp>
        <p:nvSpPr>
          <p:cNvPr id="32" name="TextBox 31"/>
          <p:cNvSpPr txBox="1"/>
          <p:nvPr/>
        </p:nvSpPr>
        <p:spPr>
          <a:xfrm>
            <a:off x="9400032" y="3474720"/>
            <a:ext cx="2240280" cy="457200"/>
          </a:xfrm>
          <a:prstGeom prst="rect">
            <a:avLst/>
          </a:prstGeom>
          <a:noFill/>
        </p:spPr>
        <p:txBody>
          <a:bodyPr wrap="square" lIns="18288" tIns="18288" rIns="18288" bIns="18288" anchor="t">
            <a:noAutofit/>
          </a:bodyPr>
          <a:lstStyle/>
          <a:p>
            <a:pPr algn="l">
              <a:lnSpc>
                <a:spcPct val="105000"/>
              </a:lnSpc>
              <a:spcAft>
                <a:spcPts val="0"/>
              </a:spcAft>
            </a:pPr>
            <a:r>
              <a:rPr sz="830" b="0" i="0">
                <a:solidFill>
                  <a:srgbClr val="ADC9BE"/>
                </a:solidFill>
                <a:latin typeface="Avenir Next"/>
              </a:rPr>
              <a:t>checks · forecast · advice</a:t>
            </a:r>
          </a:p>
        </p:txBody>
      </p:sp>
      <p:sp>
        <p:nvSpPr>
          <p:cNvPr id="33" name="Right Arrow 32"/>
          <p:cNvSpPr/>
          <p:nvPr/>
        </p:nvSpPr>
        <p:spPr>
          <a:xfrm>
            <a:off x="11814048" y="3410712"/>
            <a:ext cx="201168" cy="182880"/>
          </a:xfrm>
          <a:prstGeom prst="rightArrow">
            <a:avLst/>
          </a:prstGeom>
          <a:solidFill>
            <a:srgbClr val="A6F2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 name="Rounded Rectangle 33"/>
          <p:cNvSpPr/>
          <p:nvPr/>
        </p:nvSpPr>
        <p:spPr>
          <a:xfrm>
            <a:off x="11996928" y="3017520"/>
            <a:ext cx="2788920" cy="1078992"/>
          </a:xfrm>
          <a:prstGeom prst="roundRect">
            <a:avLst>
              <a:gd name="adj" fmla="val 8000"/>
            </a:avLst>
          </a:prstGeom>
          <a:solidFill>
            <a:srgbClr val="071813"/>
          </a:solidFill>
          <a:ln w="10160">
            <a:solidFill>
              <a:srgbClr val="2C5A4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TextBox 34"/>
          <p:cNvSpPr txBox="1"/>
          <p:nvPr/>
        </p:nvSpPr>
        <p:spPr>
          <a:xfrm>
            <a:off x="12134088" y="3154680"/>
            <a:ext cx="2514600" cy="274320"/>
          </a:xfrm>
          <a:prstGeom prst="rect">
            <a:avLst/>
          </a:prstGeom>
          <a:noFill/>
        </p:spPr>
        <p:txBody>
          <a:bodyPr wrap="square" lIns="18288" tIns="18288" rIns="18288" bIns="18288" anchor="t">
            <a:noAutofit/>
          </a:bodyPr>
          <a:lstStyle/>
          <a:p>
            <a:pPr algn="l">
              <a:lnSpc>
                <a:spcPct val="105000"/>
              </a:lnSpc>
              <a:spcAft>
                <a:spcPts val="0"/>
              </a:spcAft>
            </a:pPr>
            <a:r>
              <a:rPr sz="1050" b="1" i="0">
                <a:solidFill>
                  <a:srgbClr val="F4FFFA"/>
                </a:solidFill>
                <a:latin typeface="Avenir Next"/>
              </a:rPr>
              <a:t>Apps</a:t>
            </a:r>
          </a:p>
        </p:txBody>
      </p:sp>
      <p:sp>
        <p:nvSpPr>
          <p:cNvPr id="36" name="TextBox 35"/>
          <p:cNvSpPr txBox="1"/>
          <p:nvPr/>
        </p:nvSpPr>
        <p:spPr>
          <a:xfrm>
            <a:off x="12134088" y="3474720"/>
            <a:ext cx="2514600" cy="457200"/>
          </a:xfrm>
          <a:prstGeom prst="rect">
            <a:avLst/>
          </a:prstGeom>
          <a:noFill/>
        </p:spPr>
        <p:txBody>
          <a:bodyPr wrap="square" lIns="18288" tIns="18288" rIns="18288" bIns="18288" anchor="t">
            <a:noAutofit/>
          </a:bodyPr>
          <a:lstStyle/>
          <a:p>
            <a:pPr algn="l">
              <a:lnSpc>
                <a:spcPct val="105000"/>
              </a:lnSpc>
              <a:spcAft>
                <a:spcPts val="0"/>
              </a:spcAft>
            </a:pPr>
            <a:r>
              <a:rPr sz="830" b="0" i="0">
                <a:solidFill>
                  <a:srgbClr val="ADC9BE"/>
                </a:solidFill>
                <a:latin typeface="Avenir Next"/>
              </a:rPr>
              <a:t>React web · Flutter mobile</a:t>
            </a:r>
          </a:p>
        </p:txBody>
      </p:sp>
      <p:sp>
        <p:nvSpPr>
          <p:cNvPr id="37" name="TextBox 36"/>
          <p:cNvSpPr txBox="1"/>
          <p:nvPr/>
        </p:nvSpPr>
        <p:spPr>
          <a:xfrm>
            <a:off x="3063240" y="4160520"/>
            <a:ext cx="2468880" cy="201168"/>
          </a:xfrm>
          <a:prstGeom prst="rect">
            <a:avLst/>
          </a:prstGeom>
          <a:noFill/>
        </p:spPr>
        <p:txBody>
          <a:bodyPr wrap="square" lIns="18288" tIns="18288" rIns="18288" bIns="18288" anchor="t">
            <a:noAutofit/>
          </a:bodyPr>
          <a:lstStyle/>
          <a:p>
            <a:pPr algn="l">
              <a:lnSpc>
                <a:spcPct val="105000"/>
              </a:lnSpc>
              <a:spcAft>
                <a:spcPts val="0"/>
              </a:spcAft>
            </a:pPr>
            <a:r>
              <a:rPr sz="760" b="0" i="0">
                <a:solidFill>
                  <a:srgbClr val="7CA091"/>
                </a:solidFill>
                <a:latin typeface="Avenir Next"/>
              </a:rPr>
              <a:t>telemetry every 60 s</a:t>
            </a:r>
          </a:p>
        </p:txBody>
      </p:sp>
      <p:sp>
        <p:nvSpPr>
          <p:cNvPr id="38" name="TextBox 37"/>
          <p:cNvSpPr txBox="1"/>
          <p:nvPr/>
        </p:nvSpPr>
        <p:spPr>
          <a:xfrm>
            <a:off x="11978640" y="4160520"/>
            <a:ext cx="2743200" cy="201168"/>
          </a:xfrm>
          <a:prstGeom prst="rect">
            <a:avLst/>
          </a:prstGeom>
          <a:noFill/>
        </p:spPr>
        <p:txBody>
          <a:bodyPr wrap="square" lIns="18288" tIns="18288" rIns="18288" bIns="18288" anchor="t">
            <a:noAutofit/>
          </a:bodyPr>
          <a:lstStyle/>
          <a:p>
            <a:pPr algn="l">
              <a:lnSpc>
                <a:spcPct val="105000"/>
              </a:lnSpc>
              <a:spcAft>
                <a:spcPts val="0"/>
              </a:spcAft>
            </a:pPr>
            <a:r>
              <a:rPr sz="760" b="0" i="0">
                <a:solidFill>
                  <a:srgbClr val="7CA091"/>
                </a:solidFill>
                <a:latin typeface="Avenir Next"/>
              </a:rPr>
              <a:t>REST / JSON · JWT</a:t>
            </a:r>
          </a:p>
        </p:txBody>
      </p:sp>
      <p:sp>
        <p:nvSpPr>
          <p:cNvPr id="39" name="Rounded Rectangle 38"/>
          <p:cNvSpPr/>
          <p:nvPr/>
        </p:nvSpPr>
        <p:spPr>
          <a:xfrm>
            <a:off x="1143000" y="5084064"/>
            <a:ext cx="2423160" cy="1078992"/>
          </a:xfrm>
          <a:prstGeom prst="roundRect">
            <a:avLst>
              <a:gd name="adj" fmla="val 8000"/>
            </a:avLst>
          </a:prstGeom>
          <a:solidFill>
            <a:srgbClr val="0A221B"/>
          </a:solidFill>
          <a:ln w="10160">
            <a:solidFill>
              <a:srgbClr val="5A4A2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0" name="TextBox 39"/>
          <p:cNvSpPr txBox="1"/>
          <p:nvPr/>
        </p:nvSpPr>
        <p:spPr>
          <a:xfrm>
            <a:off x="1280160" y="5221224"/>
            <a:ext cx="2148840" cy="274320"/>
          </a:xfrm>
          <a:prstGeom prst="rect">
            <a:avLst/>
          </a:prstGeom>
          <a:noFill/>
        </p:spPr>
        <p:txBody>
          <a:bodyPr wrap="square" lIns="18288" tIns="18288" rIns="18288" bIns="18288" anchor="t">
            <a:noAutofit/>
          </a:bodyPr>
          <a:lstStyle/>
          <a:p>
            <a:pPr algn="l">
              <a:lnSpc>
                <a:spcPct val="105000"/>
              </a:lnSpc>
              <a:spcAft>
                <a:spcPts val="0"/>
              </a:spcAft>
            </a:pPr>
            <a:r>
              <a:rPr sz="1050" b="1" i="0">
                <a:solidFill>
                  <a:srgbClr val="F4FFFA"/>
                </a:solidFill>
                <a:latin typeface="Avenir Next"/>
              </a:rPr>
              <a:t>Organic waste</a:t>
            </a:r>
          </a:p>
        </p:txBody>
      </p:sp>
      <p:sp>
        <p:nvSpPr>
          <p:cNvPr id="41" name="TextBox 40"/>
          <p:cNvSpPr txBox="1"/>
          <p:nvPr/>
        </p:nvSpPr>
        <p:spPr>
          <a:xfrm>
            <a:off x="1280160" y="5541264"/>
            <a:ext cx="2148840" cy="457200"/>
          </a:xfrm>
          <a:prstGeom prst="rect">
            <a:avLst/>
          </a:prstGeom>
          <a:noFill/>
        </p:spPr>
        <p:txBody>
          <a:bodyPr wrap="square" lIns="18288" tIns="18288" rIns="18288" bIns="18288" anchor="t">
            <a:noAutofit/>
          </a:bodyPr>
          <a:lstStyle/>
          <a:p>
            <a:pPr algn="l">
              <a:lnSpc>
                <a:spcPct val="105000"/>
              </a:lnSpc>
              <a:spcAft>
                <a:spcPts val="0"/>
              </a:spcAft>
            </a:pPr>
            <a:r>
              <a:rPr sz="830" b="0" i="0">
                <a:solidFill>
                  <a:srgbClr val="ADC9BE"/>
                </a:solidFill>
                <a:latin typeface="Avenir Next"/>
              </a:rPr>
              <a:t>farm + food waste</a:t>
            </a:r>
          </a:p>
        </p:txBody>
      </p:sp>
      <p:sp>
        <p:nvSpPr>
          <p:cNvPr id="42" name="Right Arrow 41"/>
          <p:cNvSpPr/>
          <p:nvPr/>
        </p:nvSpPr>
        <p:spPr>
          <a:xfrm>
            <a:off x="3602736" y="5477256"/>
            <a:ext cx="201168" cy="182880"/>
          </a:xfrm>
          <a:prstGeom prst="rightArrow">
            <a:avLst/>
          </a:prstGeom>
          <a:solidFill>
            <a:srgbClr val="F5C45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3" name="Rounded Rectangle 42"/>
          <p:cNvSpPr/>
          <p:nvPr/>
        </p:nvSpPr>
        <p:spPr>
          <a:xfrm>
            <a:off x="3822191" y="5084064"/>
            <a:ext cx="2148840" cy="1078992"/>
          </a:xfrm>
          <a:prstGeom prst="roundRect">
            <a:avLst>
              <a:gd name="adj" fmla="val 8000"/>
            </a:avLst>
          </a:prstGeom>
          <a:solidFill>
            <a:srgbClr val="0A221B"/>
          </a:solidFill>
          <a:ln w="10160">
            <a:solidFill>
              <a:srgbClr val="5A4A2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4" name="TextBox 43"/>
          <p:cNvSpPr txBox="1"/>
          <p:nvPr/>
        </p:nvSpPr>
        <p:spPr>
          <a:xfrm>
            <a:off x="3959352" y="5221224"/>
            <a:ext cx="1874520" cy="274320"/>
          </a:xfrm>
          <a:prstGeom prst="rect">
            <a:avLst/>
          </a:prstGeom>
          <a:noFill/>
        </p:spPr>
        <p:txBody>
          <a:bodyPr wrap="square" lIns="18288" tIns="18288" rIns="18288" bIns="18288" anchor="t">
            <a:noAutofit/>
          </a:bodyPr>
          <a:lstStyle/>
          <a:p>
            <a:pPr algn="l">
              <a:lnSpc>
                <a:spcPct val="105000"/>
              </a:lnSpc>
              <a:spcAft>
                <a:spcPts val="0"/>
              </a:spcAft>
            </a:pPr>
            <a:r>
              <a:rPr sz="1050" b="1" i="0">
                <a:solidFill>
                  <a:srgbClr val="F4FFFA"/>
                </a:solidFill>
                <a:latin typeface="Avenir Next"/>
              </a:rPr>
              <a:t>Digester</a:t>
            </a:r>
          </a:p>
        </p:txBody>
      </p:sp>
      <p:sp>
        <p:nvSpPr>
          <p:cNvPr id="45" name="TextBox 44"/>
          <p:cNvSpPr txBox="1"/>
          <p:nvPr/>
        </p:nvSpPr>
        <p:spPr>
          <a:xfrm>
            <a:off x="3959352" y="5541264"/>
            <a:ext cx="1874520" cy="457200"/>
          </a:xfrm>
          <a:prstGeom prst="rect">
            <a:avLst/>
          </a:prstGeom>
          <a:noFill/>
        </p:spPr>
        <p:txBody>
          <a:bodyPr wrap="square" lIns="18288" tIns="18288" rIns="18288" bIns="18288" anchor="t">
            <a:noAutofit/>
          </a:bodyPr>
          <a:lstStyle/>
          <a:p>
            <a:pPr algn="l">
              <a:lnSpc>
                <a:spcPct val="105000"/>
              </a:lnSpc>
              <a:spcAft>
                <a:spcPts val="0"/>
              </a:spcAft>
            </a:pPr>
            <a:r>
              <a:rPr sz="830" b="0" i="0">
                <a:solidFill>
                  <a:srgbClr val="ADC9BE"/>
                </a:solidFill>
                <a:latin typeface="Avenir Next"/>
              </a:rPr>
              <a:t>sealed anaerobic</a:t>
            </a:r>
          </a:p>
        </p:txBody>
      </p:sp>
      <p:sp>
        <p:nvSpPr>
          <p:cNvPr id="46" name="Right Arrow 45"/>
          <p:cNvSpPr/>
          <p:nvPr/>
        </p:nvSpPr>
        <p:spPr>
          <a:xfrm>
            <a:off x="6007607" y="5477256"/>
            <a:ext cx="201168" cy="182880"/>
          </a:xfrm>
          <a:prstGeom prst="rightArrow">
            <a:avLst/>
          </a:prstGeom>
          <a:solidFill>
            <a:srgbClr val="F5C45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7" name="Rounded Rectangle 46"/>
          <p:cNvSpPr/>
          <p:nvPr/>
        </p:nvSpPr>
        <p:spPr>
          <a:xfrm>
            <a:off x="6236208" y="5084064"/>
            <a:ext cx="2788920" cy="1078992"/>
          </a:xfrm>
          <a:prstGeom prst="roundRect">
            <a:avLst>
              <a:gd name="adj" fmla="val 8000"/>
            </a:avLst>
          </a:prstGeom>
          <a:solidFill>
            <a:srgbClr val="0A221B"/>
          </a:solidFill>
          <a:ln w="10160">
            <a:solidFill>
              <a:srgbClr val="5A4A2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8" name="TextBox 47"/>
          <p:cNvSpPr txBox="1"/>
          <p:nvPr/>
        </p:nvSpPr>
        <p:spPr>
          <a:xfrm>
            <a:off x="6373368" y="5221224"/>
            <a:ext cx="2514600" cy="274320"/>
          </a:xfrm>
          <a:prstGeom prst="rect">
            <a:avLst/>
          </a:prstGeom>
          <a:noFill/>
        </p:spPr>
        <p:txBody>
          <a:bodyPr wrap="square" lIns="18288" tIns="18288" rIns="18288" bIns="18288" anchor="t">
            <a:noAutofit/>
          </a:bodyPr>
          <a:lstStyle/>
          <a:p>
            <a:pPr algn="l">
              <a:lnSpc>
                <a:spcPct val="105000"/>
              </a:lnSpc>
              <a:spcAft>
                <a:spcPts val="0"/>
              </a:spcAft>
            </a:pPr>
            <a:r>
              <a:rPr sz="1050" b="1" i="0">
                <a:solidFill>
                  <a:srgbClr val="F4FFFA"/>
                </a:solidFill>
                <a:latin typeface="Avenir Next"/>
              </a:rPr>
              <a:t>Generator</a:t>
            </a:r>
          </a:p>
        </p:txBody>
      </p:sp>
      <p:sp>
        <p:nvSpPr>
          <p:cNvPr id="49" name="TextBox 48"/>
          <p:cNvSpPr txBox="1"/>
          <p:nvPr/>
        </p:nvSpPr>
        <p:spPr>
          <a:xfrm>
            <a:off x="6373368" y="5541264"/>
            <a:ext cx="2514600" cy="457200"/>
          </a:xfrm>
          <a:prstGeom prst="rect">
            <a:avLst/>
          </a:prstGeom>
          <a:noFill/>
        </p:spPr>
        <p:txBody>
          <a:bodyPr wrap="square" lIns="18288" tIns="18288" rIns="18288" bIns="18288" anchor="t">
            <a:noAutofit/>
          </a:bodyPr>
          <a:lstStyle/>
          <a:p>
            <a:pPr algn="l">
              <a:lnSpc>
                <a:spcPct val="105000"/>
              </a:lnSpc>
              <a:spcAft>
                <a:spcPts val="0"/>
              </a:spcAft>
            </a:pPr>
            <a:r>
              <a:rPr sz="830" b="0" i="0">
                <a:solidFill>
                  <a:srgbClr val="ADC9BE"/>
                </a:solidFill>
                <a:latin typeface="Avenir Next"/>
              </a:rPr>
              <a:t>gas cleaning + generator</a:t>
            </a:r>
          </a:p>
        </p:txBody>
      </p:sp>
      <p:sp>
        <p:nvSpPr>
          <p:cNvPr id="50" name="Right Arrow 49"/>
          <p:cNvSpPr/>
          <p:nvPr/>
        </p:nvSpPr>
        <p:spPr>
          <a:xfrm>
            <a:off x="9061704" y="5477256"/>
            <a:ext cx="201168" cy="182880"/>
          </a:xfrm>
          <a:prstGeom prst="rightArrow">
            <a:avLst/>
          </a:prstGeom>
          <a:solidFill>
            <a:srgbClr val="F5C45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1" name="Rounded Rectangle 50"/>
          <p:cNvSpPr/>
          <p:nvPr/>
        </p:nvSpPr>
        <p:spPr>
          <a:xfrm>
            <a:off x="9262872" y="5084064"/>
            <a:ext cx="2514600" cy="1078992"/>
          </a:xfrm>
          <a:prstGeom prst="roundRect">
            <a:avLst>
              <a:gd name="adj" fmla="val 8000"/>
            </a:avLst>
          </a:prstGeom>
          <a:solidFill>
            <a:srgbClr val="0A221B"/>
          </a:solidFill>
          <a:ln w="10160">
            <a:solidFill>
              <a:srgbClr val="5A4A2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2" name="TextBox 51"/>
          <p:cNvSpPr txBox="1"/>
          <p:nvPr/>
        </p:nvSpPr>
        <p:spPr>
          <a:xfrm>
            <a:off x="9400032" y="5221224"/>
            <a:ext cx="2240280" cy="274320"/>
          </a:xfrm>
          <a:prstGeom prst="rect">
            <a:avLst/>
          </a:prstGeom>
          <a:noFill/>
        </p:spPr>
        <p:txBody>
          <a:bodyPr wrap="square" lIns="18288" tIns="18288" rIns="18288" bIns="18288" anchor="t">
            <a:noAutofit/>
          </a:bodyPr>
          <a:lstStyle/>
          <a:p>
            <a:pPr algn="l">
              <a:lnSpc>
                <a:spcPct val="105000"/>
              </a:lnSpc>
              <a:spcAft>
                <a:spcPts val="0"/>
              </a:spcAft>
            </a:pPr>
            <a:r>
              <a:rPr sz="1050" b="1" i="0">
                <a:solidFill>
                  <a:srgbClr val="F4FFFA"/>
                </a:solidFill>
                <a:latin typeface="Avenir Next"/>
              </a:rPr>
              <a:t>Controller + BMS</a:t>
            </a:r>
          </a:p>
        </p:txBody>
      </p:sp>
      <p:sp>
        <p:nvSpPr>
          <p:cNvPr id="53" name="TextBox 52"/>
          <p:cNvSpPr txBox="1"/>
          <p:nvPr/>
        </p:nvSpPr>
        <p:spPr>
          <a:xfrm>
            <a:off x="9400032" y="5541264"/>
            <a:ext cx="2240280" cy="457200"/>
          </a:xfrm>
          <a:prstGeom prst="rect">
            <a:avLst/>
          </a:prstGeom>
          <a:noFill/>
        </p:spPr>
        <p:txBody>
          <a:bodyPr wrap="square" lIns="18288" tIns="18288" rIns="18288" bIns="18288" anchor="t">
            <a:noAutofit/>
          </a:bodyPr>
          <a:lstStyle/>
          <a:p>
            <a:pPr algn="l">
              <a:lnSpc>
                <a:spcPct val="105000"/>
              </a:lnSpc>
              <a:spcAft>
                <a:spcPts val="0"/>
              </a:spcAft>
            </a:pPr>
            <a:r>
              <a:rPr sz="830" b="0" i="0">
                <a:solidFill>
                  <a:srgbClr val="ADC9BE"/>
                </a:solidFill>
                <a:latin typeface="Avenir Next"/>
              </a:rPr>
              <a:t>charge · protect</a:t>
            </a:r>
          </a:p>
        </p:txBody>
      </p:sp>
      <p:sp>
        <p:nvSpPr>
          <p:cNvPr id="54" name="Right Arrow 53"/>
          <p:cNvSpPr/>
          <p:nvPr/>
        </p:nvSpPr>
        <p:spPr>
          <a:xfrm>
            <a:off x="11814048" y="5477256"/>
            <a:ext cx="201168" cy="182880"/>
          </a:xfrm>
          <a:prstGeom prst="rightArrow">
            <a:avLst/>
          </a:prstGeom>
          <a:solidFill>
            <a:srgbClr val="F5C45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5" name="Rounded Rectangle 54"/>
          <p:cNvSpPr/>
          <p:nvPr/>
        </p:nvSpPr>
        <p:spPr>
          <a:xfrm>
            <a:off x="11996928" y="5084064"/>
            <a:ext cx="3246120" cy="1078992"/>
          </a:xfrm>
          <a:prstGeom prst="roundRect">
            <a:avLst>
              <a:gd name="adj" fmla="val 8000"/>
            </a:avLst>
          </a:prstGeom>
          <a:solidFill>
            <a:srgbClr val="0A221B"/>
          </a:solidFill>
          <a:ln w="10160">
            <a:solidFill>
              <a:srgbClr val="5A4A2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6" name="TextBox 55"/>
          <p:cNvSpPr txBox="1"/>
          <p:nvPr/>
        </p:nvSpPr>
        <p:spPr>
          <a:xfrm>
            <a:off x="12134088" y="5221224"/>
            <a:ext cx="2971800" cy="274320"/>
          </a:xfrm>
          <a:prstGeom prst="rect">
            <a:avLst/>
          </a:prstGeom>
          <a:noFill/>
        </p:spPr>
        <p:txBody>
          <a:bodyPr wrap="square" lIns="18288" tIns="18288" rIns="18288" bIns="18288" anchor="t">
            <a:noAutofit/>
          </a:bodyPr>
          <a:lstStyle/>
          <a:p>
            <a:pPr algn="l">
              <a:lnSpc>
                <a:spcPct val="105000"/>
              </a:lnSpc>
              <a:spcAft>
                <a:spcPts val="0"/>
              </a:spcAft>
            </a:pPr>
            <a:r>
              <a:rPr sz="1050" b="1" i="0">
                <a:solidFill>
                  <a:srgbClr val="F4FFFA"/>
                </a:solidFill>
                <a:latin typeface="Avenir Next"/>
              </a:rPr>
              <a:t>Battery → loads</a:t>
            </a:r>
          </a:p>
        </p:txBody>
      </p:sp>
      <p:sp>
        <p:nvSpPr>
          <p:cNvPr id="57" name="TextBox 56"/>
          <p:cNvSpPr txBox="1"/>
          <p:nvPr/>
        </p:nvSpPr>
        <p:spPr>
          <a:xfrm>
            <a:off x="12134088" y="5541264"/>
            <a:ext cx="2971800" cy="457200"/>
          </a:xfrm>
          <a:prstGeom prst="rect">
            <a:avLst/>
          </a:prstGeom>
          <a:noFill/>
        </p:spPr>
        <p:txBody>
          <a:bodyPr wrap="square" lIns="18288" tIns="18288" rIns="18288" bIns="18288" anchor="t">
            <a:noAutofit/>
          </a:bodyPr>
          <a:lstStyle/>
          <a:p>
            <a:pPr algn="l">
              <a:lnSpc>
                <a:spcPct val="105000"/>
              </a:lnSpc>
              <a:spcAft>
                <a:spcPts val="0"/>
              </a:spcAft>
            </a:pPr>
            <a:r>
              <a:rPr sz="830" b="0" i="0">
                <a:solidFill>
                  <a:srgbClr val="ADC9BE"/>
                </a:solidFill>
                <a:latin typeface="Avenir Next"/>
              </a:rPr>
              <a:t>12 V bank · sensors · pump</a:t>
            </a:r>
          </a:p>
        </p:txBody>
      </p:sp>
      <p:sp>
        <p:nvSpPr>
          <p:cNvPr id="58" name="TextBox 57"/>
          <p:cNvSpPr txBox="1"/>
          <p:nvPr/>
        </p:nvSpPr>
        <p:spPr>
          <a:xfrm>
            <a:off x="9281160" y="6327648"/>
            <a:ext cx="7818120" cy="219456"/>
          </a:xfrm>
          <a:prstGeom prst="rect">
            <a:avLst/>
          </a:prstGeom>
          <a:noFill/>
        </p:spPr>
        <p:txBody>
          <a:bodyPr wrap="square" lIns="18288" tIns="18288" rIns="18288" bIns="18288" anchor="t">
            <a:noAutofit/>
          </a:bodyPr>
          <a:lstStyle/>
          <a:p>
            <a:pPr algn="l">
              <a:lnSpc>
                <a:spcPct val="105000"/>
              </a:lnSpc>
              <a:spcAft>
                <a:spcPts val="0"/>
              </a:spcAft>
            </a:pPr>
            <a:r>
              <a:rPr sz="819" b="0" i="0">
                <a:solidFill>
                  <a:srgbClr val="F5C451"/>
                </a:solidFill>
                <a:latin typeface="Avenir Next"/>
              </a:rPr>
              <a:t>INA219 #1 generation + #2 load → FastAPI → energy mode and advice</a:t>
            </a:r>
          </a:p>
        </p:txBody>
      </p:sp>
      <p:sp>
        <p:nvSpPr>
          <p:cNvPr id="59" name="Rounded Rectangle 58"/>
          <p:cNvSpPr/>
          <p:nvPr/>
        </p:nvSpPr>
        <p:spPr>
          <a:xfrm>
            <a:off x="1143000" y="6784848"/>
            <a:ext cx="15864840" cy="1024128"/>
          </a:xfrm>
          <a:prstGeom prst="roundRect">
            <a:avLst>
              <a:gd name="adj" fmla="val 8000"/>
            </a:avLst>
          </a:prstGeom>
          <a:solidFill>
            <a:srgbClr val="102C23"/>
          </a:solidFill>
          <a:ln w="10160">
            <a:solidFill>
              <a:srgbClr val="A6F26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0" name="TextBox 59"/>
          <p:cNvSpPr txBox="1"/>
          <p:nvPr/>
        </p:nvSpPr>
        <p:spPr>
          <a:xfrm>
            <a:off x="1417320" y="6931152"/>
            <a:ext cx="15270480" cy="329184"/>
          </a:xfrm>
          <a:prstGeom prst="rect">
            <a:avLst/>
          </a:prstGeom>
          <a:noFill/>
        </p:spPr>
        <p:txBody>
          <a:bodyPr wrap="square" lIns="18288" tIns="18288" rIns="18288" bIns="18288" anchor="t">
            <a:noAutofit/>
          </a:bodyPr>
          <a:lstStyle/>
          <a:p>
            <a:pPr algn="l">
              <a:lnSpc>
                <a:spcPct val="105000"/>
              </a:lnSpc>
              <a:spcAft>
                <a:spcPts val="0"/>
              </a:spcAft>
            </a:pPr>
            <a:r>
              <a:rPr sz="1180" b="1" i="0">
                <a:solidFill>
                  <a:srgbClr val="F4FFFA"/>
                </a:solidFill>
                <a:latin typeface="Avenir Next"/>
              </a:rPr>
              <a:t>Implemented in code: field ingest, trust gate, forecast, advice, monitoring and apps.</a:t>
            </a:r>
          </a:p>
        </p:txBody>
      </p:sp>
      <p:sp>
        <p:nvSpPr>
          <p:cNvPr id="61" name="TextBox 60"/>
          <p:cNvSpPr txBox="1"/>
          <p:nvPr/>
        </p:nvSpPr>
        <p:spPr>
          <a:xfrm>
            <a:off x="1417320" y="7296912"/>
            <a:ext cx="15270480" cy="329184"/>
          </a:xfrm>
          <a:prstGeom prst="rect">
            <a:avLst/>
          </a:prstGeom>
          <a:noFill/>
        </p:spPr>
        <p:txBody>
          <a:bodyPr wrap="square" lIns="18288" tIns="18288" rIns="18288" bIns="18288" anchor="t">
            <a:noAutofit/>
          </a:bodyPr>
          <a:lstStyle/>
          <a:p>
            <a:pPr algn="l">
              <a:lnSpc>
                <a:spcPct val="105000"/>
              </a:lnSpc>
              <a:spcAft>
                <a:spcPts val="0"/>
              </a:spcAft>
            </a:pPr>
            <a:r>
              <a:rPr sz="940" b="0" i="0">
                <a:solidFill>
                  <a:srgbClr val="ADC9BE"/>
                </a:solidFill>
                <a:latin typeface="Avenir Next"/>
              </a:rPr>
              <a:t>Proposed / supervised build: digester, gas cleaning, generator, charge controller and BMS. The code monitors; it does not control the physical energy plant.</a:t>
            </a:r>
          </a:p>
        </p:txBody>
      </p:sp>
      <p:sp>
        <p:nvSpPr>
          <p:cNvPr id="62" name="TextBox 61"/>
          <p:cNvSpPr txBox="1"/>
          <p:nvPr/>
        </p:nvSpPr>
        <p:spPr>
          <a:xfrm>
            <a:off x="4983480" y="9619488"/>
            <a:ext cx="5852160" cy="228600"/>
          </a:xfrm>
          <a:prstGeom prst="rect">
            <a:avLst/>
          </a:prstGeom>
          <a:noFill/>
        </p:spPr>
        <p:txBody>
          <a:bodyPr wrap="square" lIns="0" tIns="0" rIns="0" bIns="0" anchor="t">
            <a:noAutofit/>
          </a:bodyPr>
          <a:lstStyle/>
          <a:p>
            <a:pPr algn="l">
              <a:lnSpc>
                <a:spcPct val="105000"/>
              </a:lnSpc>
              <a:spcAft>
                <a:spcPts val="0"/>
              </a:spcAft>
            </a:pPr>
            <a:r>
              <a:rPr sz="819" b="0" i="0">
                <a:solidFill>
                  <a:srgbClr val="7CA091"/>
                </a:solidFill>
                <a:latin typeface="Avenir Next"/>
              </a:rPr>
              <a:t>TrustFarm  ·  INNOVA 2026  ·  ICBT</a:t>
            </a:r>
          </a:p>
        </p:txBody>
      </p:sp>
      <p:sp>
        <p:nvSpPr>
          <p:cNvPr id="63" name="TextBox 62"/>
          <p:cNvSpPr txBox="1"/>
          <p:nvPr/>
        </p:nvSpPr>
        <p:spPr>
          <a:xfrm>
            <a:off x="11018520" y="9619488"/>
            <a:ext cx="1234440" cy="228600"/>
          </a:xfrm>
          <a:prstGeom prst="rect">
            <a:avLst/>
          </a:prstGeom>
          <a:noFill/>
        </p:spPr>
        <p:txBody>
          <a:bodyPr wrap="square" lIns="0" tIns="0" rIns="0" bIns="0" anchor="t">
            <a:noAutofit/>
          </a:bodyPr>
          <a:lstStyle/>
          <a:p>
            <a:pPr algn="r">
              <a:lnSpc>
                <a:spcPct val="105000"/>
              </a:lnSpc>
              <a:spcAft>
                <a:spcPts val="0"/>
              </a:spcAft>
            </a:pPr>
            <a:r>
              <a:rPr sz="819" b="0" i="0">
                <a:solidFill>
                  <a:srgbClr val="7CA091"/>
                </a:solidFill>
                <a:latin typeface="Avenir Next"/>
              </a:rPr>
              <a:t>08 / 25</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1A1D1C"/>
        </a:solidFill>
        <a:effectLst/>
      </p:bgPr>
    </p:bg>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25192566" h="16800292">
                <a:moveTo>
                  <a:pt x="0" y="0"/>
                </a:moveTo>
                <a:lnTo>
                  <a:pt x="25192566" y="0"/>
                </a:lnTo>
                <a:lnTo>
                  <a:pt x="25192566" y="16800292"/>
                </a:lnTo>
                <a:lnTo>
                  <a:pt x="0" y="16800292"/>
                </a:lnTo>
                <a:lnTo>
                  <a:pt x="0" y="0"/>
                </a:lnTo>
                <a:close/>
              </a:path>
            </a:pathLst>
          </a:custGeom>
          <a:blipFill>
            <a:blip r:embed="rId3"/>
            <a:stretch>
              <a:fillRect/>
            </a:stretch>
          </a:blipFill>
        </p:spPr>
        <p:txBody>
          <a:bodyPr/>
          <a:lstStyle/>
          <a:p>
            <a:endParaRPr/>
          </a:p>
        </p:txBody>
      </p:sp>
      <p:sp>
        <p:nvSpPr>
          <p:cNvPr id="3" name="Freeform 3"/>
          <p:cNvSpPr/>
          <p:nvPr/>
        </p:nvSpPr>
        <p:spPr>
          <a:xfrm>
            <a:off x="12596283" y="8658721"/>
            <a:ext cx="6457129" cy="1628279"/>
          </a:xfrm>
          <a:custGeom>
            <a:avLst/>
            <a:gdLst/>
            <a:ahLst/>
            <a:cxnLst/>
            <a:rect l="l" t="t" r="r" b="b"/>
            <a:pathLst>
              <a:path w="6457129" h="1628279">
                <a:moveTo>
                  <a:pt x="0" y="0"/>
                </a:moveTo>
                <a:lnTo>
                  <a:pt x="6457129" y="0"/>
                </a:lnTo>
                <a:lnTo>
                  <a:pt x="6457129" y="1628279"/>
                </a:lnTo>
                <a:lnTo>
                  <a:pt x="0" y="1628279"/>
                </a:lnTo>
                <a:lnTo>
                  <a:pt x="0" y="0"/>
                </a:lnTo>
                <a:close/>
              </a:path>
            </a:pathLst>
          </a:custGeom>
          <a:blipFill>
            <a:blip r:embed="rId4"/>
            <a:stretch>
              <a:fillRect t="-85078" b="-85078"/>
            </a:stretch>
          </a:blipFill>
        </p:spPr>
        <p:txBody>
          <a:bodyPr/>
          <a:lstStyle/>
          <a:p>
            <a:endParaRPr/>
          </a:p>
        </p:txBody>
      </p:sp>
      <p:sp>
        <p:nvSpPr>
          <p:cNvPr id="4" name="Freeform 4"/>
          <p:cNvSpPr/>
          <p:nvPr/>
        </p:nvSpPr>
        <p:spPr>
          <a:xfrm>
            <a:off x="0" y="8072991"/>
            <a:ext cx="2839033" cy="2839033"/>
          </a:xfrm>
          <a:custGeom>
            <a:avLst/>
            <a:gdLst/>
            <a:ahLst/>
            <a:cxnLst/>
            <a:rect l="l" t="t" r="r" b="b"/>
            <a:pathLst>
              <a:path w="2839033" h="2839033">
                <a:moveTo>
                  <a:pt x="0" y="0"/>
                </a:moveTo>
                <a:lnTo>
                  <a:pt x="2839033" y="0"/>
                </a:lnTo>
                <a:lnTo>
                  <a:pt x="2839033" y="2839033"/>
                </a:lnTo>
                <a:lnTo>
                  <a:pt x="0" y="2839033"/>
                </a:lnTo>
                <a:lnTo>
                  <a:pt x="0" y="0"/>
                </a:lnTo>
                <a:close/>
              </a:path>
            </a:pathLst>
          </a:custGeom>
          <a:blipFill>
            <a:blip r:embed="rId5"/>
            <a:stretch>
              <a:fillRect/>
            </a:stretch>
          </a:blipFill>
        </p:spPr>
        <p:txBody>
          <a:bodyPr/>
          <a:lstStyle/>
          <a:p>
            <a:endParaRPr/>
          </a:p>
        </p:txBody>
      </p:sp>
      <p:sp>
        <p:nvSpPr>
          <p:cNvPr id="5" name="TextBox 4"/>
          <p:cNvSpPr txBox="1"/>
          <p:nvPr/>
        </p:nvSpPr>
        <p:spPr>
          <a:xfrm>
            <a:off x="1143000" y="841248"/>
            <a:ext cx="10972800" cy="292608"/>
          </a:xfrm>
          <a:prstGeom prst="rect">
            <a:avLst/>
          </a:prstGeom>
          <a:noFill/>
        </p:spPr>
        <p:txBody>
          <a:bodyPr wrap="square" lIns="0" tIns="0" rIns="0" bIns="0" anchor="t">
            <a:noAutofit/>
          </a:bodyPr>
          <a:lstStyle/>
          <a:p>
            <a:pPr algn="l">
              <a:lnSpc>
                <a:spcPct val="105000"/>
              </a:lnSpc>
              <a:spcAft>
                <a:spcPts val="0"/>
              </a:spcAft>
            </a:pPr>
            <a:r>
              <a:rPr sz="1000" b="1" i="0">
                <a:solidFill>
                  <a:srgbClr val="A6F26B"/>
                </a:solidFill>
                <a:latin typeface="Avenir Next"/>
              </a:rPr>
              <a:t>TRUST ENGINE</a:t>
            </a:r>
          </a:p>
        </p:txBody>
      </p:sp>
      <p:sp>
        <p:nvSpPr>
          <p:cNvPr id="6" name="TextBox 5"/>
          <p:cNvSpPr txBox="1"/>
          <p:nvPr/>
        </p:nvSpPr>
        <p:spPr>
          <a:xfrm>
            <a:off x="1097280" y="1124712"/>
            <a:ext cx="13075920" cy="676656"/>
          </a:xfrm>
          <a:prstGeom prst="rect">
            <a:avLst/>
          </a:prstGeom>
          <a:noFill/>
        </p:spPr>
        <p:txBody>
          <a:bodyPr wrap="square" lIns="0" tIns="0" rIns="0" bIns="0" anchor="t">
            <a:noAutofit/>
          </a:bodyPr>
          <a:lstStyle/>
          <a:p>
            <a:pPr algn="l">
              <a:lnSpc>
                <a:spcPct val="98000"/>
              </a:lnSpc>
              <a:spcAft>
                <a:spcPts val="0"/>
              </a:spcAft>
            </a:pPr>
            <a:r>
              <a:rPr sz="3300" b="1" i="0">
                <a:solidFill>
                  <a:srgbClr val="F4FFFA"/>
                </a:solidFill>
                <a:latin typeface="Avenir Next"/>
              </a:rPr>
              <a:t>Check the data before the model.</a:t>
            </a:r>
          </a:p>
        </p:txBody>
      </p:sp>
      <p:sp>
        <p:nvSpPr>
          <p:cNvPr id="7" name="TextBox 6"/>
          <p:cNvSpPr txBox="1"/>
          <p:nvPr/>
        </p:nvSpPr>
        <p:spPr>
          <a:xfrm>
            <a:off x="1143000" y="1865376"/>
            <a:ext cx="13258800" cy="502920"/>
          </a:xfrm>
          <a:prstGeom prst="rect">
            <a:avLst/>
          </a:prstGeom>
          <a:noFill/>
        </p:spPr>
        <p:txBody>
          <a:bodyPr wrap="square" lIns="0" tIns="0" rIns="0" bIns="0" anchor="t">
            <a:noAutofit/>
          </a:bodyPr>
          <a:lstStyle/>
          <a:p>
            <a:pPr algn="l">
              <a:lnSpc>
                <a:spcPct val="110000"/>
              </a:lnSpc>
              <a:spcAft>
                <a:spcPts val="0"/>
              </a:spcAft>
            </a:pPr>
            <a:r>
              <a:rPr sz="1400" b="0" i="0">
                <a:solidFill>
                  <a:srgbClr val="ADC9BE"/>
                </a:solidFill>
                <a:latin typeface="Avenir Next"/>
              </a:rPr>
              <a:t>Three layers of checks produce a 0–100 trust score and a Green / Amber / Red decision.</a:t>
            </a:r>
          </a:p>
        </p:txBody>
      </p:sp>
      <p:sp>
        <p:nvSpPr>
          <p:cNvPr id="8" name="Rectangle 7"/>
          <p:cNvSpPr/>
          <p:nvPr/>
        </p:nvSpPr>
        <p:spPr>
          <a:xfrm>
            <a:off x="1143000" y="2542032"/>
            <a:ext cx="1143000" cy="41148"/>
          </a:xfrm>
          <a:prstGeom prst="rect">
            <a:avLst/>
          </a:prstGeom>
          <a:solidFill>
            <a:srgbClr val="A6F2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ounded Rectangle 8"/>
          <p:cNvSpPr/>
          <p:nvPr/>
        </p:nvSpPr>
        <p:spPr>
          <a:xfrm>
            <a:off x="14127480" y="1143000"/>
            <a:ext cx="3017520" cy="347472"/>
          </a:xfrm>
          <a:prstGeom prst="roundRect">
            <a:avLst>
              <a:gd name="adj" fmla="val 50000"/>
            </a:avLst>
          </a:prstGeom>
          <a:solidFill>
            <a:srgbClr val="0A221B"/>
          </a:solidFill>
          <a:ln w="8890">
            <a:solidFill>
              <a:srgbClr val="A6F26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14164055" y="1161288"/>
            <a:ext cx="2944368" cy="310896"/>
          </a:xfrm>
          <a:prstGeom prst="rect">
            <a:avLst/>
          </a:prstGeom>
          <a:noFill/>
        </p:spPr>
        <p:txBody>
          <a:bodyPr wrap="square" lIns="9144" tIns="0" rIns="9144" bIns="0" anchor="ctr">
            <a:noAutofit/>
          </a:bodyPr>
          <a:lstStyle/>
          <a:p>
            <a:pPr algn="ctr">
              <a:lnSpc>
                <a:spcPct val="105000"/>
              </a:lnSpc>
              <a:spcAft>
                <a:spcPts val="0"/>
              </a:spcAft>
            </a:pPr>
            <a:r>
              <a:rPr sz="819" b="1" i="0">
                <a:solidFill>
                  <a:srgbClr val="A6F26B"/>
                </a:solidFill>
                <a:latin typeface="Avenir Next"/>
              </a:rPr>
              <a:t>IMPLEMENTED</a:t>
            </a:r>
          </a:p>
        </p:txBody>
      </p:sp>
      <p:sp>
        <p:nvSpPr>
          <p:cNvPr id="11" name="Rounded Rectangle 10"/>
          <p:cNvSpPr/>
          <p:nvPr/>
        </p:nvSpPr>
        <p:spPr>
          <a:xfrm>
            <a:off x="1143000" y="2788920"/>
            <a:ext cx="8458200" cy="5074920"/>
          </a:xfrm>
          <a:prstGeom prst="roundRect">
            <a:avLst>
              <a:gd name="adj" fmla="val 8000"/>
            </a:avLst>
          </a:prstGeom>
          <a:solidFill>
            <a:srgbClr val="071813"/>
          </a:solidFill>
          <a:ln w="10160">
            <a:solidFill>
              <a:srgbClr val="2C5A4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Oval 11"/>
          <p:cNvSpPr/>
          <p:nvPr/>
        </p:nvSpPr>
        <p:spPr>
          <a:xfrm>
            <a:off x="1389888" y="3063240"/>
            <a:ext cx="530352" cy="530352"/>
          </a:xfrm>
          <a:prstGeom prst="ellipse">
            <a:avLst/>
          </a:prstGeom>
          <a:solidFill>
            <a:srgbClr val="102C23"/>
          </a:solidFill>
          <a:ln w="12700">
            <a:solidFill>
              <a:srgbClr val="59D7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1389888" y="3054096"/>
            <a:ext cx="530352" cy="530352"/>
          </a:xfrm>
          <a:prstGeom prst="rect">
            <a:avLst/>
          </a:prstGeom>
          <a:noFill/>
        </p:spPr>
        <p:txBody>
          <a:bodyPr wrap="square" lIns="0" tIns="0" rIns="0" bIns="0" anchor="ctr">
            <a:noAutofit/>
          </a:bodyPr>
          <a:lstStyle/>
          <a:p>
            <a:pPr algn="ctr">
              <a:lnSpc>
                <a:spcPct val="105000"/>
              </a:lnSpc>
              <a:spcAft>
                <a:spcPts val="0"/>
              </a:spcAft>
            </a:pPr>
            <a:r>
              <a:rPr sz="1150" b="1" i="0">
                <a:solidFill>
                  <a:srgbClr val="59D7F0"/>
                </a:solidFill>
                <a:latin typeface="Avenir Next"/>
              </a:rPr>
              <a:t>01</a:t>
            </a:r>
          </a:p>
        </p:txBody>
      </p:sp>
      <p:sp>
        <p:nvSpPr>
          <p:cNvPr id="14" name="TextBox 13"/>
          <p:cNvSpPr txBox="1"/>
          <p:nvPr/>
        </p:nvSpPr>
        <p:spPr>
          <a:xfrm>
            <a:off x="2103120" y="3044952"/>
            <a:ext cx="7040880" cy="274320"/>
          </a:xfrm>
          <a:prstGeom prst="rect">
            <a:avLst/>
          </a:prstGeom>
          <a:noFill/>
        </p:spPr>
        <p:txBody>
          <a:bodyPr wrap="square" lIns="18288" tIns="18288" rIns="18288" bIns="18288" anchor="t">
            <a:noAutofit/>
          </a:bodyPr>
          <a:lstStyle/>
          <a:p>
            <a:pPr algn="l">
              <a:lnSpc>
                <a:spcPct val="105000"/>
              </a:lnSpc>
              <a:spcAft>
                <a:spcPts val="0"/>
              </a:spcAft>
            </a:pPr>
            <a:r>
              <a:rPr sz="1350" b="1" i="0">
                <a:solidFill>
                  <a:srgbClr val="F4FFFA"/>
                </a:solidFill>
                <a:latin typeface="Avenir Next"/>
              </a:rPr>
              <a:t>Basic integrity</a:t>
            </a:r>
          </a:p>
        </p:txBody>
      </p:sp>
      <p:sp>
        <p:nvSpPr>
          <p:cNvPr id="15" name="TextBox 14"/>
          <p:cNvSpPr txBox="1"/>
          <p:nvPr/>
        </p:nvSpPr>
        <p:spPr>
          <a:xfrm>
            <a:off x="2103120" y="3374136"/>
            <a:ext cx="7132320" cy="713232"/>
          </a:xfrm>
          <a:prstGeom prst="rect">
            <a:avLst/>
          </a:prstGeom>
          <a:noFill/>
        </p:spPr>
        <p:txBody>
          <a:bodyPr wrap="square" lIns="18288" tIns="18288" rIns="18288" bIns="18288" anchor="t">
            <a:noAutofit/>
          </a:bodyPr>
          <a:lstStyle/>
          <a:p>
            <a:pPr algn="l">
              <a:lnSpc>
                <a:spcPct val="110000"/>
              </a:lnSpc>
              <a:spcAft>
                <a:spcPts val="0"/>
              </a:spcAft>
            </a:pPr>
            <a:r>
              <a:rPr sz="1060" b="0" i="0">
                <a:solidFill>
                  <a:srgbClr val="ADC9BE"/>
                </a:solidFill>
                <a:latin typeface="Avenir Next"/>
              </a:rPr>
              <a:t>Missing values · impossible range · stale &gt; 15 min · stuck for 12 readings · jump &gt; 15 points.</a:t>
            </a:r>
          </a:p>
        </p:txBody>
      </p:sp>
      <p:sp>
        <p:nvSpPr>
          <p:cNvPr id="16" name="Oval 15"/>
          <p:cNvSpPr/>
          <p:nvPr/>
        </p:nvSpPr>
        <p:spPr>
          <a:xfrm>
            <a:off x="1389888" y="4480560"/>
            <a:ext cx="530352" cy="530352"/>
          </a:xfrm>
          <a:prstGeom prst="ellipse">
            <a:avLst/>
          </a:prstGeom>
          <a:solidFill>
            <a:srgbClr val="102C23"/>
          </a:solidFill>
          <a:ln w="12700">
            <a:solidFill>
              <a:srgbClr val="59D7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1389888" y="4471416"/>
            <a:ext cx="530352" cy="530352"/>
          </a:xfrm>
          <a:prstGeom prst="rect">
            <a:avLst/>
          </a:prstGeom>
          <a:noFill/>
        </p:spPr>
        <p:txBody>
          <a:bodyPr wrap="square" lIns="0" tIns="0" rIns="0" bIns="0" anchor="ctr">
            <a:noAutofit/>
          </a:bodyPr>
          <a:lstStyle/>
          <a:p>
            <a:pPr algn="ctr">
              <a:lnSpc>
                <a:spcPct val="105000"/>
              </a:lnSpc>
              <a:spcAft>
                <a:spcPts val="0"/>
              </a:spcAft>
            </a:pPr>
            <a:r>
              <a:rPr sz="1150" b="1" i="0">
                <a:solidFill>
                  <a:srgbClr val="59D7F0"/>
                </a:solidFill>
                <a:latin typeface="Avenir Next"/>
              </a:rPr>
              <a:t>02</a:t>
            </a:r>
          </a:p>
        </p:txBody>
      </p:sp>
      <p:sp>
        <p:nvSpPr>
          <p:cNvPr id="18" name="TextBox 17"/>
          <p:cNvSpPr txBox="1"/>
          <p:nvPr/>
        </p:nvSpPr>
        <p:spPr>
          <a:xfrm>
            <a:off x="2103120" y="4462272"/>
            <a:ext cx="7040880" cy="274320"/>
          </a:xfrm>
          <a:prstGeom prst="rect">
            <a:avLst/>
          </a:prstGeom>
          <a:noFill/>
        </p:spPr>
        <p:txBody>
          <a:bodyPr wrap="square" lIns="18288" tIns="18288" rIns="18288" bIns="18288" anchor="t">
            <a:noAutofit/>
          </a:bodyPr>
          <a:lstStyle/>
          <a:p>
            <a:pPr algn="l">
              <a:lnSpc>
                <a:spcPct val="105000"/>
              </a:lnSpc>
              <a:spcAft>
                <a:spcPts val="0"/>
              </a:spcAft>
            </a:pPr>
            <a:r>
              <a:rPr sz="1350" b="1" i="0">
                <a:solidFill>
                  <a:srgbClr val="F4FFFA"/>
                </a:solidFill>
                <a:latin typeface="Avenir Next"/>
              </a:rPr>
              <a:t>Cross-sensor checks</a:t>
            </a:r>
          </a:p>
        </p:txBody>
      </p:sp>
      <p:sp>
        <p:nvSpPr>
          <p:cNvPr id="19" name="TextBox 18"/>
          <p:cNvSpPr txBox="1"/>
          <p:nvPr/>
        </p:nvSpPr>
        <p:spPr>
          <a:xfrm>
            <a:off x="2103120" y="4791456"/>
            <a:ext cx="7132320" cy="713232"/>
          </a:xfrm>
          <a:prstGeom prst="rect">
            <a:avLst/>
          </a:prstGeom>
          <a:noFill/>
        </p:spPr>
        <p:txBody>
          <a:bodyPr wrap="square" lIns="18288" tIns="18288" rIns="18288" bIns="18288" anchor="t">
            <a:noAutofit/>
          </a:bodyPr>
          <a:lstStyle/>
          <a:p>
            <a:pPr algn="l">
              <a:lnSpc>
                <a:spcPct val="110000"/>
              </a:lnSpc>
              <a:spcAft>
                <a:spcPts val="0"/>
              </a:spcAft>
            </a:pPr>
            <a:r>
              <a:rPr sz="1060" b="0" i="0">
                <a:solidFill>
                  <a:srgbClr val="ADC9BE"/>
                </a:solidFill>
                <a:latin typeface="Avenir Next"/>
              </a:rPr>
              <a:t>Two probes disagree by &gt; 15 (warn) or &gt; 25 (major) · soil falls while rain is detected.</a:t>
            </a:r>
          </a:p>
        </p:txBody>
      </p:sp>
      <p:sp>
        <p:nvSpPr>
          <p:cNvPr id="20" name="Oval 19"/>
          <p:cNvSpPr/>
          <p:nvPr/>
        </p:nvSpPr>
        <p:spPr>
          <a:xfrm>
            <a:off x="1389888" y="5897880"/>
            <a:ext cx="530352" cy="530352"/>
          </a:xfrm>
          <a:prstGeom prst="ellipse">
            <a:avLst/>
          </a:prstGeom>
          <a:solidFill>
            <a:srgbClr val="102C23"/>
          </a:solidFill>
          <a:ln w="12700">
            <a:solidFill>
              <a:srgbClr val="59D7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1389888" y="5888736"/>
            <a:ext cx="530352" cy="530352"/>
          </a:xfrm>
          <a:prstGeom prst="rect">
            <a:avLst/>
          </a:prstGeom>
          <a:noFill/>
        </p:spPr>
        <p:txBody>
          <a:bodyPr wrap="square" lIns="0" tIns="0" rIns="0" bIns="0" anchor="ctr">
            <a:noAutofit/>
          </a:bodyPr>
          <a:lstStyle/>
          <a:p>
            <a:pPr algn="ctr">
              <a:lnSpc>
                <a:spcPct val="105000"/>
              </a:lnSpc>
              <a:spcAft>
                <a:spcPts val="0"/>
              </a:spcAft>
            </a:pPr>
            <a:r>
              <a:rPr sz="1150" b="1" i="0">
                <a:solidFill>
                  <a:srgbClr val="59D7F0"/>
                </a:solidFill>
                <a:latin typeface="Avenir Next"/>
              </a:rPr>
              <a:t>03</a:t>
            </a:r>
          </a:p>
        </p:txBody>
      </p:sp>
      <p:sp>
        <p:nvSpPr>
          <p:cNvPr id="22" name="TextBox 21"/>
          <p:cNvSpPr txBox="1"/>
          <p:nvPr/>
        </p:nvSpPr>
        <p:spPr>
          <a:xfrm>
            <a:off x="2103120" y="5879592"/>
            <a:ext cx="7040880" cy="274320"/>
          </a:xfrm>
          <a:prstGeom prst="rect">
            <a:avLst/>
          </a:prstGeom>
          <a:noFill/>
        </p:spPr>
        <p:txBody>
          <a:bodyPr wrap="square" lIns="18288" tIns="18288" rIns="18288" bIns="18288" anchor="t">
            <a:noAutofit/>
          </a:bodyPr>
          <a:lstStyle/>
          <a:p>
            <a:pPr algn="l">
              <a:lnSpc>
                <a:spcPct val="105000"/>
              </a:lnSpc>
              <a:spcAft>
                <a:spcPts val="0"/>
              </a:spcAft>
            </a:pPr>
            <a:r>
              <a:rPr sz="1350" b="1" i="0">
                <a:solidFill>
                  <a:srgbClr val="F4FFFA"/>
                </a:solidFill>
                <a:latin typeface="Avenir Next"/>
              </a:rPr>
              <a:t>Learned anomaly</a:t>
            </a:r>
          </a:p>
        </p:txBody>
      </p:sp>
      <p:sp>
        <p:nvSpPr>
          <p:cNvPr id="23" name="TextBox 22"/>
          <p:cNvSpPr txBox="1"/>
          <p:nvPr/>
        </p:nvSpPr>
        <p:spPr>
          <a:xfrm>
            <a:off x="2103120" y="6208776"/>
            <a:ext cx="7132320" cy="713232"/>
          </a:xfrm>
          <a:prstGeom prst="rect">
            <a:avLst/>
          </a:prstGeom>
          <a:noFill/>
        </p:spPr>
        <p:txBody>
          <a:bodyPr wrap="square" lIns="18288" tIns="18288" rIns="18288" bIns="18288" anchor="t">
            <a:noAutofit/>
          </a:bodyPr>
          <a:lstStyle/>
          <a:p>
            <a:pPr algn="l">
              <a:lnSpc>
                <a:spcPct val="110000"/>
              </a:lnSpc>
              <a:spcAft>
                <a:spcPts val="0"/>
              </a:spcAft>
            </a:pPr>
            <a:r>
              <a:rPr sz="1060" b="0" i="0">
                <a:solidFill>
                  <a:srgbClr val="ADC9BE"/>
                </a:solidFill>
                <a:latin typeface="Avenir Next"/>
              </a:rPr>
              <a:t>Isolation Forest scores the latest 5-minute window against normal behaviour.</a:t>
            </a:r>
          </a:p>
        </p:txBody>
      </p:sp>
      <p:sp>
        <p:nvSpPr>
          <p:cNvPr id="24" name="TextBox 23"/>
          <p:cNvSpPr txBox="1"/>
          <p:nvPr/>
        </p:nvSpPr>
        <p:spPr>
          <a:xfrm>
            <a:off x="1417320" y="7333488"/>
            <a:ext cx="7818120" cy="256032"/>
          </a:xfrm>
          <a:prstGeom prst="rect">
            <a:avLst/>
          </a:prstGeom>
          <a:noFill/>
        </p:spPr>
        <p:txBody>
          <a:bodyPr wrap="square" lIns="18288" tIns="18288" rIns="18288" bIns="18288" anchor="t">
            <a:noAutofit/>
          </a:bodyPr>
          <a:lstStyle/>
          <a:p>
            <a:pPr algn="l">
              <a:lnSpc>
                <a:spcPct val="105000"/>
              </a:lnSpc>
              <a:spcAft>
                <a:spcPts val="0"/>
              </a:spcAft>
            </a:pPr>
            <a:r>
              <a:rPr sz="960" b="1" i="0">
                <a:solidFill>
                  <a:srgbClr val="A6F26B"/>
                </a:solidFill>
                <a:latin typeface="Avenir Next"/>
              </a:rPr>
              <a:t>Penalties add up. The lowest score decides the level.</a:t>
            </a:r>
          </a:p>
        </p:txBody>
      </p:sp>
      <p:sp>
        <p:nvSpPr>
          <p:cNvPr id="25" name="Rounded Rectangle 24"/>
          <p:cNvSpPr/>
          <p:nvPr/>
        </p:nvSpPr>
        <p:spPr>
          <a:xfrm>
            <a:off x="9921240" y="2788920"/>
            <a:ext cx="7086600" cy="5074920"/>
          </a:xfrm>
          <a:prstGeom prst="roundRect">
            <a:avLst>
              <a:gd name="adj" fmla="val 8000"/>
            </a:avLst>
          </a:prstGeom>
          <a:solidFill>
            <a:srgbClr val="0A221B"/>
          </a:solidFill>
          <a:ln w="10160">
            <a:solidFill>
              <a:srgbClr val="2C5A4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Box 25"/>
          <p:cNvSpPr txBox="1"/>
          <p:nvPr/>
        </p:nvSpPr>
        <p:spPr>
          <a:xfrm>
            <a:off x="10195560" y="2999232"/>
            <a:ext cx="6492240" cy="292608"/>
          </a:xfrm>
          <a:prstGeom prst="rect">
            <a:avLst/>
          </a:prstGeom>
          <a:noFill/>
        </p:spPr>
        <p:txBody>
          <a:bodyPr wrap="square" lIns="18288" tIns="18288" rIns="18288" bIns="18288" anchor="t">
            <a:noAutofit/>
          </a:bodyPr>
          <a:lstStyle/>
          <a:p>
            <a:pPr algn="l">
              <a:lnSpc>
                <a:spcPct val="105000"/>
              </a:lnSpc>
              <a:spcAft>
                <a:spcPts val="0"/>
              </a:spcAft>
            </a:pPr>
            <a:r>
              <a:rPr sz="1350" b="1" i="0">
                <a:solidFill>
                  <a:srgbClr val="A6F26B"/>
                </a:solidFill>
                <a:latin typeface="Menlo"/>
              </a:rPr>
              <a:t>score  =  100  −  penalties</a:t>
            </a:r>
          </a:p>
        </p:txBody>
      </p:sp>
      <p:sp>
        <p:nvSpPr>
          <p:cNvPr id="27" name="Rounded Rectangle 26"/>
          <p:cNvSpPr/>
          <p:nvPr/>
        </p:nvSpPr>
        <p:spPr>
          <a:xfrm>
            <a:off x="10195560" y="3529584"/>
            <a:ext cx="1097280" cy="310896"/>
          </a:xfrm>
          <a:prstGeom prst="roundRect">
            <a:avLst>
              <a:gd name="adj" fmla="val 50000"/>
            </a:avLst>
          </a:prstGeom>
          <a:solidFill>
            <a:srgbClr val="0A221B"/>
          </a:solidFill>
          <a:ln w="8890">
            <a:solidFill>
              <a:srgbClr val="A6F26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TextBox 27"/>
          <p:cNvSpPr txBox="1"/>
          <p:nvPr/>
        </p:nvSpPr>
        <p:spPr>
          <a:xfrm>
            <a:off x="10232136" y="3547872"/>
            <a:ext cx="1024127" cy="274320"/>
          </a:xfrm>
          <a:prstGeom prst="rect">
            <a:avLst/>
          </a:prstGeom>
          <a:noFill/>
        </p:spPr>
        <p:txBody>
          <a:bodyPr wrap="square" lIns="9144" tIns="0" rIns="9144" bIns="0" anchor="ctr">
            <a:noAutofit/>
          </a:bodyPr>
          <a:lstStyle/>
          <a:p>
            <a:pPr algn="ctr">
              <a:lnSpc>
                <a:spcPct val="105000"/>
              </a:lnSpc>
              <a:spcAft>
                <a:spcPts val="0"/>
              </a:spcAft>
            </a:pPr>
            <a:r>
              <a:rPr sz="760" b="1" i="0">
                <a:solidFill>
                  <a:srgbClr val="A6F26B"/>
                </a:solidFill>
                <a:latin typeface="Avenir Next"/>
              </a:rPr>
              <a:t>GREEN</a:t>
            </a:r>
          </a:p>
        </p:txBody>
      </p:sp>
      <p:sp>
        <p:nvSpPr>
          <p:cNvPr id="29" name="TextBox 28"/>
          <p:cNvSpPr txBox="1"/>
          <p:nvPr/>
        </p:nvSpPr>
        <p:spPr>
          <a:xfrm>
            <a:off x="11475720" y="3511296"/>
            <a:ext cx="868680" cy="274320"/>
          </a:xfrm>
          <a:prstGeom prst="rect">
            <a:avLst/>
          </a:prstGeom>
          <a:noFill/>
        </p:spPr>
        <p:txBody>
          <a:bodyPr wrap="square" lIns="18288" tIns="18288" rIns="18288" bIns="18288" anchor="t">
            <a:noAutofit/>
          </a:bodyPr>
          <a:lstStyle/>
          <a:p>
            <a:pPr algn="l">
              <a:lnSpc>
                <a:spcPct val="105000"/>
              </a:lnSpc>
              <a:spcAft>
                <a:spcPts val="0"/>
              </a:spcAft>
            </a:pPr>
            <a:r>
              <a:rPr sz="1300" b="1" i="0">
                <a:solidFill>
                  <a:srgbClr val="A6F26B"/>
                </a:solidFill>
                <a:latin typeface="Avenir Next"/>
              </a:rPr>
              <a:t>≥ 80</a:t>
            </a:r>
          </a:p>
        </p:txBody>
      </p:sp>
      <p:sp>
        <p:nvSpPr>
          <p:cNvPr id="30" name="TextBox 29"/>
          <p:cNvSpPr txBox="1"/>
          <p:nvPr/>
        </p:nvSpPr>
        <p:spPr>
          <a:xfrm>
            <a:off x="12390120" y="3511296"/>
            <a:ext cx="4251960" cy="530352"/>
          </a:xfrm>
          <a:prstGeom prst="rect">
            <a:avLst/>
          </a:prstGeom>
          <a:noFill/>
        </p:spPr>
        <p:txBody>
          <a:bodyPr wrap="square" lIns="18288" tIns="18288" rIns="18288" bIns="18288" anchor="t">
            <a:noAutofit/>
          </a:bodyPr>
          <a:lstStyle/>
          <a:p>
            <a:pPr algn="l">
              <a:lnSpc>
                <a:spcPct val="105000"/>
              </a:lnSpc>
              <a:spcAft>
                <a:spcPts val="0"/>
              </a:spcAft>
            </a:pPr>
            <a:r>
              <a:rPr sz="980" b="0" i="0">
                <a:solidFill>
                  <a:srgbClr val="ADC9BE"/>
                </a:solidFill>
                <a:latin typeface="Avenir Next"/>
              </a:rPr>
              <a:t>Advice allowed</a:t>
            </a:r>
          </a:p>
        </p:txBody>
      </p:sp>
      <p:sp>
        <p:nvSpPr>
          <p:cNvPr id="31" name="Rounded Rectangle 30"/>
          <p:cNvSpPr/>
          <p:nvPr/>
        </p:nvSpPr>
        <p:spPr>
          <a:xfrm>
            <a:off x="10195560" y="4608576"/>
            <a:ext cx="1097280" cy="310896"/>
          </a:xfrm>
          <a:prstGeom prst="roundRect">
            <a:avLst>
              <a:gd name="adj" fmla="val 50000"/>
            </a:avLst>
          </a:prstGeom>
          <a:solidFill>
            <a:srgbClr val="0A221B"/>
          </a:solidFill>
          <a:ln w="8890">
            <a:solidFill>
              <a:srgbClr val="F0B42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TextBox 31"/>
          <p:cNvSpPr txBox="1"/>
          <p:nvPr/>
        </p:nvSpPr>
        <p:spPr>
          <a:xfrm>
            <a:off x="10232136" y="4626864"/>
            <a:ext cx="1024127" cy="274320"/>
          </a:xfrm>
          <a:prstGeom prst="rect">
            <a:avLst/>
          </a:prstGeom>
          <a:noFill/>
        </p:spPr>
        <p:txBody>
          <a:bodyPr wrap="square" lIns="9144" tIns="0" rIns="9144" bIns="0" anchor="ctr">
            <a:noAutofit/>
          </a:bodyPr>
          <a:lstStyle/>
          <a:p>
            <a:pPr algn="ctr">
              <a:lnSpc>
                <a:spcPct val="105000"/>
              </a:lnSpc>
              <a:spcAft>
                <a:spcPts val="0"/>
              </a:spcAft>
            </a:pPr>
            <a:r>
              <a:rPr sz="760" b="1" i="0">
                <a:solidFill>
                  <a:srgbClr val="F0B429"/>
                </a:solidFill>
                <a:latin typeface="Avenir Next"/>
              </a:rPr>
              <a:t>AMBER</a:t>
            </a:r>
          </a:p>
        </p:txBody>
      </p:sp>
      <p:sp>
        <p:nvSpPr>
          <p:cNvPr id="33" name="TextBox 32"/>
          <p:cNvSpPr txBox="1"/>
          <p:nvPr/>
        </p:nvSpPr>
        <p:spPr>
          <a:xfrm>
            <a:off x="11475720" y="4590288"/>
            <a:ext cx="868680" cy="274320"/>
          </a:xfrm>
          <a:prstGeom prst="rect">
            <a:avLst/>
          </a:prstGeom>
          <a:noFill/>
        </p:spPr>
        <p:txBody>
          <a:bodyPr wrap="square" lIns="18288" tIns="18288" rIns="18288" bIns="18288" anchor="t">
            <a:noAutofit/>
          </a:bodyPr>
          <a:lstStyle/>
          <a:p>
            <a:pPr algn="l">
              <a:lnSpc>
                <a:spcPct val="105000"/>
              </a:lnSpc>
              <a:spcAft>
                <a:spcPts val="0"/>
              </a:spcAft>
            </a:pPr>
            <a:r>
              <a:rPr sz="1300" b="1" i="0">
                <a:solidFill>
                  <a:srgbClr val="F0B429"/>
                </a:solidFill>
                <a:latin typeface="Avenir Next"/>
              </a:rPr>
              <a:t>50–79</a:t>
            </a:r>
          </a:p>
        </p:txBody>
      </p:sp>
      <p:sp>
        <p:nvSpPr>
          <p:cNvPr id="34" name="TextBox 33"/>
          <p:cNvSpPr txBox="1"/>
          <p:nvPr/>
        </p:nvSpPr>
        <p:spPr>
          <a:xfrm>
            <a:off x="12390120" y="4590288"/>
            <a:ext cx="4251960" cy="530352"/>
          </a:xfrm>
          <a:prstGeom prst="rect">
            <a:avLst/>
          </a:prstGeom>
          <a:noFill/>
        </p:spPr>
        <p:txBody>
          <a:bodyPr wrap="square" lIns="18288" tIns="18288" rIns="18288" bIns="18288" anchor="t">
            <a:noAutofit/>
          </a:bodyPr>
          <a:lstStyle/>
          <a:p>
            <a:pPr algn="l">
              <a:lnSpc>
                <a:spcPct val="105000"/>
              </a:lnSpc>
              <a:spcAft>
                <a:spcPts val="0"/>
              </a:spcAft>
            </a:pPr>
            <a:r>
              <a:rPr sz="980" b="0" i="0">
                <a:solidFill>
                  <a:srgbClr val="ADC9BE"/>
                </a:solidFill>
                <a:latin typeface="Avenir Next"/>
              </a:rPr>
              <a:t>Predict, but ask for a manual check; no automatic irrigation</a:t>
            </a:r>
          </a:p>
        </p:txBody>
      </p:sp>
      <p:sp>
        <p:nvSpPr>
          <p:cNvPr id="35" name="Rounded Rectangle 34"/>
          <p:cNvSpPr/>
          <p:nvPr/>
        </p:nvSpPr>
        <p:spPr>
          <a:xfrm>
            <a:off x="10195560" y="5687568"/>
            <a:ext cx="1097280" cy="310896"/>
          </a:xfrm>
          <a:prstGeom prst="roundRect">
            <a:avLst>
              <a:gd name="adj" fmla="val 50000"/>
            </a:avLst>
          </a:prstGeom>
          <a:solidFill>
            <a:srgbClr val="0A221B"/>
          </a:solidFill>
          <a:ln w="8890">
            <a:solidFill>
              <a:srgbClr val="F26B6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 name="TextBox 35"/>
          <p:cNvSpPr txBox="1"/>
          <p:nvPr/>
        </p:nvSpPr>
        <p:spPr>
          <a:xfrm>
            <a:off x="10232136" y="5705855"/>
            <a:ext cx="1024127" cy="274320"/>
          </a:xfrm>
          <a:prstGeom prst="rect">
            <a:avLst/>
          </a:prstGeom>
          <a:noFill/>
        </p:spPr>
        <p:txBody>
          <a:bodyPr wrap="square" lIns="9144" tIns="0" rIns="9144" bIns="0" anchor="ctr">
            <a:noAutofit/>
          </a:bodyPr>
          <a:lstStyle/>
          <a:p>
            <a:pPr algn="ctr">
              <a:lnSpc>
                <a:spcPct val="105000"/>
              </a:lnSpc>
              <a:spcAft>
                <a:spcPts val="0"/>
              </a:spcAft>
            </a:pPr>
            <a:r>
              <a:rPr sz="760" b="1" i="0">
                <a:solidFill>
                  <a:srgbClr val="F26B6B"/>
                </a:solidFill>
                <a:latin typeface="Avenir Next"/>
              </a:rPr>
              <a:t>RED</a:t>
            </a:r>
          </a:p>
        </p:txBody>
      </p:sp>
      <p:sp>
        <p:nvSpPr>
          <p:cNvPr id="37" name="TextBox 36"/>
          <p:cNvSpPr txBox="1"/>
          <p:nvPr/>
        </p:nvSpPr>
        <p:spPr>
          <a:xfrm>
            <a:off x="11475720" y="5669280"/>
            <a:ext cx="868680" cy="274320"/>
          </a:xfrm>
          <a:prstGeom prst="rect">
            <a:avLst/>
          </a:prstGeom>
          <a:noFill/>
        </p:spPr>
        <p:txBody>
          <a:bodyPr wrap="square" lIns="18288" tIns="18288" rIns="18288" bIns="18288" anchor="t">
            <a:noAutofit/>
          </a:bodyPr>
          <a:lstStyle/>
          <a:p>
            <a:pPr algn="l">
              <a:lnSpc>
                <a:spcPct val="105000"/>
              </a:lnSpc>
              <a:spcAft>
                <a:spcPts val="0"/>
              </a:spcAft>
            </a:pPr>
            <a:r>
              <a:rPr sz="1300" b="1" i="0">
                <a:solidFill>
                  <a:srgbClr val="F26B6B"/>
                </a:solidFill>
                <a:latin typeface="Avenir Next"/>
              </a:rPr>
              <a:t>&lt; 50</a:t>
            </a:r>
          </a:p>
        </p:txBody>
      </p:sp>
      <p:sp>
        <p:nvSpPr>
          <p:cNvPr id="38" name="TextBox 37"/>
          <p:cNvSpPr txBox="1"/>
          <p:nvPr/>
        </p:nvSpPr>
        <p:spPr>
          <a:xfrm>
            <a:off x="12390120" y="5669280"/>
            <a:ext cx="4251960" cy="530352"/>
          </a:xfrm>
          <a:prstGeom prst="rect">
            <a:avLst/>
          </a:prstGeom>
          <a:noFill/>
        </p:spPr>
        <p:txBody>
          <a:bodyPr wrap="square" lIns="18288" tIns="18288" rIns="18288" bIns="18288" anchor="t">
            <a:noAutofit/>
          </a:bodyPr>
          <a:lstStyle/>
          <a:p>
            <a:pPr algn="l">
              <a:lnSpc>
                <a:spcPct val="105000"/>
              </a:lnSpc>
              <a:spcAft>
                <a:spcPts val="0"/>
              </a:spcAft>
            </a:pPr>
            <a:r>
              <a:rPr sz="980" b="0" i="0">
                <a:solidFill>
                  <a:srgbClr val="ADC9BE"/>
                </a:solidFill>
                <a:latin typeface="Avenir Next"/>
              </a:rPr>
              <a:t>Advice paused; alert raised; no prediction</a:t>
            </a:r>
          </a:p>
        </p:txBody>
      </p:sp>
      <p:sp>
        <p:nvSpPr>
          <p:cNvPr id="39" name="Rectangle 38"/>
          <p:cNvSpPr/>
          <p:nvPr/>
        </p:nvSpPr>
        <p:spPr>
          <a:xfrm>
            <a:off x="10195560" y="6903720"/>
            <a:ext cx="6446520" cy="32004"/>
          </a:xfrm>
          <a:prstGeom prst="rect">
            <a:avLst/>
          </a:prstGeom>
          <a:solidFill>
            <a:srgbClr val="2C5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0" name="TextBox 39"/>
          <p:cNvSpPr txBox="1"/>
          <p:nvPr/>
        </p:nvSpPr>
        <p:spPr>
          <a:xfrm>
            <a:off x="10195560" y="7040880"/>
            <a:ext cx="6446520" cy="502920"/>
          </a:xfrm>
          <a:prstGeom prst="rect">
            <a:avLst/>
          </a:prstGeom>
          <a:noFill/>
        </p:spPr>
        <p:txBody>
          <a:bodyPr wrap="square" lIns="18288" tIns="18288" rIns="18288" bIns="18288" anchor="t">
            <a:noAutofit/>
          </a:bodyPr>
          <a:lstStyle/>
          <a:p>
            <a:pPr algn="l">
              <a:lnSpc>
                <a:spcPct val="110000"/>
              </a:lnSpc>
              <a:spcAft>
                <a:spcPts val="0"/>
              </a:spcAft>
            </a:pPr>
            <a:r>
              <a:rPr sz="840" b="0" i="0">
                <a:solidFill>
                  <a:srgbClr val="7CA091"/>
                </a:solidFill>
                <a:latin typeface="Avenir Next"/>
              </a:rPr>
              <a:t>Typical penalties: stale 60 · range 60 · missing 40 · mismatch 40/20 · stuck 35 · jump 30 · anomaly 25.</a:t>
            </a:r>
          </a:p>
        </p:txBody>
      </p:sp>
      <p:sp>
        <p:nvSpPr>
          <p:cNvPr id="41" name="TextBox 40"/>
          <p:cNvSpPr txBox="1"/>
          <p:nvPr/>
        </p:nvSpPr>
        <p:spPr>
          <a:xfrm>
            <a:off x="4983480" y="9619488"/>
            <a:ext cx="5852160" cy="228600"/>
          </a:xfrm>
          <a:prstGeom prst="rect">
            <a:avLst/>
          </a:prstGeom>
          <a:noFill/>
        </p:spPr>
        <p:txBody>
          <a:bodyPr wrap="square" lIns="0" tIns="0" rIns="0" bIns="0" anchor="t">
            <a:noAutofit/>
          </a:bodyPr>
          <a:lstStyle/>
          <a:p>
            <a:pPr algn="l">
              <a:lnSpc>
                <a:spcPct val="105000"/>
              </a:lnSpc>
              <a:spcAft>
                <a:spcPts val="0"/>
              </a:spcAft>
            </a:pPr>
            <a:r>
              <a:rPr sz="819" b="0" i="0">
                <a:solidFill>
                  <a:srgbClr val="7CA091"/>
                </a:solidFill>
                <a:latin typeface="Avenir Next"/>
              </a:rPr>
              <a:t>TrustFarm  ·  INNOVA 2026  ·  ICBT</a:t>
            </a:r>
          </a:p>
        </p:txBody>
      </p:sp>
      <p:sp>
        <p:nvSpPr>
          <p:cNvPr id="42" name="TextBox 41"/>
          <p:cNvSpPr txBox="1"/>
          <p:nvPr/>
        </p:nvSpPr>
        <p:spPr>
          <a:xfrm>
            <a:off x="11018520" y="9619488"/>
            <a:ext cx="1234440" cy="228600"/>
          </a:xfrm>
          <a:prstGeom prst="rect">
            <a:avLst/>
          </a:prstGeom>
          <a:noFill/>
        </p:spPr>
        <p:txBody>
          <a:bodyPr wrap="square" lIns="0" tIns="0" rIns="0" bIns="0" anchor="t">
            <a:noAutofit/>
          </a:bodyPr>
          <a:lstStyle/>
          <a:p>
            <a:pPr algn="r">
              <a:lnSpc>
                <a:spcPct val="105000"/>
              </a:lnSpc>
              <a:spcAft>
                <a:spcPts val="0"/>
              </a:spcAft>
            </a:pPr>
            <a:r>
              <a:rPr sz="819" b="0" i="0">
                <a:solidFill>
                  <a:srgbClr val="7CA091"/>
                </a:solidFill>
                <a:latin typeface="Avenir Next"/>
              </a:rPr>
              <a:t>09 / 25</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1A1D1C"/>
        </a:solidFill>
        <a:effectLst/>
      </p:bgPr>
    </p:bg>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25192566" h="16800292">
                <a:moveTo>
                  <a:pt x="0" y="0"/>
                </a:moveTo>
                <a:lnTo>
                  <a:pt x="25192566" y="0"/>
                </a:lnTo>
                <a:lnTo>
                  <a:pt x="25192566" y="16800292"/>
                </a:lnTo>
                <a:lnTo>
                  <a:pt x="0" y="16800292"/>
                </a:lnTo>
                <a:lnTo>
                  <a:pt x="0" y="0"/>
                </a:lnTo>
                <a:close/>
              </a:path>
            </a:pathLst>
          </a:custGeom>
          <a:blipFill>
            <a:blip r:embed="rId3"/>
            <a:stretch>
              <a:fillRect/>
            </a:stretch>
          </a:blipFill>
        </p:spPr>
        <p:txBody>
          <a:bodyPr/>
          <a:lstStyle/>
          <a:p>
            <a:endParaRPr/>
          </a:p>
        </p:txBody>
      </p:sp>
      <p:sp>
        <p:nvSpPr>
          <p:cNvPr id="3" name="Freeform 3"/>
          <p:cNvSpPr/>
          <p:nvPr/>
        </p:nvSpPr>
        <p:spPr>
          <a:xfrm>
            <a:off x="12596283" y="8658721"/>
            <a:ext cx="6457129" cy="1628279"/>
          </a:xfrm>
          <a:custGeom>
            <a:avLst/>
            <a:gdLst/>
            <a:ahLst/>
            <a:cxnLst/>
            <a:rect l="l" t="t" r="r" b="b"/>
            <a:pathLst>
              <a:path w="6457129" h="1628279">
                <a:moveTo>
                  <a:pt x="0" y="0"/>
                </a:moveTo>
                <a:lnTo>
                  <a:pt x="6457129" y="0"/>
                </a:lnTo>
                <a:lnTo>
                  <a:pt x="6457129" y="1628279"/>
                </a:lnTo>
                <a:lnTo>
                  <a:pt x="0" y="1628279"/>
                </a:lnTo>
                <a:lnTo>
                  <a:pt x="0" y="0"/>
                </a:lnTo>
                <a:close/>
              </a:path>
            </a:pathLst>
          </a:custGeom>
          <a:blipFill>
            <a:blip r:embed="rId4"/>
            <a:stretch>
              <a:fillRect t="-85078" b="-85078"/>
            </a:stretch>
          </a:blipFill>
        </p:spPr>
        <p:txBody>
          <a:bodyPr/>
          <a:lstStyle/>
          <a:p>
            <a:endParaRPr/>
          </a:p>
        </p:txBody>
      </p:sp>
      <p:sp>
        <p:nvSpPr>
          <p:cNvPr id="4" name="Freeform 4"/>
          <p:cNvSpPr/>
          <p:nvPr/>
        </p:nvSpPr>
        <p:spPr>
          <a:xfrm>
            <a:off x="0" y="8072991"/>
            <a:ext cx="2839033" cy="2839033"/>
          </a:xfrm>
          <a:custGeom>
            <a:avLst/>
            <a:gdLst/>
            <a:ahLst/>
            <a:cxnLst/>
            <a:rect l="l" t="t" r="r" b="b"/>
            <a:pathLst>
              <a:path w="2839033" h="2839033">
                <a:moveTo>
                  <a:pt x="0" y="0"/>
                </a:moveTo>
                <a:lnTo>
                  <a:pt x="2839033" y="0"/>
                </a:lnTo>
                <a:lnTo>
                  <a:pt x="2839033" y="2839033"/>
                </a:lnTo>
                <a:lnTo>
                  <a:pt x="0" y="2839033"/>
                </a:lnTo>
                <a:lnTo>
                  <a:pt x="0" y="0"/>
                </a:lnTo>
                <a:close/>
              </a:path>
            </a:pathLst>
          </a:custGeom>
          <a:blipFill>
            <a:blip r:embed="rId5"/>
            <a:stretch>
              <a:fillRect/>
            </a:stretch>
          </a:blipFill>
        </p:spPr>
        <p:txBody>
          <a:bodyPr/>
          <a:lstStyle/>
          <a:p>
            <a:endParaRPr/>
          </a:p>
        </p:txBody>
      </p:sp>
      <p:sp>
        <p:nvSpPr>
          <p:cNvPr id="5" name="TextBox 4"/>
          <p:cNvSpPr txBox="1"/>
          <p:nvPr/>
        </p:nvSpPr>
        <p:spPr>
          <a:xfrm>
            <a:off x="1143000" y="841248"/>
            <a:ext cx="10972800" cy="292608"/>
          </a:xfrm>
          <a:prstGeom prst="rect">
            <a:avLst/>
          </a:prstGeom>
          <a:noFill/>
        </p:spPr>
        <p:txBody>
          <a:bodyPr wrap="square" lIns="0" tIns="0" rIns="0" bIns="0" anchor="t">
            <a:noAutofit/>
          </a:bodyPr>
          <a:lstStyle/>
          <a:p>
            <a:pPr algn="l">
              <a:lnSpc>
                <a:spcPct val="105000"/>
              </a:lnSpc>
              <a:spcAft>
                <a:spcPts val="0"/>
              </a:spcAft>
            </a:pPr>
            <a:r>
              <a:rPr sz="1000" b="1" i="0">
                <a:solidFill>
                  <a:srgbClr val="A6F26B"/>
                </a:solidFill>
                <a:latin typeface="Avenir Next"/>
              </a:rPr>
              <a:t>DECISION FLOW</a:t>
            </a:r>
          </a:p>
        </p:txBody>
      </p:sp>
      <p:sp>
        <p:nvSpPr>
          <p:cNvPr id="6" name="TextBox 5"/>
          <p:cNvSpPr txBox="1"/>
          <p:nvPr/>
        </p:nvSpPr>
        <p:spPr>
          <a:xfrm>
            <a:off x="1097280" y="1124712"/>
            <a:ext cx="13075920" cy="676656"/>
          </a:xfrm>
          <a:prstGeom prst="rect">
            <a:avLst/>
          </a:prstGeom>
          <a:noFill/>
        </p:spPr>
        <p:txBody>
          <a:bodyPr wrap="square" lIns="0" tIns="0" rIns="0" bIns="0" anchor="t">
            <a:noAutofit/>
          </a:bodyPr>
          <a:lstStyle/>
          <a:p>
            <a:pPr algn="l">
              <a:lnSpc>
                <a:spcPct val="98000"/>
              </a:lnSpc>
              <a:spcAft>
                <a:spcPts val="0"/>
              </a:spcAft>
            </a:pPr>
            <a:r>
              <a:rPr sz="3300" b="1" i="0">
                <a:solidFill>
                  <a:srgbClr val="F4FFFA"/>
                </a:solidFill>
                <a:latin typeface="Avenir Next"/>
              </a:rPr>
              <a:t>From reading to recommendation.</a:t>
            </a:r>
          </a:p>
        </p:txBody>
      </p:sp>
      <p:sp>
        <p:nvSpPr>
          <p:cNvPr id="7" name="TextBox 6"/>
          <p:cNvSpPr txBox="1"/>
          <p:nvPr/>
        </p:nvSpPr>
        <p:spPr>
          <a:xfrm>
            <a:off x="1143000" y="1865376"/>
            <a:ext cx="13258800" cy="502920"/>
          </a:xfrm>
          <a:prstGeom prst="rect">
            <a:avLst/>
          </a:prstGeom>
          <a:noFill/>
        </p:spPr>
        <p:txBody>
          <a:bodyPr wrap="square" lIns="0" tIns="0" rIns="0" bIns="0" anchor="t">
            <a:noAutofit/>
          </a:bodyPr>
          <a:lstStyle/>
          <a:p>
            <a:pPr algn="l">
              <a:lnSpc>
                <a:spcPct val="110000"/>
              </a:lnSpc>
              <a:spcAft>
                <a:spcPts val="0"/>
              </a:spcAft>
            </a:pPr>
            <a:r>
              <a:rPr sz="1400" b="0" i="0">
                <a:solidFill>
                  <a:srgbClr val="ADC9BE"/>
                </a:solidFill>
                <a:latin typeface="Avenir Next"/>
              </a:rPr>
              <a:t>Trust and energy both have veto power over the final advice.</a:t>
            </a:r>
          </a:p>
        </p:txBody>
      </p:sp>
      <p:sp>
        <p:nvSpPr>
          <p:cNvPr id="8" name="Rectangle 7"/>
          <p:cNvSpPr/>
          <p:nvPr/>
        </p:nvSpPr>
        <p:spPr>
          <a:xfrm>
            <a:off x="1143000" y="2542032"/>
            <a:ext cx="1143000" cy="41148"/>
          </a:xfrm>
          <a:prstGeom prst="rect">
            <a:avLst/>
          </a:prstGeom>
          <a:solidFill>
            <a:srgbClr val="A6F2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ounded Rectangle 8"/>
          <p:cNvSpPr/>
          <p:nvPr/>
        </p:nvSpPr>
        <p:spPr>
          <a:xfrm>
            <a:off x="14127480" y="1143000"/>
            <a:ext cx="3017520" cy="347472"/>
          </a:xfrm>
          <a:prstGeom prst="roundRect">
            <a:avLst>
              <a:gd name="adj" fmla="val 50000"/>
            </a:avLst>
          </a:prstGeom>
          <a:solidFill>
            <a:srgbClr val="0A221B"/>
          </a:solidFill>
          <a:ln w="8890">
            <a:solidFill>
              <a:srgbClr val="A6F26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14164055" y="1161288"/>
            <a:ext cx="2944368" cy="310896"/>
          </a:xfrm>
          <a:prstGeom prst="rect">
            <a:avLst/>
          </a:prstGeom>
          <a:noFill/>
        </p:spPr>
        <p:txBody>
          <a:bodyPr wrap="square" lIns="9144" tIns="0" rIns="9144" bIns="0" anchor="ctr">
            <a:noAutofit/>
          </a:bodyPr>
          <a:lstStyle/>
          <a:p>
            <a:pPr algn="ctr">
              <a:lnSpc>
                <a:spcPct val="105000"/>
              </a:lnSpc>
              <a:spcAft>
                <a:spcPts val="0"/>
              </a:spcAft>
            </a:pPr>
            <a:r>
              <a:rPr sz="819" b="1" i="0">
                <a:solidFill>
                  <a:srgbClr val="A6F26B"/>
                </a:solidFill>
                <a:latin typeface="Avenir Next"/>
              </a:rPr>
              <a:t>IMPLEMENTED</a:t>
            </a:r>
          </a:p>
        </p:txBody>
      </p:sp>
      <p:sp>
        <p:nvSpPr>
          <p:cNvPr id="11" name="Rounded Rectangle 10"/>
          <p:cNvSpPr/>
          <p:nvPr/>
        </p:nvSpPr>
        <p:spPr>
          <a:xfrm>
            <a:off x="1143000" y="2834640"/>
            <a:ext cx="2907792" cy="1170432"/>
          </a:xfrm>
          <a:prstGeom prst="roundRect">
            <a:avLst>
              <a:gd name="adj" fmla="val 8000"/>
            </a:avLst>
          </a:prstGeom>
          <a:solidFill>
            <a:srgbClr val="071813"/>
          </a:solidFill>
          <a:ln w="10160">
            <a:solidFill>
              <a:srgbClr val="59D7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1280160" y="2971800"/>
            <a:ext cx="2651760" cy="256032"/>
          </a:xfrm>
          <a:prstGeom prst="rect">
            <a:avLst/>
          </a:prstGeom>
          <a:noFill/>
        </p:spPr>
        <p:txBody>
          <a:bodyPr wrap="square" lIns="18288" tIns="18288" rIns="18288" bIns="18288" anchor="t">
            <a:noAutofit/>
          </a:bodyPr>
          <a:lstStyle/>
          <a:p>
            <a:pPr algn="l">
              <a:lnSpc>
                <a:spcPct val="105000"/>
              </a:lnSpc>
              <a:spcAft>
                <a:spcPts val="0"/>
              </a:spcAft>
            </a:pPr>
            <a:r>
              <a:rPr sz="1150" b="1" i="0">
                <a:solidFill>
                  <a:srgbClr val="59D7F0"/>
                </a:solidFill>
                <a:latin typeface="Avenir Next"/>
              </a:rPr>
              <a:t>READING</a:t>
            </a:r>
          </a:p>
        </p:txBody>
      </p:sp>
      <p:sp>
        <p:nvSpPr>
          <p:cNvPr id="13" name="TextBox 12"/>
          <p:cNvSpPr txBox="1"/>
          <p:nvPr/>
        </p:nvSpPr>
        <p:spPr>
          <a:xfrm>
            <a:off x="1280160" y="3291840"/>
            <a:ext cx="2651760" cy="502920"/>
          </a:xfrm>
          <a:prstGeom prst="rect">
            <a:avLst/>
          </a:prstGeom>
          <a:noFill/>
        </p:spPr>
        <p:txBody>
          <a:bodyPr wrap="square" lIns="18288" tIns="18288" rIns="18288" bIns="18288" anchor="t">
            <a:noAutofit/>
          </a:bodyPr>
          <a:lstStyle/>
          <a:p>
            <a:pPr algn="l">
              <a:lnSpc>
                <a:spcPct val="105000"/>
              </a:lnSpc>
              <a:spcAft>
                <a:spcPts val="0"/>
              </a:spcAft>
            </a:pPr>
            <a:r>
              <a:rPr sz="860" b="0" i="0">
                <a:solidFill>
                  <a:srgbClr val="ADC9BE"/>
                </a:solidFill>
                <a:latin typeface="Avenir Next"/>
              </a:rPr>
              <a:t>soil1/2 · temp · rain
flow · battery · generation</a:t>
            </a:r>
          </a:p>
        </p:txBody>
      </p:sp>
      <p:sp>
        <p:nvSpPr>
          <p:cNvPr id="14" name="Right Arrow 13"/>
          <p:cNvSpPr/>
          <p:nvPr/>
        </p:nvSpPr>
        <p:spPr>
          <a:xfrm>
            <a:off x="4069080" y="3310128"/>
            <a:ext cx="219456" cy="201168"/>
          </a:xfrm>
          <a:prstGeom prst="rightArrow">
            <a:avLst/>
          </a:prstGeom>
          <a:solidFill>
            <a:srgbClr val="59D7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Rounded Rectangle 14"/>
          <p:cNvSpPr/>
          <p:nvPr/>
        </p:nvSpPr>
        <p:spPr>
          <a:xfrm>
            <a:off x="4343400" y="2834640"/>
            <a:ext cx="2907792" cy="1170432"/>
          </a:xfrm>
          <a:prstGeom prst="roundRect">
            <a:avLst>
              <a:gd name="adj" fmla="val 8000"/>
            </a:avLst>
          </a:prstGeom>
          <a:solidFill>
            <a:srgbClr val="071813"/>
          </a:solidFill>
          <a:ln w="10160">
            <a:solidFill>
              <a:srgbClr val="A6F26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4480560" y="2971800"/>
            <a:ext cx="2651760" cy="256032"/>
          </a:xfrm>
          <a:prstGeom prst="rect">
            <a:avLst/>
          </a:prstGeom>
          <a:noFill/>
        </p:spPr>
        <p:txBody>
          <a:bodyPr wrap="square" lIns="18288" tIns="18288" rIns="18288" bIns="18288" anchor="t">
            <a:noAutofit/>
          </a:bodyPr>
          <a:lstStyle/>
          <a:p>
            <a:pPr algn="l">
              <a:lnSpc>
                <a:spcPct val="105000"/>
              </a:lnSpc>
              <a:spcAft>
                <a:spcPts val="0"/>
              </a:spcAft>
            </a:pPr>
            <a:r>
              <a:rPr sz="1150" b="1" i="0">
                <a:solidFill>
                  <a:srgbClr val="A6F26B"/>
                </a:solidFill>
                <a:latin typeface="Avenir Next"/>
              </a:rPr>
              <a:t>TRUST</a:t>
            </a:r>
          </a:p>
        </p:txBody>
      </p:sp>
      <p:sp>
        <p:nvSpPr>
          <p:cNvPr id="17" name="TextBox 16"/>
          <p:cNvSpPr txBox="1"/>
          <p:nvPr/>
        </p:nvSpPr>
        <p:spPr>
          <a:xfrm>
            <a:off x="4480560" y="3291840"/>
            <a:ext cx="2651760" cy="502920"/>
          </a:xfrm>
          <a:prstGeom prst="rect">
            <a:avLst/>
          </a:prstGeom>
          <a:noFill/>
        </p:spPr>
        <p:txBody>
          <a:bodyPr wrap="square" lIns="18288" tIns="18288" rIns="18288" bIns="18288" anchor="t">
            <a:noAutofit/>
          </a:bodyPr>
          <a:lstStyle/>
          <a:p>
            <a:pPr algn="l">
              <a:lnSpc>
                <a:spcPct val="105000"/>
              </a:lnSpc>
              <a:spcAft>
                <a:spcPts val="0"/>
              </a:spcAft>
            </a:pPr>
            <a:r>
              <a:rPr sz="860" b="0" i="0">
                <a:solidFill>
                  <a:srgbClr val="ADC9BE"/>
                </a:solidFill>
                <a:latin typeface="Avenir Next"/>
              </a:rPr>
              <a:t>Green / Amber / Red
score + flags</a:t>
            </a:r>
          </a:p>
        </p:txBody>
      </p:sp>
      <p:sp>
        <p:nvSpPr>
          <p:cNvPr id="18" name="Right Arrow 17"/>
          <p:cNvSpPr/>
          <p:nvPr/>
        </p:nvSpPr>
        <p:spPr>
          <a:xfrm>
            <a:off x="7269480" y="3310128"/>
            <a:ext cx="219456" cy="201168"/>
          </a:xfrm>
          <a:prstGeom prst="rightArrow">
            <a:avLst/>
          </a:prstGeom>
          <a:solidFill>
            <a:srgbClr val="A6F2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Rounded Rectangle 18"/>
          <p:cNvSpPr/>
          <p:nvPr/>
        </p:nvSpPr>
        <p:spPr>
          <a:xfrm>
            <a:off x="7543800" y="2834640"/>
            <a:ext cx="2907792" cy="1170432"/>
          </a:xfrm>
          <a:prstGeom prst="roundRect">
            <a:avLst>
              <a:gd name="adj" fmla="val 8000"/>
            </a:avLst>
          </a:prstGeom>
          <a:solidFill>
            <a:srgbClr val="071813"/>
          </a:solidFill>
          <a:ln w="10160">
            <a:solidFill>
              <a:srgbClr val="F5C45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7680960" y="2971800"/>
            <a:ext cx="2651760" cy="256032"/>
          </a:xfrm>
          <a:prstGeom prst="rect">
            <a:avLst/>
          </a:prstGeom>
          <a:noFill/>
        </p:spPr>
        <p:txBody>
          <a:bodyPr wrap="square" lIns="18288" tIns="18288" rIns="18288" bIns="18288" anchor="t">
            <a:noAutofit/>
          </a:bodyPr>
          <a:lstStyle/>
          <a:p>
            <a:pPr algn="l">
              <a:lnSpc>
                <a:spcPct val="105000"/>
              </a:lnSpc>
              <a:spcAft>
                <a:spcPts val="0"/>
              </a:spcAft>
            </a:pPr>
            <a:r>
              <a:rPr sz="1150" b="1" i="0">
                <a:solidFill>
                  <a:srgbClr val="F5C451"/>
                </a:solidFill>
                <a:latin typeface="Avenir Next"/>
              </a:rPr>
              <a:t>FORECAST</a:t>
            </a:r>
          </a:p>
        </p:txBody>
      </p:sp>
      <p:sp>
        <p:nvSpPr>
          <p:cNvPr id="21" name="TextBox 20"/>
          <p:cNvSpPr txBox="1"/>
          <p:nvPr/>
        </p:nvSpPr>
        <p:spPr>
          <a:xfrm>
            <a:off x="7680960" y="3291840"/>
            <a:ext cx="2651760" cy="502920"/>
          </a:xfrm>
          <a:prstGeom prst="rect">
            <a:avLst/>
          </a:prstGeom>
          <a:noFill/>
        </p:spPr>
        <p:txBody>
          <a:bodyPr wrap="square" lIns="18288" tIns="18288" rIns="18288" bIns="18288" anchor="t">
            <a:noAutofit/>
          </a:bodyPr>
          <a:lstStyle/>
          <a:p>
            <a:pPr algn="l">
              <a:lnSpc>
                <a:spcPct val="105000"/>
              </a:lnSpc>
              <a:spcAft>
                <a:spcPts val="0"/>
              </a:spcAft>
            </a:pPr>
            <a:r>
              <a:rPr sz="860" b="0" i="0">
                <a:solidFill>
                  <a:srgbClr val="ADC9BE"/>
                </a:solidFill>
                <a:latin typeface="Avenir Next"/>
              </a:rPr>
              <a:t>3 h soil moisture
Low / Medium / High</a:t>
            </a:r>
          </a:p>
        </p:txBody>
      </p:sp>
      <p:sp>
        <p:nvSpPr>
          <p:cNvPr id="22" name="Right Arrow 21"/>
          <p:cNvSpPr/>
          <p:nvPr/>
        </p:nvSpPr>
        <p:spPr>
          <a:xfrm>
            <a:off x="10469880" y="3310128"/>
            <a:ext cx="219456" cy="201168"/>
          </a:xfrm>
          <a:prstGeom prst="rightArrow">
            <a:avLst/>
          </a:prstGeom>
          <a:solidFill>
            <a:srgbClr val="F5C45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Rounded Rectangle 22"/>
          <p:cNvSpPr/>
          <p:nvPr/>
        </p:nvSpPr>
        <p:spPr>
          <a:xfrm>
            <a:off x="10744200" y="2834640"/>
            <a:ext cx="2907792" cy="1170432"/>
          </a:xfrm>
          <a:prstGeom prst="roundRect">
            <a:avLst>
              <a:gd name="adj" fmla="val 8000"/>
            </a:avLst>
          </a:prstGeom>
          <a:solidFill>
            <a:srgbClr val="071813"/>
          </a:solidFill>
          <a:ln w="10160">
            <a:solidFill>
              <a:srgbClr val="F5C45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10881360" y="2971800"/>
            <a:ext cx="2651760" cy="256032"/>
          </a:xfrm>
          <a:prstGeom prst="rect">
            <a:avLst/>
          </a:prstGeom>
          <a:noFill/>
        </p:spPr>
        <p:txBody>
          <a:bodyPr wrap="square" lIns="18288" tIns="18288" rIns="18288" bIns="18288" anchor="t">
            <a:noAutofit/>
          </a:bodyPr>
          <a:lstStyle/>
          <a:p>
            <a:pPr algn="l">
              <a:lnSpc>
                <a:spcPct val="105000"/>
              </a:lnSpc>
              <a:spcAft>
                <a:spcPts val="0"/>
              </a:spcAft>
            </a:pPr>
            <a:r>
              <a:rPr sz="1150" b="1" i="0">
                <a:solidFill>
                  <a:srgbClr val="F5C451"/>
                </a:solidFill>
                <a:latin typeface="Avenir Next"/>
              </a:rPr>
              <a:t>ENERGY</a:t>
            </a:r>
          </a:p>
        </p:txBody>
      </p:sp>
      <p:sp>
        <p:nvSpPr>
          <p:cNvPr id="25" name="TextBox 24"/>
          <p:cNvSpPr txBox="1"/>
          <p:nvPr/>
        </p:nvSpPr>
        <p:spPr>
          <a:xfrm>
            <a:off x="10881360" y="3291840"/>
            <a:ext cx="2651760" cy="502920"/>
          </a:xfrm>
          <a:prstGeom prst="rect">
            <a:avLst/>
          </a:prstGeom>
          <a:noFill/>
        </p:spPr>
        <p:txBody>
          <a:bodyPr wrap="square" lIns="18288" tIns="18288" rIns="18288" bIns="18288" anchor="t">
            <a:noAutofit/>
          </a:bodyPr>
          <a:lstStyle/>
          <a:p>
            <a:pPr algn="l">
              <a:lnSpc>
                <a:spcPct val="105000"/>
              </a:lnSpc>
              <a:spcAft>
                <a:spcPts val="0"/>
              </a:spcAft>
            </a:pPr>
            <a:r>
              <a:rPr sz="860" b="0" i="0">
                <a:solidFill>
                  <a:srgbClr val="ADC9BE"/>
                </a:solidFill>
                <a:latin typeface="Avenir Next"/>
              </a:rPr>
              <a:t>SoC · generation
PROTECT / CONSERVE</a:t>
            </a:r>
          </a:p>
        </p:txBody>
      </p:sp>
      <p:sp>
        <p:nvSpPr>
          <p:cNvPr id="26" name="Right Arrow 25"/>
          <p:cNvSpPr/>
          <p:nvPr/>
        </p:nvSpPr>
        <p:spPr>
          <a:xfrm>
            <a:off x="13670280" y="3310128"/>
            <a:ext cx="219456" cy="201168"/>
          </a:xfrm>
          <a:prstGeom prst="rightArrow">
            <a:avLst/>
          </a:prstGeom>
          <a:solidFill>
            <a:srgbClr val="F5C45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Rounded Rectangle 26"/>
          <p:cNvSpPr/>
          <p:nvPr/>
        </p:nvSpPr>
        <p:spPr>
          <a:xfrm>
            <a:off x="13944600" y="2834640"/>
            <a:ext cx="2907792" cy="1170432"/>
          </a:xfrm>
          <a:prstGeom prst="roundRect">
            <a:avLst>
              <a:gd name="adj" fmla="val 8000"/>
            </a:avLst>
          </a:prstGeom>
          <a:solidFill>
            <a:srgbClr val="071813"/>
          </a:solidFill>
          <a:ln w="10160">
            <a:solidFill>
              <a:srgbClr val="A6F26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TextBox 27"/>
          <p:cNvSpPr txBox="1"/>
          <p:nvPr/>
        </p:nvSpPr>
        <p:spPr>
          <a:xfrm>
            <a:off x="14081760" y="2971800"/>
            <a:ext cx="2651760" cy="256032"/>
          </a:xfrm>
          <a:prstGeom prst="rect">
            <a:avLst/>
          </a:prstGeom>
          <a:noFill/>
        </p:spPr>
        <p:txBody>
          <a:bodyPr wrap="square" lIns="18288" tIns="18288" rIns="18288" bIns="18288" anchor="t">
            <a:noAutofit/>
          </a:bodyPr>
          <a:lstStyle/>
          <a:p>
            <a:pPr algn="l">
              <a:lnSpc>
                <a:spcPct val="105000"/>
              </a:lnSpc>
              <a:spcAft>
                <a:spcPts val="0"/>
              </a:spcAft>
            </a:pPr>
            <a:r>
              <a:rPr sz="1150" b="1" i="0">
                <a:solidFill>
                  <a:srgbClr val="A6F26B"/>
                </a:solidFill>
                <a:latin typeface="Avenir Next"/>
              </a:rPr>
              <a:t>ADVICE</a:t>
            </a:r>
          </a:p>
        </p:txBody>
      </p:sp>
      <p:sp>
        <p:nvSpPr>
          <p:cNvPr id="29" name="TextBox 28"/>
          <p:cNvSpPr txBox="1"/>
          <p:nvPr/>
        </p:nvSpPr>
        <p:spPr>
          <a:xfrm>
            <a:off x="14081760" y="3291840"/>
            <a:ext cx="2651760" cy="502920"/>
          </a:xfrm>
          <a:prstGeom prst="rect">
            <a:avLst/>
          </a:prstGeom>
          <a:noFill/>
        </p:spPr>
        <p:txBody>
          <a:bodyPr wrap="square" lIns="18288" tIns="18288" rIns="18288" bIns="18288" anchor="t">
            <a:noAutofit/>
          </a:bodyPr>
          <a:lstStyle/>
          <a:p>
            <a:pPr algn="l">
              <a:lnSpc>
                <a:spcPct val="105000"/>
              </a:lnSpc>
              <a:spcAft>
                <a:spcPts val="0"/>
              </a:spcAft>
            </a:pPr>
            <a:r>
              <a:rPr sz="860" b="0" i="0">
                <a:solidFill>
                  <a:srgbClr val="ADC9BE"/>
                </a:solidFill>
                <a:latin typeface="Avenir Next"/>
              </a:rPr>
              <a:t>act · check · delay
or pause</a:t>
            </a:r>
          </a:p>
        </p:txBody>
      </p:sp>
      <p:sp>
        <p:nvSpPr>
          <p:cNvPr id="30" name="Rounded Rectangle 29"/>
          <p:cNvSpPr/>
          <p:nvPr/>
        </p:nvSpPr>
        <p:spPr>
          <a:xfrm>
            <a:off x="1143000" y="4645152"/>
            <a:ext cx="5074920" cy="1938528"/>
          </a:xfrm>
          <a:prstGeom prst="roundRect">
            <a:avLst>
              <a:gd name="adj" fmla="val 8000"/>
            </a:avLst>
          </a:prstGeom>
          <a:solidFill>
            <a:srgbClr val="0A221B"/>
          </a:solidFill>
          <a:ln w="10160">
            <a:solidFill>
              <a:srgbClr val="A6F26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TextBox 30"/>
          <p:cNvSpPr txBox="1"/>
          <p:nvPr/>
        </p:nvSpPr>
        <p:spPr>
          <a:xfrm>
            <a:off x="1371600" y="4828032"/>
            <a:ext cx="4572000" cy="274320"/>
          </a:xfrm>
          <a:prstGeom prst="rect">
            <a:avLst/>
          </a:prstGeom>
          <a:noFill/>
        </p:spPr>
        <p:txBody>
          <a:bodyPr wrap="square" lIns="18288" tIns="18288" rIns="18288" bIns="18288" anchor="t">
            <a:noAutofit/>
          </a:bodyPr>
          <a:lstStyle/>
          <a:p>
            <a:pPr algn="l">
              <a:lnSpc>
                <a:spcPct val="105000"/>
              </a:lnSpc>
              <a:spcAft>
                <a:spcPts val="0"/>
              </a:spcAft>
            </a:pPr>
            <a:r>
              <a:rPr sz="1000" b="1" i="0">
                <a:solidFill>
                  <a:srgbClr val="A6F26B"/>
                </a:solidFill>
                <a:latin typeface="Avenir Next"/>
              </a:rPr>
              <a:t>GREEN</a:t>
            </a:r>
          </a:p>
        </p:txBody>
      </p:sp>
      <p:sp>
        <p:nvSpPr>
          <p:cNvPr id="32" name="TextBox 31"/>
          <p:cNvSpPr txBox="1"/>
          <p:nvPr/>
        </p:nvSpPr>
        <p:spPr>
          <a:xfrm>
            <a:off x="1371600" y="5138928"/>
            <a:ext cx="4526280" cy="329184"/>
          </a:xfrm>
          <a:prstGeom prst="rect">
            <a:avLst/>
          </a:prstGeom>
          <a:noFill/>
        </p:spPr>
        <p:txBody>
          <a:bodyPr wrap="square" lIns="18288" tIns="18288" rIns="18288" bIns="18288" anchor="t">
            <a:noAutofit/>
          </a:bodyPr>
          <a:lstStyle/>
          <a:p>
            <a:pPr algn="l">
              <a:lnSpc>
                <a:spcPct val="105000"/>
              </a:lnSpc>
              <a:spcAft>
                <a:spcPts val="0"/>
              </a:spcAft>
            </a:pPr>
            <a:r>
              <a:rPr sz="1600" b="1" i="0">
                <a:solidFill>
                  <a:srgbClr val="F4FFFA"/>
                </a:solidFill>
                <a:latin typeface="Avenir Next"/>
              </a:rPr>
              <a:t>Advice allowed</a:t>
            </a:r>
          </a:p>
        </p:txBody>
      </p:sp>
      <p:sp>
        <p:nvSpPr>
          <p:cNvPr id="33" name="TextBox 32"/>
          <p:cNvSpPr txBox="1"/>
          <p:nvPr/>
        </p:nvSpPr>
        <p:spPr>
          <a:xfrm>
            <a:off x="1371600" y="5559552"/>
            <a:ext cx="4526280" cy="731520"/>
          </a:xfrm>
          <a:prstGeom prst="rect">
            <a:avLst/>
          </a:prstGeom>
          <a:noFill/>
        </p:spPr>
        <p:txBody>
          <a:bodyPr wrap="square" lIns="18288" tIns="18288" rIns="18288" bIns="18288" anchor="t">
            <a:noAutofit/>
          </a:bodyPr>
          <a:lstStyle/>
          <a:p>
            <a:pPr algn="l">
              <a:lnSpc>
                <a:spcPct val="115000"/>
              </a:lnSpc>
              <a:spcAft>
                <a:spcPts val="0"/>
              </a:spcAft>
            </a:pPr>
            <a:r>
              <a:rPr sz="1019" b="0" i="0">
                <a:solidFill>
                  <a:srgbClr val="ADC9BE"/>
                </a:solidFill>
                <a:latin typeface="Avenir Next"/>
              </a:rPr>
              <a:t>High + energy OK → “Irrigate now”.
Medium → “Prepare to irrigate soon”.</a:t>
            </a:r>
          </a:p>
        </p:txBody>
      </p:sp>
      <p:sp>
        <p:nvSpPr>
          <p:cNvPr id="34" name="Rounded Rectangle 33"/>
          <p:cNvSpPr/>
          <p:nvPr/>
        </p:nvSpPr>
        <p:spPr>
          <a:xfrm>
            <a:off x="6446520" y="4645152"/>
            <a:ext cx="5074920" cy="1938528"/>
          </a:xfrm>
          <a:prstGeom prst="roundRect">
            <a:avLst>
              <a:gd name="adj" fmla="val 8000"/>
            </a:avLst>
          </a:prstGeom>
          <a:solidFill>
            <a:srgbClr val="0A221B"/>
          </a:solidFill>
          <a:ln w="10160">
            <a:solidFill>
              <a:srgbClr val="F0B42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TextBox 34"/>
          <p:cNvSpPr txBox="1"/>
          <p:nvPr/>
        </p:nvSpPr>
        <p:spPr>
          <a:xfrm>
            <a:off x="6675120" y="4828032"/>
            <a:ext cx="4572000" cy="274320"/>
          </a:xfrm>
          <a:prstGeom prst="rect">
            <a:avLst/>
          </a:prstGeom>
          <a:noFill/>
        </p:spPr>
        <p:txBody>
          <a:bodyPr wrap="square" lIns="18288" tIns="18288" rIns="18288" bIns="18288" anchor="t">
            <a:noAutofit/>
          </a:bodyPr>
          <a:lstStyle/>
          <a:p>
            <a:pPr algn="l">
              <a:lnSpc>
                <a:spcPct val="105000"/>
              </a:lnSpc>
              <a:spcAft>
                <a:spcPts val="0"/>
              </a:spcAft>
            </a:pPr>
            <a:r>
              <a:rPr sz="1000" b="1" i="0">
                <a:solidFill>
                  <a:srgbClr val="F0B429"/>
                </a:solidFill>
                <a:latin typeface="Avenir Next"/>
              </a:rPr>
              <a:t>AMBER</a:t>
            </a:r>
          </a:p>
        </p:txBody>
      </p:sp>
      <p:sp>
        <p:nvSpPr>
          <p:cNvPr id="36" name="TextBox 35"/>
          <p:cNvSpPr txBox="1"/>
          <p:nvPr/>
        </p:nvSpPr>
        <p:spPr>
          <a:xfrm>
            <a:off x="6675120" y="5138928"/>
            <a:ext cx="4526280" cy="329184"/>
          </a:xfrm>
          <a:prstGeom prst="rect">
            <a:avLst/>
          </a:prstGeom>
          <a:noFill/>
        </p:spPr>
        <p:txBody>
          <a:bodyPr wrap="square" lIns="18288" tIns="18288" rIns="18288" bIns="18288" anchor="t">
            <a:noAutofit/>
          </a:bodyPr>
          <a:lstStyle/>
          <a:p>
            <a:pPr algn="l">
              <a:lnSpc>
                <a:spcPct val="105000"/>
              </a:lnSpc>
              <a:spcAft>
                <a:spcPts val="0"/>
              </a:spcAft>
            </a:pPr>
            <a:r>
              <a:rPr sz="1600" b="1" i="0">
                <a:solidFill>
                  <a:srgbClr val="F4FFFA"/>
                </a:solidFill>
                <a:latin typeface="Avenir Next"/>
              </a:rPr>
              <a:t>Predict, but verify</a:t>
            </a:r>
          </a:p>
        </p:txBody>
      </p:sp>
      <p:sp>
        <p:nvSpPr>
          <p:cNvPr id="37" name="TextBox 36"/>
          <p:cNvSpPr txBox="1"/>
          <p:nvPr/>
        </p:nvSpPr>
        <p:spPr>
          <a:xfrm>
            <a:off x="6675120" y="5559552"/>
            <a:ext cx="4526280" cy="731520"/>
          </a:xfrm>
          <a:prstGeom prst="rect">
            <a:avLst/>
          </a:prstGeom>
          <a:noFill/>
        </p:spPr>
        <p:txBody>
          <a:bodyPr wrap="square" lIns="18288" tIns="18288" rIns="18288" bIns="18288" anchor="t">
            <a:noAutofit/>
          </a:bodyPr>
          <a:lstStyle/>
          <a:p>
            <a:pPr algn="l">
              <a:lnSpc>
                <a:spcPct val="115000"/>
              </a:lnSpc>
              <a:spcAft>
                <a:spcPts val="0"/>
              </a:spcAft>
            </a:pPr>
            <a:r>
              <a:rPr sz="1019" b="0" i="0">
                <a:solidFill>
                  <a:srgbClr val="ADC9BE"/>
                </a:solidFill>
                <a:latin typeface="Avenir Next"/>
              </a:rPr>
              <a:t>Model still runs; advice becomes “check the sensor manually”.
No automatic irrigation.</a:t>
            </a:r>
          </a:p>
        </p:txBody>
      </p:sp>
      <p:sp>
        <p:nvSpPr>
          <p:cNvPr id="38" name="Rounded Rectangle 37"/>
          <p:cNvSpPr/>
          <p:nvPr/>
        </p:nvSpPr>
        <p:spPr>
          <a:xfrm>
            <a:off x="11750040" y="4645152"/>
            <a:ext cx="5257800" cy="1938528"/>
          </a:xfrm>
          <a:prstGeom prst="roundRect">
            <a:avLst>
              <a:gd name="adj" fmla="val 8000"/>
            </a:avLst>
          </a:prstGeom>
          <a:solidFill>
            <a:srgbClr val="0A221B"/>
          </a:solidFill>
          <a:ln w="10160">
            <a:solidFill>
              <a:srgbClr val="F26B6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9" name="TextBox 38"/>
          <p:cNvSpPr txBox="1"/>
          <p:nvPr/>
        </p:nvSpPr>
        <p:spPr>
          <a:xfrm>
            <a:off x="11978640" y="4828032"/>
            <a:ext cx="4754880" cy="274320"/>
          </a:xfrm>
          <a:prstGeom prst="rect">
            <a:avLst/>
          </a:prstGeom>
          <a:noFill/>
        </p:spPr>
        <p:txBody>
          <a:bodyPr wrap="square" lIns="18288" tIns="18288" rIns="18288" bIns="18288" anchor="t">
            <a:noAutofit/>
          </a:bodyPr>
          <a:lstStyle/>
          <a:p>
            <a:pPr algn="l">
              <a:lnSpc>
                <a:spcPct val="105000"/>
              </a:lnSpc>
              <a:spcAft>
                <a:spcPts val="0"/>
              </a:spcAft>
            </a:pPr>
            <a:r>
              <a:rPr sz="1000" b="1" i="0">
                <a:solidFill>
                  <a:srgbClr val="F26B6B"/>
                </a:solidFill>
                <a:latin typeface="Avenir Next"/>
              </a:rPr>
              <a:t>RED</a:t>
            </a:r>
          </a:p>
        </p:txBody>
      </p:sp>
      <p:sp>
        <p:nvSpPr>
          <p:cNvPr id="40" name="TextBox 39"/>
          <p:cNvSpPr txBox="1"/>
          <p:nvPr/>
        </p:nvSpPr>
        <p:spPr>
          <a:xfrm>
            <a:off x="11978640" y="5138928"/>
            <a:ext cx="4754880" cy="329184"/>
          </a:xfrm>
          <a:prstGeom prst="rect">
            <a:avLst/>
          </a:prstGeom>
          <a:noFill/>
        </p:spPr>
        <p:txBody>
          <a:bodyPr wrap="square" lIns="18288" tIns="18288" rIns="18288" bIns="18288" anchor="t">
            <a:noAutofit/>
          </a:bodyPr>
          <a:lstStyle/>
          <a:p>
            <a:pPr algn="l">
              <a:lnSpc>
                <a:spcPct val="105000"/>
              </a:lnSpc>
              <a:spcAft>
                <a:spcPts val="0"/>
              </a:spcAft>
            </a:pPr>
            <a:r>
              <a:rPr sz="1600" b="1" i="0">
                <a:solidFill>
                  <a:srgbClr val="F4FFFA"/>
                </a:solidFill>
                <a:latin typeface="Avenir Next"/>
              </a:rPr>
              <a:t>Stop and alert</a:t>
            </a:r>
          </a:p>
        </p:txBody>
      </p:sp>
      <p:sp>
        <p:nvSpPr>
          <p:cNvPr id="41" name="TextBox 40"/>
          <p:cNvSpPr txBox="1"/>
          <p:nvPr/>
        </p:nvSpPr>
        <p:spPr>
          <a:xfrm>
            <a:off x="11978640" y="5559552"/>
            <a:ext cx="4754880" cy="731520"/>
          </a:xfrm>
          <a:prstGeom prst="rect">
            <a:avLst/>
          </a:prstGeom>
          <a:noFill/>
        </p:spPr>
        <p:txBody>
          <a:bodyPr wrap="square" lIns="18288" tIns="18288" rIns="18288" bIns="18288" anchor="t">
            <a:noAutofit/>
          </a:bodyPr>
          <a:lstStyle/>
          <a:p>
            <a:pPr algn="l">
              <a:lnSpc>
                <a:spcPct val="115000"/>
              </a:lnSpc>
              <a:spcAft>
                <a:spcPts val="0"/>
              </a:spcAft>
            </a:pPr>
            <a:r>
              <a:rPr sz="1019" b="0" i="0">
                <a:solidFill>
                  <a:srgbClr val="ADC9BE"/>
                </a:solidFill>
                <a:latin typeface="Avenir Next"/>
              </a:rPr>
              <a:t>No prediction. Advice is “sensor data not trusted”.
Critical alert is raised.</a:t>
            </a:r>
          </a:p>
        </p:txBody>
      </p:sp>
      <p:sp>
        <p:nvSpPr>
          <p:cNvPr id="42" name="Rounded Rectangle 41"/>
          <p:cNvSpPr/>
          <p:nvPr/>
        </p:nvSpPr>
        <p:spPr>
          <a:xfrm>
            <a:off x="1143000" y="6858000"/>
            <a:ext cx="15864840" cy="713232"/>
          </a:xfrm>
          <a:prstGeom prst="roundRect">
            <a:avLst>
              <a:gd name="adj" fmla="val 8000"/>
            </a:avLst>
          </a:prstGeom>
          <a:solidFill>
            <a:srgbClr val="102C23"/>
          </a:solidFill>
          <a:ln w="10160">
            <a:solidFill>
              <a:srgbClr val="F0B42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3" name="TextBox 42"/>
          <p:cNvSpPr txBox="1"/>
          <p:nvPr/>
        </p:nvSpPr>
        <p:spPr>
          <a:xfrm>
            <a:off x="1417320" y="7004304"/>
            <a:ext cx="15316200" cy="420624"/>
          </a:xfrm>
          <a:prstGeom prst="rect">
            <a:avLst/>
          </a:prstGeom>
          <a:noFill/>
        </p:spPr>
        <p:txBody>
          <a:bodyPr wrap="square" lIns="18288" tIns="18288" rIns="18288" bIns="18288" anchor="t">
            <a:noAutofit/>
          </a:bodyPr>
          <a:lstStyle/>
          <a:p>
            <a:pPr algn="l">
              <a:lnSpc>
                <a:spcPct val="105000"/>
              </a:lnSpc>
              <a:spcAft>
                <a:spcPts val="0"/>
              </a:spcAft>
            </a:pPr>
            <a:r>
              <a:rPr sz="1120" b="1" i="0">
                <a:solidFill>
                  <a:srgbClr val="F4FFFA"/>
                </a:solidFill>
                <a:latin typeface="Avenir Next"/>
              </a:rPr>
              <a:t>Correction from the original deck: Amber still reaches the model. It is cautious guidance, not a blocked state.</a:t>
            </a:r>
          </a:p>
        </p:txBody>
      </p:sp>
      <p:sp>
        <p:nvSpPr>
          <p:cNvPr id="44" name="TextBox 43"/>
          <p:cNvSpPr txBox="1"/>
          <p:nvPr/>
        </p:nvSpPr>
        <p:spPr>
          <a:xfrm>
            <a:off x="4983480" y="9619488"/>
            <a:ext cx="5852160" cy="228600"/>
          </a:xfrm>
          <a:prstGeom prst="rect">
            <a:avLst/>
          </a:prstGeom>
          <a:noFill/>
        </p:spPr>
        <p:txBody>
          <a:bodyPr wrap="square" lIns="0" tIns="0" rIns="0" bIns="0" anchor="t">
            <a:noAutofit/>
          </a:bodyPr>
          <a:lstStyle/>
          <a:p>
            <a:pPr algn="l">
              <a:lnSpc>
                <a:spcPct val="105000"/>
              </a:lnSpc>
              <a:spcAft>
                <a:spcPts val="0"/>
              </a:spcAft>
            </a:pPr>
            <a:r>
              <a:rPr sz="819" b="0" i="0">
                <a:solidFill>
                  <a:srgbClr val="7CA091"/>
                </a:solidFill>
                <a:latin typeface="Avenir Next"/>
              </a:rPr>
              <a:t>TrustFarm  ·  INNOVA 2026  ·  ICBT</a:t>
            </a:r>
          </a:p>
        </p:txBody>
      </p:sp>
      <p:sp>
        <p:nvSpPr>
          <p:cNvPr id="45" name="TextBox 44"/>
          <p:cNvSpPr txBox="1"/>
          <p:nvPr/>
        </p:nvSpPr>
        <p:spPr>
          <a:xfrm>
            <a:off x="11018520" y="9619488"/>
            <a:ext cx="1234440" cy="228600"/>
          </a:xfrm>
          <a:prstGeom prst="rect">
            <a:avLst/>
          </a:prstGeom>
          <a:noFill/>
        </p:spPr>
        <p:txBody>
          <a:bodyPr wrap="square" lIns="0" tIns="0" rIns="0" bIns="0" anchor="t">
            <a:noAutofit/>
          </a:bodyPr>
          <a:lstStyle/>
          <a:p>
            <a:pPr algn="r">
              <a:lnSpc>
                <a:spcPct val="105000"/>
              </a:lnSpc>
              <a:spcAft>
                <a:spcPts val="0"/>
              </a:spcAft>
            </a:pPr>
            <a:r>
              <a:rPr sz="819" b="0" i="0">
                <a:solidFill>
                  <a:srgbClr val="7CA091"/>
                </a:solidFill>
                <a:latin typeface="Avenir Next"/>
              </a:rPr>
              <a:t>10 / 25</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1A1D1C"/>
        </a:solidFill>
        <a:effectLst/>
      </p:bgPr>
    </p:bg>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25192566" h="16800292">
                <a:moveTo>
                  <a:pt x="0" y="0"/>
                </a:moveTo>
                <a:lnTo>
                  <a:pt x="25192566" y="0"/>
                </a:lnTo>
                <a:lnTo>
                  <a:pt x="25192566" y="16800292"/>
                </a:lnTo>
                <a:lnTo>
                  <a:pt x="0" y="16800292"/>
                </a:lnTo>
                <a:lnTo>
                  <a:pt x="0" y="0"/>
                </a:lnTo>
                <a:close/>
              </a:path>
            </a:pathLst>
          </a:custGeom>
          <a:blipFill>
            <a:blip r:embed="rId3"/>
            <a:stretch>
              <a:fillRect/>
            </a:stretch>
          </a:blipFill>
        </p:spPr>
        <p:txBody>
          <a:bodyPr/>
          <a:lstStyle/>
          <a:p>
            <a:endParaRPr/>
          </a:p>
        </p:txBody>
      </p:sp>
      <p:sp>
        <p:nvSpPr>
          <p:cNvPr id="3" name="Freeform 3"/>
          <p:cNvSpPr/>
          <p:nvPr/>
        </p:nvSpPr>
        <p:spPr>
          <a:xfrm>
            <a:off x="12596283" y="8658721"/>
            <a:ext cx="6457129" cy="1628279"/>
          </a:xfrm>
          <a:custGeom>
            <a:avLst/>
            <a:gdLst/>
            <a:ahLst/>
            <a:cxnLst/>
            <a:rect l="l" t="t" r="r" b="b"/>
            <a:pathLst>
              <a:path w="6457129" h="1628279">
                <a:moveTo>
                  <a:pt x="0" y="0"/>
                </a:moveTo>
                <a:lnTo>
                  <a:pt x="6457129" y="0"/>
                </a:lnTo>
                <a:lnTo>
                  <a:pt x="6457129" y="1628279"/>
                </a:lnTo>
                <a:lnTo>
                  <a:pt x="0" y="1628279"/>
                </a:lnTo>
                <a:lnTo>
                  <a:pt x="0" y="0"/>
                </a:lnTo>
                <a:close/>
              </a:path>
            </a:pathLst>
          </a:custGeom>
          <a:blipFill>
            <a:blip r:embed="rId4"/>
            <a:stretch>
              <a:fillRect t="-85078" b="-85078"/>
            </a:stretch>
          </a:blipFill>
        </p:spPr>
        <p:txBody>
          <a:bodyPr/>
          <a:lstStyle/>
          <a:p>
            <a:endParaRPr/>
          </a:p>
        </p:txBody>
      </p:sp>
      <p:sp>
        <p:nvSpPr>
          <p:cNvPr id="4" name="Freeform 4"/>
          <p:cNvSpPr/>
          <p:nvPr/>
        </p:nvSpPr>
        <p:spPr>
          <a:xfrm>
            <a:off x="0" y="8072991"/>
            <a:ext cx="2839033" cy="2839033"/>
          </a:xfrm>
          <a:custGeom>
            <a:avLst/>
            <a:gdLst/>
            <a:ahLst/>
            <a:cxnLst/>
            <a:rect l="l" t="t" r="r" b="b"/>
            <a:pathLst>
              <a:path w="2839033" h="2839033">
                <a:moveTo>
                  <a:pt x="0" y="0"/>
                </a:moveTo>
                <a:lnTo>
                  <a:pt x="2839033" y="0"/>
                </a:lnTo>
                <a:lnTo>
                  <a:pt x="2839033" y="2839033"/>
                </a:lnTo>
                <a:lnTo>
                  <a:pt x="0" y="2839033"/>
                </a:lnTo>
                <a:lnTo>
                  <a:pt x="0" y="0"/>
                </a:lnTo>
                <a:close/>
              </a:path>
            </a:pathLst>
          </a:custGeom>
          <a:blipFill>
            <a:blip r:embed="rId5"/>
            <a:stretch>
              <a:fillRect/>
            </a:stretch>
          </a:blipFill>
        </p:spPr>
        <p:txBody>
          <a:bodyPr/>
          <a:lstStyle/>
          <a:p>
            <a:endParaRPr/>
          </a:p>
        </p:txBody>
      </p:sp>
      <p:sp>
        <p:nvSpPr>
          <p:cNvPr id="5" name="TextBox 4"/>
          <p:cNvSpPr txBox="1"/>
          <p:nvPr/>
        </p:nvSpPr>
        <p:spPr>
          <a:xfrm>
            <a:off x="1143000" y="841248"/>
            <a:ext cx="10972800" cy="292608"/>
          </a:xfrm>
          <a:prstGeom prst="rect">
            <a:avLst/>
          </a:prstGeom>
          <a:noFill/>
        </p:spPr>
        <p:txBody>
          <a:bodyPr wrap="square" lIns="0" tIns="0" rIns="0" bIns="0" anchor="t">
            <a:noAutofit/>
          </a:bodyPr>
          <a:lstStyle/>
          <a:p>
            <a:pPr algn="l">
              <a:lnSpc>
                <a:spcPct val="105000"/>
              </a:lnSpc>
              <a:spcAft>
                <a:spcPts val="0"/>
              </a:spcAft>
            </a:pPr>
            <a:r>
              <a:rPr sz="1000" b="1" i="0">
                <a:solidFill>
                  <a:srgbClr val="A6F26B"/>
                </a:solidFill>
                <a:latin typeface="Avenir Next"/>
              </a:rPr>
              <a:t>AI FORECASTING</a:t>
            </a:r>
          </a:p>
        </p:txBody>
      </p:sp>
      <p:sp>
        <p:nvSpPr>
          <p:cNvPr id="6" name="TextBox 5"/>
          <p:cNvSpPr txBox="1"/>
          <p:nvPr/>
        </p:nvSpPr>
        <p:spPr>
          <a:xfrm>
            <a:off x="1097280" y="1124712"/>
            <a:ext cx="13075920" cy="676656"/>
          </a:xfrm>
          <a:prstGeom prst="rect">
            <a:avLst/>
          </a:prstGeom>
          <a:noFill/>
        </p:spPr>
        <p:txBody>
          <a:bodyPr wrap="square" lIns="0" tIns="0" rIns="0" bIns="0" anchor="t">
            <a:noAutofit/>
          </a:bodyPr>
          <a:lstStyle/>
          <a:p>
            <a:pPr algn="l">
              <a:lnSpc>
                <a:spcPct val="98000"/>
              </a:lnSpc>
              <a:spcAft>
                <a:spcPts val="0"/>
              </a:spcAft>
            </a:pPr>
            <a:r>
              <a:rPr sz="3300" b="1" i="0">
                <a:solidFill>
                  <a:srgbClr val="F4FFFA"/>
                </a:solidFill>
                <a:latin typeface="Avenir Next"/>
              </a:rPr>
              <a:t>Three hours ahead, with safety rails.</a:t>
            </a:r>
          </a:p>
        </p:txBody>
      </p:sp>
      <p:sp>
        <p:nvSpPr>
          <p:cNvPr id="7" name="TextBox 6"/>
          <p:cNvSpPr txBox="1"/>
          <p:nvPr/>
        </p:nvSpPr>
        <p:spPr>
          <a:xfrm>
            <a:off x="1143000" y="1865376"/>
            <a:ext cx="13258800" cy="502920"/>
          </a:xfrm>
          <a:prstGeom prst="rect">
            <a:avLst/>
          </a:prstGeom>
          <a:noFill/>
        </p:spPr>
        <p:txBody>
          <a:bodyPr wrap="square" lIns="0" tIns="0" rIns="0" bIns="0" anchor="t">
            <a:noAutofit/>
          </a:bodyPr>
          <a:lstStyle/>
          <a:p>
            <a:pPr algn="l">
              <a:lnSpc>
                <a:spcPct val="110000"/>
              </a:lnSpc>
              <a:spcAft>
                <a:spcPts val="0"/>
              </a:spcAft>
            </a:pPr>
            <a:r>
              <a:rPr sz="1400" b="0" i="0">
                <a:solidFill>
                  <a:srgbClr val="ADC9BE"/>
                </a:solidFill>
                <a:latin typeface="Avenir Next"/>
              </a:rPr>
              <a:t>The forecast is useful only when its inputs and limits are visible.</a:t>
            </a:r>
          </a:p>
        </p:txBody>
      </p:sp>
      <p:sp>
        <p:nvSpPr>
          <p:cNvPr id="8" name="Rectangle 7"/>
          <p:cNvSpPr/>
          <p:nvPr/>
        </p:nvSpPr>
        <p:spPr>
          <a:xfrm>
            <a:off x="1143000" y="2542032"/>
            <a:ext cx="1143000" cy="41148"/>
          </a:xfrm>
          <a:prstGeom prst="rect">
            <a:avLst/>
          </a:prstGeom>
          <a:solidFill>
            <a:srgbClr val="A6F2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ounded Rectangle 8"/>
          <p:cNvSpPr/>
          <p:nvPr/>
        </p:nvSpPr>
        <p:spPr>
          <a:xfrm>
            <a:off x="14127480" y="1143000"/>
            <a:ext cx="3017520" cy="347472"/>
          </a:xfrm>
          <a:prstGeom prst="roundRect">
            <a:avLst>
              <a:gd name="adj" fmla="val 50000"/>
            </a:avLst>
          </a:prstGeom>
          <a:solidFill>
            <a:srgbClr val="0A221B"/>
          </a:solidFill>
          <a:ln w="8890">
            <a:solidFill>
              <a:srgbClr val="A6F26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14164055" y="1161288"/>
            <a:ext cx="2944368" cy="310896"/>
          </a:xfrm>
          <a:prstGeom prst="rect">
            <a:avLst/>
          </a:prstGeom>
          <a:noFill/>
        </p:spPr>
        <p:txBody>
          <a:bodyPr wrap="square" lIns="9144" tIns="0" rIns="9144" bIns="0" anchor="ctr">
            <a:noAutofit/>
          </a:bodyPr>
          <a:lstStyle/>
          <a:p>
            <a:pPr algn="ctr">
              <a:lnSpc>
                <a:spcPct val="105000"/>
              </a:lnSpc>
              <a:spcAft>
                <a:spcPts val="0"/>
              </a:spcAft>
            </a:pPr>
            <a:r>
              <a:rPr sz="819" b="1" i="0">
                <a:solidFill>
                  <a:srgbClr val="A6F26B"/>
                </a:solidFill>
                <a:latin typeface="Avenir Next"/>
              </a:rPr>
              <a:t>IMPLEMENTED · SYNTHETIC-TRAINED</a:t>
            </a:r>
          </a:p>
        </p:txBody>
      </p:sp>
      <p:sp>
        <p:nvSpPr>
          <p:cNvPr id="11" name="Rounded Rectangle 10"/>
          <p:cNvSpPr/>
          <p:nvPr/>
        </p:nvSpPr>
        <p:spPr>
          <a:xfrm>
            <a:off x="1143000" y="2788920"/>
            <a:ext cx="9189720" cy="4754880"/>
          </a:xfrm>
          <a:prstGeom prst="roundRect">
            <a:avLst>
              <a:gd name="adj" fmla="val 8000"/>
            </a:avLst>
          </a:prstGeom>
          <a:solidFill>
            <a:srgbClr val="071813"/>
          </a:solidFill>
          <a:ln w="10160">
            <a:solidFill>
              <a:srgbClr val="2C5A4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Oval 11"/>
          <p:cNvSpPr/>
          <p:nvPr/>
        </p:nvSpPr>
        <p:spPr>
          <a:xfrm>
            <a:off x="1389888" y="2999232"/>
            <a:ext cx="438912" cy="438912"/>
          </a:xfrm>
          <a:prstGeom prst="ellipse">
            <a:avLst/>
          </a:prstGeom>
          <a:solidFill>
            <a:srgbClr val="102C23"/>
          </a:solidFill>
          <a:ln w="12700">
            <a:solidFill>
              <a:srgbClr val="F5C45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1389888" y="2990088"/>
            <a:ext cx="438912" cy="438912"/>
          </a:xfrm>
          <a:prstGeom prst="rect">
            <a:avLst/>
          </a:prstGeom>
          <a:noFill/>
        </p:spPr>
        <p:txBody>
          <a:bodyPr wrap="square" lIns="0" tIns="0" rIns="0" bIns="0" anchor="ctr">
            <a:noAutofit/>
          </a:bodyPr>
          <a:lstStyle/>
          <a:p>
            <a:pPr algn="ctr">
              <a:lnSpc>
                <a:spcPct val="105000"/>
              </a:lnSpc>
              <a:spcAft>
                <a:spcPts val="0"/>
              </a:spcAft>
            </a:pPr>
            <a:r>
              <a:rPr sz="1000" b="1" i="0">
                <a:solidFill>
                  <a:srgbClr val="F5C451"/>
                </a:solidFill>
                <a:latin typeface="Avenir Next"/>
              </a:rPr>
              <a:t>1</a:t>
            </a:r>
          </a:p>
        </p:txBody>
      </p:sp>
      <p:sp>
        <p:nvSpPr>
          <p:cNvPr id="14" name="TextBox 13"/>
          <p:cNvSpPr txBox="1"/>
          <p:nvPr/>
        </p:nvSpPr>
        <p:spPr>
          <a:xfrm>
            <a:off x="1993392" y="2971800"/>
            <a:ext cx="2331720" cy="256032"/>
          </a:xfrm>
          <a:prstGeom prst="rect">
            <a:avLst/>
          </a:prstGeom>
          <a:noFill/>
        </p:spPr>
        <p:txBody>
          <a:bodyPr wrap="square" lIns="18288" tIns="18288" rIns="18288" bIns="18288" anchor="t">
            <a:noAutofit/>
          </a:bodyPr>
          <a:lstStyle/>
          <a:p>
            <a:pPr algn="l">
              <a:lnSpc>
                <a:spcPct val="105000"/>
              </a:lnSpc>
              <a:spcAft>
                <a:spcPts val="0"/>
              </a:spcAft>
            </a:pPr>
            <a:r>
              <a:rPr sz="1120" b="1" i="0">
                <a:solidFill>
                  <a:srgbClr val="F4FFFA"/>
                </a:solidFill>
                <a:latin typeface="Avenir Next"/>
              </a:rPr>
              <a:t>5-min history</a:t>
            </a:r>
          </a:p>
        </p:txBody>
      </p:sp>
      <p:sp>
        <p:nvSpPr>
          <p:cNvPr id="15" name="TextBox 14"/>
          <p:cNvSpPr txBox="1"/>
          <p:nvPr/>
        </p:nvSpPr>
        <p:spPr>
          <a:xfrm>
            <a:off x="4315968" y="2971800"/>
            <a:ext cx="5715000" cy="658368"/>
          </a:xfrm>
          <a:prstGeom prst="rect">
            <a:avLst/>
          </a:prstGeom>
          <a:noFill/>
        </p:spPr>
        <p:txBody>
          <a:bodyPr wrap="square" lIns="18288" tIns="18288" rIns="18288" bIns="18288" anchor="t">
            <a:noAutofit/>
          </a:bodyPr>
          <a:lstStyle/>
          <a:p>
            <a:pPr algn="l">
              <a:lnSpc>
                <a:spcPct val="105000"/>
              </a:lnSpc>
              <a:spcAft>
                <a:spcPts val="0"/>
              </a:spcAft>
            </a:pPr>
            <a:r>
              <a:rPr sz="960" b="0" i="0">
                <a:solidFill>
                  <a:srgbClr val="ADC9BE"/>
                </a:solidFill>
                <a:latin typeface="Avenir Next"/>
              </a:rPr>
              <a:t>Recent soil, temperature, humidity, rain and flow from the last 7 hours.</a:t>
            </a:r>
          </a:p>
        </p:txBody>
      </p:sp>
      <p:sp>
        <p:nvSpPr>
          <p:cNvPr id="16" name="Oval 15"/>
          <p:cNvSpPr/>
          <p:nvPr/>
        </p:nvSpPr>
        <p:spPr>
          <a:xfrm>
            <a:off x="1389888" y="3858768"/>
            <a:ext cx="438912" cy="438912"/>
          </a:xfrm>
          <a:prstGeom prst="ellipse">
            <a:avLst/>
          </a:prstGeom>
          <a:solidFill>
            <a:srgbClr val="102C23"/>
          </a:solidFill>
          <a:ln w="12700">
            <a:solidFill>
              <a:srgbClr val="F5C45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1389888" y="3849624"/>
            <a:ext cx="438912" cy="438912"/>
          </a:xfrm>
          <a:prstGeom prst="rect">
            <a:avLst/>
          </a:prstGeom>
          <a:noFill/>
        </p:spPr>
        <p:txBody>
          <a:bodyPr wrap="square" lIns="0" tIns="0" rIns="0" bIns="0" anchor="ctr">
            <a:noAutofit/>
          </a:bodyPr>
          <a:lstStyle/>
          <a:p>
            <a:pPr algn="ctr">
              <a:lnSpc>
                <a:spcPct val="105000"/>
              </a:lnSpc>
              <a:spcAft>
                <a:spcPts val="0"/>
              </a:spcAft>
            </a:pPr>
            <a:r>
              <a:rPr sz="1000" b="1" i="0">
                <a:solidFill>
                  <a:srgbClr val="F5C451"/>
                </a:solidFill>
                <a:latin typeface="Avenir Next"/>
              </a:rPr>
              <a:t>2</a:t>
            </a:r>
          </a:p>
        </p:txBody>
      </p:sp>
      <p:sp>
        <p:nvSpPr>
          <p:cNvPr id="18" name="TextBox 17"/>
          <p:cNvSpPr txBox="1"/>
          <p:nvPr/>
        </p:nvSpPr>
        <p:spPr>
          <a:xfrm>
            <a:off x="1993392" y="3831335"/>
            <a:ext cx="2331720" cy="256032"/>
          </a:xfrm>
          <a:prstGeom prst="rect">
            <a:avLst/>
          </a:prstGeom>
          <a:noFill/>
        </p:spPr>
        <p:txBody>
          <a:bodyPr wrap="square" lIns="18288" tIns="18288" rIns="18288" bIns="18288" anchor="t">
            <a:noAutofit/>
          </a:bodyPr>
          <a:lstStyle/>
          <a:p>
            <a:pPr algn="l">
              <a:lnSpc>
                <a:spcPct val="105000"/>
              </a:lnSpc>
              <a:spcAft>
                <a:spcPts val="0"/>
              </a:spcAft>
            </a:pPr>
            <a:r>
              <a:rPr sz="1120" b="1" i="0">
                <a:solidFill>
                  <a:srgbClr val="F4FFFA"/>
                </a:solidFill>
                <a:latin typeface="Avenir Next"/>
              </a:rPr>
              <a:t>10 features</a:t>
            </a:r>
          </a:p>
        </p:txBody>
      </p:sp>
      <p:sp>
        <p:nvSpPr>
          <p:cNvPr id="19" name="TextBox 18"/>
          <p:cNvSpPr txBox="1"/>
          <p:nvPr/>
        </p:nvSpPr>
        <p:spPr>
          <a:xfrm>
            <a:off x="4315968" y="3831335"/>
            <a:ext cx="5715000" cy="658368"/>
          </a:xfrm>
          <a:prstGeom prst="rect">
            <a:avLst/>
          </a:prstGeom>
          <a:noFill/>
        </p:spPr>
        <p:txBody>
          <a:bodyPr wrap="square" lIns="18288" tIns="18288" rIns="18288" bIns="18288" anchor="t">
            <a:noAutofit/>
          </a:bodyPr>
          <a:lstStyle/>
          <a:p>
            <a:pPr algn="l">
              <a:lnSpc>
                <a:spcPct val="105000"/>
              </a:lnSpc>
              <a:spcAft>
                <a:spcPts val="0"/>
              </a:spcAft>
            </a:pPr>
            <a:r>
              <a:rPr sz="960" b="0" i="0">
                <a:solidFill>
                  <a:srgbClr val="ADC9BE"/>
                </a:solidFill>
                <a:latin typeface="Avenir Next"/>
              </a:rPr>
              <a:t>soil · 15-min / 1-h / 6-h change · temp · humidity · rain 1 h / 6 h · hour-of-day.</a:t>
            </a:r>
          </a:p>
        </p:txBody>
      </p:sp>
      <p:sp>
        <p:nvSpPr>
          <p:cNvPr id="20" name="Oval 19"/>
          <p:cNvSpPr/>
          <p:nvPr/>
        </p:nvSpPr>
        <p:spPr>
          <a:xfrm>
            <a:off x="1389888" y="4718304"/>
            <a:ext cx="438912" cy="438912"/>
          </a:xfrm>
          <a:prstGeom prst="ellipse">
            <a:avLst/>
          </a:prstGeom>
          <a:solidFill>
            <a:srgbClr val="102C23"/>
          </a:solidFill>
          <a:ln w="12700">
            <a:solidFill>
              <a:srgbClr val="F5C45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1389888" y="4709160"/>
            <a:ext cx="438912" cy="438912"/>
          </a:xfrm>
          <a:prstGeom prst="rect">
            <a:avLst/>
          </a:prstGeom>
          <a:noFill/>
        </p:spPr>
        <p:txBody>
          <a:bodyPr wrap="square" lIns="0" tIns="0" rIns="0" bIns="0" anchor="ctr">
            <a:noAutofit/>
          </a:bodyPr>
          <a:lstStyle/>
          <a:p>
            <a:pPr algn="ctr">
              <a:lnSpc>
                <a:spcPct val="105000"/>
              </a:lnSpc>
              <a:spcAft>
                <a:spcPts val="0"/>
              </a:spcAft>
            </a:pPr>
            <a:r>
              <a:rPr sz="1000" b="1" i="0">
                <a:solidFill>
                  <a:srgbClr val="F5C451"/>
                </a:solidFill>
                <a:latin typeface="Avenir Next"/>
              </a:rPr>
              <a:t>3</a:t>
            </a:r>
          </a:p>
        </p:txBody>
      </p:sp>
      <p:sp>
        <p:nvSpPr>
          <p:cNvPr id="22" name="TextBox 21"/>
          <p:cNvSpPr txBox="1"/>
          <p:nvPr/>
        </p:nvSpPr>
        <p:spPr>
          <a:xfrm>
            <a:off x="1993392" y="4690872"/>
            <a:ext cx="2331720" cy="256032"/>
          </a:xfrm>
          <a:prstGeom prst="rect">
            <a:avLst/>
          </a:prstGeom>
          <a:noFill/>
        </p:spPr>
        <p:txBody>
          <a:bodyPr wrap="square" lIns="18288" tIns="18288" rIns="18288" bIns="18288" anchor="t">
            <a:noAutofit/>
          </a:bodyPr>
          <a:lstStyle/>
          <a:p>
            <a:pPr algn="l">
              <a:lnSpc>
                <a:spcPct val="105000"/>
              </a:lnSpc>
              <a:spcAft>
                <a:spcPts val="0"/>
              </a:spcAft>
            </a:pPr>
            <a:r>
              <a:rPr sz="1120" b="1" i="0">
                <a:solidFill>
                  <a:srgbClr val="F4FFFA"/>
                </a:solidFill>
                <a:latin typeface="Avenir Next"/>
              </a:rPr>
              <a:t>3-hour forecast</a:t>
            </a:r>
          </a:p>
        </p:txBody>
      </p:sp>
      <p:sp>
        <p:nvSpPr>
          <p:cNvPr id="23" name="TextBox 22"/>
          <p:cNvSpPr txBox="1"/>
          <p:nvPr/>
        </p:nvSpPr>
        <p:spPr>
          <a:xfrm>
            <a:off x="4315968" y="4690872"/>
            <a:ext cx="5715000" cy="658368"/>
          </a:xfrm>
          <a:prstGeom prst="rect">
            <a:avLst/>
          </a:prstGeom>
          <a:noFill/>
        </p:spPr>
        <p:txBody>
          <a:bodyPr wrap="square" lIns="18288" tIns="18288" rIns="18288" bIns="18288" anchor="t">
            <a:noAutofit/>
          </a:bodyPr>
          <a:lstStyle/>
          <a:p>
            <a:pPr algn="l">
              <a:lnSpc>
                <a:spcPct val="105000"/>
              </a:lnSpc>
              <a:spcAft>
                <a:spcPts val="0"/>
              </a:spcAft>
            </a:pPr>
            <a:r>
              <a:rPr sz="960" b="0" i="0">
                <a:solidFill>
                  <a:srgbClr val="ADC9BE"/>
                </a:solidFill>
                <a:latin typeface="Avenir Next"/>
              </a:rPr>
              <a:t>36 steps at 5-minute resolution — corrected from the old “3 to 6 hours” claim.</a:t>
            </a:r>
          </a:p>
        </p:txBody>
      </p:sp>
      <p:sp>
        <p:nvSpPr>
          <p:cNvPr id="24" name="Oval 23"/>
          <p:cNvSpPr/>
          <p:nvPr/>
        </p:nvSpPr>
        <p:spPr>
          <a:xfrm>
            <a:off x="1389888" y="5577840"/>
            <a:ext cx="438912" cy="438912"/>
          </a:xfrm>
          <a:prstGeom prst="ellipse">
            <a:avLst/>
          </a:prstGeom>
          <a:solidFill>
            <a:srgbClr val="102C23"/>
          </a:solidFill>
          <a:ln w="12700">
            <a:solidFill>
              <a:srgbClr val="F5C45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24"/>
          <p:cNvSpPr txBox="1"/>
          <p:nvPr/>
        </p:nvSpPr>
        <p:spPr>
          <a:xfrm>
            <a:off x="1389888" y="5568696"/>
            <a:ext cx="438912" cy="438912"/>
          </a:xfrm>
          <a:prstGeom prst="rect">
            <a:avLst/>
          </a:prstGeom>
          <a:noFill/>
        </p:spPr>
        <p:txBody>
          <a:bodyPr wrap="square" lIns="0" tIns="0" rIns="0" bIns="0" anchor="ctr">
            <a:noAutofit/>
          </a:bodyPr>
          <a:lstStyle/>
          <a:p>
            <a:pPr algn="ctr">
              <a:lnSpc>
                <a:spcPct val="105000"/>
              </a:lnSpc>
              <a:spcAft>
                <a:spcPts val="0"/>
              </a:spcAft>
            </a:pPr>
            <a:r>
              <a:rPr sz="1000" b="1" i="0">
                <a:solidFill>
                  <a:srgbClr val="F5C451"/>
                </a:solidFill>
                <a:latin typeface="Avenir Next"/>
              </a:rPr>
              <a:t>4</a:t>
            </a:r>
          </a:p>
        </p:txBody>
      </p:sp>
      <p:sp>
        <p:nvSpPr>
          <p:cNvPr id="26" name="TextBox 25"/>
          <p:cNvSpPr txBox="1"/>
          <p:nvPr/>
        </p:nvSpPr>
        <p:spPr>
          <a:xfrm>
            <a:off x="1993392" y="5550407"/>
            <a:ext cx="2331720" cy="256032"/>
          </a:xfrm>
          <a:prstGeom prst="rect">
            <a:avLst/>
          </a:prstGeom>
          <a:noFill/>
        </p:spPr>
        <p:txBody>
          <a:bodyPr wrap="square" lIns="18288" tIns="18288" rIns="18288" bIns="18288" anchor="t">
            <a:noAutofit/>
          </a:bodyPr>
          <a:lstStyle/>
          <a:p>
            <a:pPr algn="l">
              <a:lnSpc>
                <a:spcPct val="105000"/>
              </a:lnSpc>
              <a:spcAft>
                <a:spcPts val="0"/>
              </a:spcAft>
            </a:pPr>
            <a:r>
              <a:rPr sz="1120" b="1" i="0">
                <a:solidFill>
                  <a:srgbClr val="F4FFFA"/>
                </a:solidFill>
                <a:latin typeface="Avenir Next"/>
              </a:rPr>
              <a:t>Need class</a:t>
            </a:r>
          </a:p>
        </p:txBody>
      </p:sp>
      <p:sp>
        <p:nvSpPr>
          <p:cNvPr id="27" name="TextBox 26"/>
          <p:cNvSpPr txBox="1"/>
          <p:nvPr/>
        </p:nvSpPr>
        <p:spPr>
          <a:xfrm>
            <a:off x="4315968" y="5550407"/>
            <a:ext cx="5715000" cy="658368"/>
          </a:xfrm>
          <a:prstGeom prst="rect">
            <a:avLst/>
          </a:prstGeom>
          <a:noFill/>
        </p:spPr>
        <p:txBody>
          <a:bodyPr wrap="square" lIns="18288" tIns="18288" rIns="18288" bIns="18288" anchor="t">
            <a:noAutofit/>
          </a:bodyPr>
          <a:lstStyle/>
          <a:p>
            <a:pPr algn="l">
              <a:lnSpc>
                <a:spcPct val="105000"/>
              </a:lnSpc>
              <a:spcAft>
                <a:spcPts val="0"/>
              </a:spcAft>
            </a:pPr>
            <a:r>
              <a:rPr sz="960" b="0" i="0">
                <a:solidFill>
                  <a:srgbClr val="ADC9BE"/>
                </a:solidFill>
                <a:latin typeface="Avenir Next"/>
              </a:rPr>
              <a:t>RandomForest with balanced classes: Low / Medium / High.</a:t>
            </a:r>
          </a:p>
        </p:txBody>
      </p:sp>
      <p:sp>
        <p:nvSpPr>
          <p:cNvPr id="28" name="Oval 27"/>
          <p:cNvSpPr/>
          <p:nvPr/>
        </p:nvSpPr>
        <p:spPr>
          <a:xfrm>
            <a:off x="1389888" y="6437375"/>
            <a:ext cx="438912" cy="438912"/>
          </a:xfrm>
          <a:prstGeom prst="ellipse">
            <a:avLst/>
          </a:prstGeom>
          <a:solidFill>
            <a:srgbClr val="102C23"/>
          </a:solidFill>
          <a:ln w="12700">
            <a:solidFill>
              <a:srgbClr val="F5C45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TextBox 28"/>
          <p:cNvSpPr txBox="1"/>
          <p:nvPr/>
        </p:nvSpPr>
        <p:spPr>
          <a:xfrm>
            <a:off x="1389888" y="6428231"/>
            <a:ext cx="438912" cy="438912"/>
          </a:xfrm>
          <a:prstGeom prst="rect">
            <a:avLst/>
          </a:prstGeom>
          <a:noFill/>
        </p:spPr>
        <p:txBody>
          <a:bodyPr wrap="square" lIns="0" tIns="0" rIns="0" bIns="0" anchor="ctr">
            <a:noAutofit/>
          </a:bodyPr>
          <a:lstStyle/>
          <a:p>
            <a:pPr algn="ctr">
              <a:lnSpc>
                <a:spcPct val="105000"/>
              </a:lnSpc>
              <a:spcAft>
                <a:spcPts val="0"/>
              </a:spcAft>
            </a:pPr>
            <a:r>
              <a:rPr sz="1000" b="1" i="0">
                <a:solidFill>
                  <a:srgbClr val="F5C451"/>
                </a:solidFill>
                <a:latin typeface="Avenir Next"/>
              </a:rPr>
              <a:t>5</a:t>
            </a:r>
          </a:p>
        </p:txBody>
      </p:sp>
      <p:sp>
        <p:nvSpPr>
          <p:cNvPr id="30" name="TextBox 29"/>
          <p:cNvSpPr txBox="1"/>
          <p:nvPr/>
        </p:nvSpPr>
        <p:spPr>
          <a:xfrm>
            <a:off x="1993392" y="6409943"/>
            <a:ext cx="2331720" cy="256032"/>
          </a:xfrm>
          <a:prstGeom prst="rect">
            <a:avLst/>
          </a:prstGeom>
          <a:noFill/>
        </p:spPr>
        <p:txBody>
          <a:bodyPr wrap="square" lIns="18288" tIns="18288" rIns="18288" bIns="18288" anchor="t">
            <a:noAutofit/>
          </a:bodyPr>
          <a:lstStyle/>
          <a:p>
            <a:pPr algn="l">
              <a:lnSpc>
                <a:spcPct val="105000"/>
              </a:lnSpc>
              <a:spcAft>
                <a:spcPts val="0"/>
              </a:spcAft>
            </a:pPr>
            <a:r>
              <a:rPr sz="1120" b="1" i="0">
                <a:solidFill>
                  <a:srgbClr val="F4FFFA"/>
                </a:solidFill>
                <a:latin typeface="Avenir Next"/>
              </a:rPr>
              <a:t>Reason text</a:t>
            </a:r>
          </a:p>
        </p:txBody>
      </p:sp>
      <p:sp>
        <p:nvSpPr>
          <p:cNvPr id="31" name="TextBox 30"/>
          <p:cNvSpPr txBox="1"/>
          <p:nvPr/>
        </p:nvSpPr>
        <p:spPr>
          <a:xfrm>
            <a:off x="4315968" y="6409943"/>
            <a:ext cx="5715000" cy="658368"/>
          </a:xfrm>
          <a:prstGeom prst="rect">
            <a:avLst/>
          </a:prstGeom>
          <a:noFill/>
        </p:spPr>
        <p:txBody>
          <a:bodyPr wrap="square" lIns="18288" tIns="18288" rIns="18288" bIns="18288" anchor="t">
            <a:noAutofit/>
          </a:bodyPr>
          <a:lstStyle/>
          <a:p>
            <a:pPr algn="l">
              <a:lnSpc>
                <a:spcPct val="105000"/>
              </a:lnSpc>
              <a:spcAft>
                <a:spcPts val="0"/>
              </a:spcAft>
            </a:pPr>
            <a:r>
              <a:rPr sz="960" b="0" i="0">
                <a:solidFill>
                  <a:srgbClr val="ADC9BE"/>
                </a:solidFill>
                <a:latin typeface="Avenir Next"/>
              </a:rPr>
              <a:t>Rule/feature-based explanation, not SHAP. SHAP is a future extension.</a:t>
            </a:r>
          </a:p>
        </p:txBody>
      </p:sp>
      <p:sp>
        <p:nvSpPr>
          <p:cNvPr id="32" name="Rounded Rectangle 31"/>
          <p:cNvSpPr/>
          <p:nvPr/>
        </p:nvSpPr>
        <p:spPr>
          <a:xfrm>
            <a:off x="10652760" y="2788920"/>
            <a:ext cx="6355080" cy="4754880"/>
          </a:xfrm>
          <a:prstGeom prst="roundRect">
            <a:avLst>
              <a:gd name="adj" fmla="val 8000"/>
            </a:avLst>
          </a:prstGeom>
          <a:solidFill>
            <a:srgbClr val="0A221B"/>
          </a:solidFill>
          <a:ln w="10160">
            <a:solidFill>
              <a:srgbClr val="2C5A4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TextBox 32"/>
          <p:cNvSpPr txBox="1"/>
          <p:nvPr/>
        </p:nvSpPr>
        <p:spPr>
          <a:xfrm>
            <a:off x="10899648" y="2999232"/>
            <a:ext cx="5806440" cy="274320"/>
          </a:xfrm>
          <a:prstGeom prst="rect">
            <a:avLst/>
          </a:prstGeom>
          <a:noFill/>
        </p:spPr>
        <p:txBody>
          <a:bodyPr wrap="square" lIns="18288" tIns="18288" rIns="18288" bIns="18288" anchor="t">
            <a:noAutofit/>
          </a:bodyPr>
          <a:lstStyle/>
          <a:p>
            <a:pPr algn="l">
              <a:lnSpc>
                <a:spcPct val="105000"/>
              </a:lnSpc>
              <a:spcAft>
                <a:spcPts val="0"/>
              </a:spcAft>
            </a:pPr>
            <a:r>
              <a:rPr sz="950" b="1" i="0">
                <a:solidFill>
                  <a:srgbClr val="F5C451"/>
                </a:solidFill>
                <a:latin typeface="Avenir Next"/>
              </a:rPr>
              <a:t>SAFETY RAILS</a:t>
            </a:r>
          </a:p>
        </p:txBody>
      </p:sp>
      <p:sp>
        <p:nvSpPr>
          <p:cNvPr id="34" name="TextBox 33"/>
          <p:cNvSpPr txBox="1"/>
          <p:nvPr/>
        </p:nvSpPr>
        <p:spPr>
          <a:xfrm>
            <a:off x="10899648" y="3346704"/>
            <a:ext cx="5806440" cy="1965960"/>
          </a:xfrm>
          <a:prstGeom prst="rect">
            <a:avLst/>
          </a:prstGeom>
          <a:noFill/>
        </p:spPr>
        <p:txBody>
          <a:bodyPr wrap="square" lIns="27432" tIns="27432" rIns="27432" bIns="27432" anchor="t">
            <a:noAutofit/>
          </a:bodyPr>
          <a:lstStyle/>
          <a:p>
            <a:pPr algn="l">
              <a:lnSpc>
                <a:spcPct val="115000"/>
              </a:lnSpc>
              <a:spcAft>
                <a:spcPts val="800"/>
              </a:spcAft>
            </a:pPr>
            <a:r>
              <a:rPr sz="1100" b="1" i="0">
                <a:solidFill>
                  <a:srgbClr val="F4FFFA"/>
                </a:solidFill>
                <a:latin typeface="Avenir Next"/>
              </a:rPr>
              <a:t>High need  </a:t>
            </a:r>
            <a:r>
              <a:rPr sz="1100" b="0" i="0">
                <a:solidFill>
                  <a:srgbClr val="ADC9BE"/>
                </a:solidFill>
                <a:latin typeface="Avenir Next"/>
              </a:rPr>
              <a:t>&lt; 25% soil moisture</a:t>
            </a:r>
          </a:p>
          <a:p>
            <a:pPr algn="l">
              <a:lnSpc>
                <a:spcPct val="115000"/>
              </a:lnSpc>
              <a:spcAft>
                <a:spcPts val="800"/>
              </a:spcAft>
            </a:pPr>
            <a:r>
              <a:rPr sz="1100" b="1" i="0">
                <a:solidFill>
                  <a:srgbClr val="F4FFFA"/>
                </a:solidFill>
                <a:latin typeface="Avenir Next"/>
              </a:rPr>
              <a:t>Medium need  </a:t>
            </a:r>
            <a:r>
              <a:rPr sz="1100" b="0" i="0">
                <a:solidFill>
                  <a:srgbClr val="ADC9BE"/>
                </a:solidFill>
                <a:latin typeface="Avenir Next"/>
              </a:rPr>
              <a:t>&lt; 35%</a:t>
            </a:r>
          </a:p>
          <a:p>
            <a:pPr algn="l">
              <a:lnSpc>
                <a:spcPct val="115000"/>
              </a:lnSpc>
              <a:spcAft>
                <a:spcPts val="800"/>
              </a:spcAft>
            </a:pPr>
            <a:r>
              <a:rPr sz="1100" b="1" i="0">
                <a:solidFill>
                  <a:srgbClr val="F4FFFA"/>
                </a:solidFill>
                <a:latin typeface="Avenir Next"/>
              </a:rPr>
              <a:t>Wilting override  </a:t>
            </a:r>
            <a:r>
              <a:rPr sz="1100" b="0" i="0">
                <a:solidFill>
                  <a:srgbClr val="ADC9BE"/>
                </a:solidFill>
                <a:latin typeface="Avenir Next"/>
              </a:rPr>
              <a:t>&lt; 20% forces High</a:t>
            </a:r>
          </a:p>
        </p:txBody>
      </p:sp>
      <p:sp>
        <p:nvSpPr>
          <p:cNvPr id="35" name="Rectangle 34"/>
          <p:cNvSpPr/>
          <p:nvPr/>
        </p:nvSpPr>
        <p:spPr>
          <a:xfrm>
            <a:off x="10899648" y="5138928"/>
            <a:ext cx="5715000" cy="32004"/>
          </a:xfrm>
          <a:prstGeom prst="rect">
            <a:avLst/>
          </a:prstGeom>
          <a:solidFill>
            <a:srgbClr val="2C5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 name="TextBox 35"/>
          <p:cNvSpPr txBox="1"/>
          <p:nvPr/>
        </p:nvSpPr>
        <p:spPr>
          <a:xfrm>
            <a:off x="10899648" y="5303520"/>
            <a:ext cx="5806440" cy="274320"/>
          </a:xfrm>
          <a:prstGeom prst="rect">
            <a:avLst/>
          </a:prstGeom>
          <a:noFill/>
        </p:spPr>
        <p:txBody>
          <a:bodyPr wrap="square" lIns="18288" tIns="18288" rIns="18288" bIns="18288" anchor="t">
            <a:noAutofit/>
          </a:bodyPr>
          <a:lstStyle/>
          <a:p>
            <a:pPr algn="l">
              <a:lnSpc>
                <a:spcPct val="105000"/>
              </a:lnSpc>
              <a:spcAft>
                <a:spcPts val="0"/>
              </a:spcAft>
            </a:pPr>
            <a:r>
              <a:rPr sz="950" b="1" i="0">
                <a:solidFill>
                  <a:srgbClr val="F0B429"/>
                </a:solidFill>
                <a:latin typeface="Avenir Next"/>
              </a:rPr>
              <a:t>STILL PLACEHOLDERS</a:t>
            </a:r>
          </a:p>
        </p:txBody>
      </p:sp>
      <p:sp>
        <p:nvSpPr>
          <p:cNvPr id="37" name="TextBox 36"/>
          <p:cNvSpPr txBox="1"/>
          <p:nvPr/>
        </p:nvSpPr>
        <p:spPr>
          <a:xfrm>
            <a:off x="10899648" y="5623560"/>
            <a:ext cx="5806440" cy="1417320"/>
          </a:xfrm>
          <a:prstGeom prst="rect">
            <a:avLst/>
          </a:prstGeom>
          <a:noFill/>
        </p:spPr>
        <p:txBody>
          <a:bodyPr wrap="square" lIns="18288" tIns="18288" rIns="18288" bIns="18288" anchor="t">
            <a:noAutofit/>
          </a:bodyPr>
          <a:lstStyle/>
          <a:p>
            <a:pPr algn="l">
              <a:lnSpc>
                <a:spcPct val="112000"/>
              </a:lnSpc>
              <a:spcAft>
                <a:spcPts val="0"/>
              </a:spcAft>
            </a:pPr>
            <a:r>
              <a:rPr sz="1019" b="0" i="0">
                <a:solidFill>
                  <a:srgbClr val="ADC9BE"/>
                </a:solidFill>
                <a:latin typeface="Avenir Next"/>
              </a:rPr>
              <a:t>These thresholds are global. Per-crop calibration, local soil data and SHAP explanations are explicitly future work.</a:t>
            </a:r>
          </a:p>
        </p:txBody>
      </p:sp>
      <p:sp>
        <p:nvSpPr>
          <p:cNvPr id="38" name="TextBox 37"/>
          <p:cNvSpPr txBox="1"/>
          <p:nvPr/>
        </p:nvSpPr>
        <p:spPr>
          <a:xfrm>
            <a:off x="3063240" y="7891272"/>
            <a:ext cx="13898880" cy="274320"/>
          </a:xfrm>
          <a:prstGeom prst="rect">
            <a:avLst/>
          </a:prstGeom>
          <a:noFill/>
        </p:spPr>
        <p:txBody>
          <a:bodyPr wrap="square" lIns="18288" tIns="18288" rIns="18288" bIns="18288" anchor="t">
            <a:noAutofit/>
          </a:bodyPr>
          <a:lstStyle/>
          <a:p>
            <a:pPr algn="l">
              <a:lnSpc>
                <a:spcPct val="105000"/>
              </a:lnSpc>
              <a:spcAft>
                <a:spcPts val="0"/>
              </a:spcAft>
            </a:pPr>
            <a:r>
              <a:rPr sz="919" b="0" i="0">
                <a:solidFill>
                  <a:srgbClr val="7CA091"/>
                </a:solidFill>
                <a:latin typeface="Avenir Next"/>
              </a:rPr>
              <a:t>Forecast target: 3 h at 5-min resolution  ·  Baseline: persistence  ·  Evaluation: MAE / RMSE.</a:t>
            </a:r>
          </a:p>
        </p:txBody>
      </p:sp>
      <p:sp>
        <p:nvSpPr>
          <p:cNvPr id="39" name="TextBox 38"/>
          <p:cNvSpPr txBox="1"/>
          <p:nvPr/>
        </p:nvSpPr>
        <p:spPr>
          <a:xfrm>
            <a:off x="4983480" y="9619488"/>
            <a:ext cx="5852160" cy="228600"/>
          </a:xfrm>
          <a:prstGeom prst="rect">
            <a:avLst/>
          </a:prstGeom>
          <a:noFill/>
        </p:spPr>
        <p:txBody>
          <a:bodyPr wrap="square" lIns="0" tIns="0" rIns="0" bIns="0" anchor="t">
            <a:noAutofit/>
          </a:bodyPr>
          <a:lstStyle/>
          <a:p>
            <a:pPr algn="l">
              <a:lnSpc>
                <a:spcPct val="105000"/>
              </a:lnSpc>
              <a:spcAft>
                <a:spcPts val="0"/>
              </a:spcAft>
            </a:pPr>
            <a:r>
              <a:rPr sz="819" b="0" i="0">
                <a:solidFill>
                  <a:srgbClr val="7CA091"/>
                </a:solidFill>
                <a:latin typeface="Avenir Next"/>
              </a:rPr>
              <a:t>TrustFarm  ·  INNOVA 2026  ·  ICBT</a:t>
            </a:r>
          </a:p>
        </p:txBody>
      </p:sp>
      <p:sp>
        <p:nvSpPr>
          <p:cNvPr id="40" name="TextBox 39"/>
          <p:cNvSpPr txBox="1"/>
          <p:nvPr/>
        </p:nvSpPr>
        <p:spPr>
          <a:xfrm>
            <a:off x="11018520" y="9619488"/>
            <a:ext cx="1234440" cy="228600"/>
          </a:xfrm>
          <a:prstGeom prst="rect">
            <a:avLst/>
          </a:prstGeom>
          <a:noFill/>
        </p:spPr>
        <p:txBody>
          <a:bodyPr wrap="square" lIns="0" tIns="0" rIns="0" bIns="0" anchor="t">
            <a:noAutofit/>
          </a:bodyPr>
          <a:lstStyle/>
          <a:p>
            <a:pPr algn="r">
              <a:lnSpc>
                <a:spcPct val="105000"/>
              </a:lnSpc>
              <a:spcAft>
                <a:spcPts val="0"/>
              </a:spcAft>
            </a:pPr>
            <a:r>
              <a:rPr sz="819" b="0" i="0">
                <a:solidFill>
                  <a:srgbClr val="7CA091"/>
                </a:solidFill>
                <a:latin typeface="Avenir Next"/>
              </a:rPr>
              <a:t>11 / 25</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1A1D1C"/>
        </a:solidFill>
        <a:effectLst/>
      </p:bgPr>
    </p:bg>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25192566" h="16800292">
                <a:moveTo>
                  <a:pt x="0" y="0"/>
                </a:moveTo>
                <a:lnTo>
                  <a:pt x="25192566" y="0"/>
                </a:lnTo>
                <a:lnTo>
                  <a:pt x="25192566" y="16800292"/>
                </a:lnTo>
                <a:lnTo>
                  <a:pt x="0" y="16800292"/>
                </a:lnTo>
                <a:lnTo>
                  <a:pt x="0" y="0"/>
                </a:lnTo>
                <a:close/>
              </a:path>
            </a:pathLst>
          </a:custGeom>
          <a:blipFill>
            <a:blip r:embed="rId3"/>
            <a:stretch>
              <a:fillRect/>
            </a:stretch>
          </a:blipFill>
        </p:spPr>
        <p:txBody>
          <a:bodyPr/>
          <a:lstStyle/>
          <a:p>
            <a:endParaRPr/>
          </a:p>
        </p:txBody>
      </p:sp>
      <p:sp>
        <p:nvSpPr>
          <p:cNvPr id="3" name="Freeform 3"/>
          <p:cNvSpPr/>
          <p:nvPr/>
        </p:nvSpPr>
        <p:spPr>
          <a:xfrm>
            <a:off x="12596283" y="8658721"/>
            <a:ext cx="6457129" cy="1628279"/>
          </a:xfrm>
          <a:custGeom>
            <a:avLst/>
            <a:gdLst/>
            <a:ahLst/>
            <a:cxnLst/>
            <a:rect l="l" t="t" r="r" b="b"/>
            <a:pathLst>
              <a:path w="6457129" h="1628279">
                <a:moveTo>
                  <a:pt x="0" y="0"/>
                </a:moveTo>
                <a:lnTo>
                  <a:pt x="6457129" y="0"/>
                </a:lnTo>
                <a:lnTo>
                  <a:pt x="6457129" y="1628279"/>
                </a:lnTo>
                <a:lnTo>
                  <a:pt x="0" y="1628279"/>
                </a:lnTo>
                <a:lnTo>
                  <a:pt x="0" y="0"/>
                </a:lnTo>
                <a:close/>
              </a:path>
            </a:pathLst>
          </a:custGeom>
          <a:blipFill>
            <a:blip r:embed="rId4"/>
            <a:stretch>
              <a:fillRect t="-85078" b="-85078"/>
            </a:stretch>
          </a:blipFill>
        </p:spPr>
        <p:txBody>
          <a:bodyPr/>
          <a:lstStyle/>
          <a:p>
            <a:endParaRPr/>
          </a:p>
        </p:txBody>
      </p:sp>
      <p:sp>
        <p:nvSpPr>
          <p:cNvPr id="4" name="Freeform 4"/>
          <p:cNvSpPr/>
          <p:nvPr/>
        </p:nvSpPr>
        <p:spPr>
          <a:xfrm>
            <a:off x="0" y="8072991"/>
            <a:ext cx="2839033" cy="2839033"/>
          </a:xfrm>
          <a:custGeom>
            <a:avLst/>
            <a:gdLst/>
            <a:ahLst/>
            <a:cxnLst/>
            <a:rect l="l" t="t" r="r" b="b"/>
            <a:pathLst>
              <a:path w="2839033" h="2839033">
                <a:moveTo>
                  <a:pt x="0" y="0"/>
                </a:moveTo>
                <a:lnTo>
                  <a:pt x="2839033" y="0"/>
                </a:lnTo>
                <a:lnTo>
                  <a:pt x="2839033" y="2839033"/>
                </a:lnTo>
                <a:lnTo>
                  <a:pt x="0" y="2839033"/>
                </a:lnTo>
                <a:lnTo>
                  <a:pt x="0" y="0"/>
                </a:lnTo>
                <a:close/>
              </a:path>
            </a:pathLst>
          </a:custGeom>
          <a:blipFill>
            <a:blip r:embed="rId5"/>
            <a:stretch>
              <a:fillRect/>
            </a:stretch>
          </a:blipFill>
        </p:spPr>
        <p:txBody>
          <a:bodyPr/>
          <a:lstStyle/>
          <a:p>
            <a:endParaRPr/>
          </a:p>
        </p:txBody>
      </p:sp>
      <p:sp>
        <p:nvSpPr>
          <p:cNvPr id="5" name="TextBox 4"/>
          <p:cNvSpPr txBox="1"/>
          <p:nvPr/>
        </p:nvSpPr>
        <p:spPr>
          <a:xfrm>
            <a:off x="1143000" y="841248"/>
            <a:ext cx="10972800" cy="292608"/>
          </a:xfrm>
          <a:prstGeom prst="rect">
            <a:avLst/>
          </a:prstGeom>
          <a:noFill/>
        </p:spPr>
        <p:txBody>
          <a:bodyPr wrap="square" lIns="0" tIns="0" rIns="0" bIns="0" anchor="t">
            <a:noAutofit/>
          </a:bodyPr>
          <a:lstStyle/>
          <a:p>
            <a:pPr algn="l">
              <a:lnSpc>
                <a:spcPct val="105000"/>
              </a:lnSpc>
              <a:spcAft>
                <a:spcPts val="0"/>
              </a:spcAft>
            </a:pPr>
            <a:r>
              <a:rPr sz="1000" b="1" i="0">
                <a:solidFill>
                  <a:srgbClr val="A6F26B"/>
                </a:solidFill>
                <a:latin typeface="Avenir Next"/>
              </a:rPr>
              <a:t>HARDWARE</a:t>
            </a:r>
          </a:p>
        </p:txBody>
      </p:sp>
      <p:sp>
        <p:nvSpPr>
          <p:cNvPr id="6" name="TextBox 5"/>
          <p:cNvSpPr txBox="1"/>
          <p:nvPr/>
        </p:nvSpPr>
        <p:spPr>
          <a:xfrm>
            <a:off x="1097280" y="1124712"/>
            <a:ext cx="13075920" cy="676656"/>
          </a:xfrm>
          <a:prstGeom prst="rect">
            <a:avLst/>
          </a:prstGeom>
          <a:noFill/>
        </p:spPr>
        <p:txBody>
          <a:bodyPr wrap="square" lIns="0" tIns="0" rIns="0" bIns="0" anchor="t">
            <a:noAutofit/>
          </a:bodyPr>
          <a:lstStyle/>
          <a:p>
            <a:pPr algn="l">
              <a:lnSpc>
                <a:spcPct val="98000"/>
              </a:lnSpc>
              <a:spcAft>
                <a:spcPts val="0"/>
              </a:spcAft>
            </a:pPr>
            <a:r>
              <a:rPr sz="3300" b="1" i="0">
                <a:solidFill>
                  <a:srgbClr val="F4FFFA"/>
                </a:solidFill>
                <a:latin typeface="Avenir Next"/>
              </a:rPr>
              <a:t>The node that produces the data.</a:t>
            </a:r>
          </a:p>
        </p:txBody>
      </p:sp>
      <p:sp>
        <p:nvSpPr>
          <p:cNvPr id="7" name="TextBox 6"/>
          <p:cNvSpPr txBox="1"/>
          <p:nvPr/>
        </p:nvSpPr>
        <p:spPr>
          <a:xfrm>
            <a:off x="1143000" y="1865376"/>
            <a:ext cx="13258800" cy="502920"/>
          </a:xfrm>
          <a:prstGeom prst="rect">
            <a:avLst/>
          </a:prstGeom>
          <a:noFill/>
        </p:spPr>
        <p:txBody>
          <a:bodyPr wrap="square" lIns="0" tIns="0" rIns="0" bIns="0" anchor="t">
            <a:noAutofit/>
          </a:bodyPr>
          <a:lstStyle/>
          <a:p>
            <a:pPr algn="l">
              <a:lnSpc>
                <a:spcPct val="110000"/>
              </a:lnSpc>
              <a:spcAft>
                <a:spcPts val="0"/>
              </a:spcAft>
            </a:pPr>
            <a:r>
              <a:rPr sz="1400" b="0" i="0">
                <a:solidFill>
                  <a:srgbClr val="ADC9BE"/>
                </a:solidFill>
                <a:latin typeface="Avenir Next"/>
              </a:rPr>
              <a:t>ESP32, two soil probes, DHT22, rain, flow and dual INA219 power sensing.</a:t>
            </a:r>
          </a:p>
        </p:txBody>
      </p:sp>
      <p:sp>
        <p:nvSpPr>
          <p:cNvPr id="8" name="Rectangle 7"/>
          <p:cNvSpPr/>
          <p:nvPr/>
        </p:nvSpPr>
        <p:spPr>
          <a:xfrm>
            <a:off x="1143000" y="2542032"/>
            <a:ext cx="1143000" cy="41148"/>
          </a:xfrm>
          <a:prstGeom prst="rect">
            <a:avLst/>
          </a:prstGeom>
          <a:solidFill>
            <a:srgbClr val="A6F2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ounded Rectangle 8"/>
          <p:cNvSpPr/>
          <p:nvPr/>
        </p:nvSpPr>
        <p:spPr>
          <a:xfrm>
            <a:off x="14127480" y="1143000"/>
            <a:ext cx="3017520" cy="347472"/>
          </a:xfrm>
          <a:prstGeom prst="roundRect">
            <a:avLst>
              <a:gd name="adj" fmla="val 50000"/>
            </a:avLst>
          </a:prstGeom>
          <a:solidFill>
            <a:srgbClr val="0A221B"/>
          </a:solidFill>
          <a:ln w="8890">
            <a:solidFill>
              <a:srgbClr val="A6F26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14164055" y="1161288"/>
            <a:ext cx="2944368" cy="310896"/>
          </a:xfrm>
          <a:prstGeom prst="rect">
            <a:avLst/>
          </a:prstGeom>
          <a:noFill/>
        </p:spPr>
        <p:txBody>
          <a:bodyPr wrap="square" lIns="9144" tIns="0" rIns="9144" bIns="0" anchor="ctr">
            <a:noAutofit/>
          </a:bodyPr>
          <a:lstStyle/>
          <a:p>
            <a:pPr algn="ctr">
              <a:lnSpc>
                <a:spcPct val="105000"/>
              </a:lnSpc>
              <a:spcAft>
                <a:spcPts val="0"/>
              </a:spcAft>
            </a:pPr>
            <a:r>
              <a:rPr sz="819" b="1" i="0">
                <a:solidFill>
                  <a:srgbClr val="A6F26B"/>
                </a:solidFill>
                <a:latin typeface="Avenir Next"/>
              </a:rPr>
              <a:t>FIRMWARE IMPLEMENTED</a:t>
            </a:r>
          </a:p>
        </p:txBody>
      </p:sp>
      <p:pic>
        <p:nvPicPr>
          <p:cNvPr id="11" name="Picture 10" descr="3D wiring model of the ESP32 node and sensors"/>
          <p:cNvPicPr>
            <a:picLocks noChangeAspect="1"/>
          </p:cNvPicPr>
          <p:nvPr/>
        </p:nvPicPr>
        <p:blipFill>
          <a:blip r:embed="rId6"/>
          <a:stretch>
            <a:fillRect/>
          </a:stretch>
        </p:blipFill>
        <p:spPr>
          <a:xfrm>
            <a:off x="1143000" y="2743200"/>
            <a:ext cx="8138160" cy="4681728"/>
          </a:xfrm>
          <a:prstGeom prst="rect">
            <a:avLst/>
          </a:prstGeom>
        </p:spPr>
      </p:pic>
      <p:sp>
        <p:nvSpPr>
          <p:cNvPr id="12" name="Rounded Rectangle 11"/>
          <p:cNvSpPr/>
          <p:nvPr/>
        </p:nvSpPr>
        <p:spPr>
          <a:xfrm>
            <a:off x="9509760" y="2743200"/>
            <a:ext cx="7498079" cy="4160520"/>
          </a:xfrm>
          <a:prstGeom prst="roundRect">
            <a:avLst>
              <a:gd name="adj" fmla="val 8000"/>
            </a:avLst>
          </a:prstGeom>
          <a:solidFill>
            <a:srgbClr val="0A221B"/>
          </a:solidFill>
          <a:ln w="10160">
            <a:solidFill>
              <a:srgbClr val="2C5A4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9765792" y="2926080"/>
            <a:ext cx="4114800" cy="237744"/>
          </a:xfrm>
          <a:prstGeom prst="rect">
            <a:avLst/>
          </a:prstGeom>
          <a:noFill/>
        </p:spPr>
        <p:txBody>
          <a:bodyPr wrap="square" lIns="18288" tIns="18288" rIns="18288" bIns="18288" anchor="t">
            <a:noAutofit/>
          </a:bodyPr>
          <a:lstStyle/>
          <a:p>
            <a:pPr algn="l">
              <a:lnSpc>
                <a:spcPct val="105000"/>
              </a:lnSpc>
              <a:spcAft>
                <a:spcPts val="0"/>
              </a:spcAft>
            </a:pPr>
            <a:r>
              <a:rPr sz="880" b="1" i="0">
                <a:solidFill>
                  <a:srgbClr val="59D7F0"/>
                </a:solidFill>
                <a:latin typeface="Avenir Next"/>
              </a:rPr>
              <a:t>PIN / INTERFACE</a:t>
            </a:r>
          </a:p>
        </p:txBody>
      </p:sp>
      <p:sp>
        <p:nvSpPr>
          <p:cNvPr id="14" name="TextBox 13"/>
          <p:cNvSpPr txBox="1"/>
          <p:nvPr/>
        </p:nvSpPr>
        <p:spPr>
          <a:xfrm>
            <a:off x="12984480" y="2926080"/>
            <a:ext cx="3749039" cy="237744"/>
          </a:xfrm>
          <a:prstGeom prst="rect">
            <a:avLst/>
          </a:prstGeom>
          <a:noFill/>
        </p:spPr>
        <p:txBody>
          <a:bodyPr wrap="square" lIns="18288" tIns="18288" rIns="18288" bIns="18288" anchor="t">
            <a:noAutofit/>
          </a:bodyPr>
          <a:lstStyle/>
          <a:p>
            <a:pPr algn="l">
              <a:lnSpc>
                <a:spcPct val="105000"/>
              </a:lnSpc>
              <a:spcAft>
                <a:spcPts val="0"/>
              </a:spcAft>
            </a:pPr>
            <a:r>
              <a:rPr sz="880" b="1" i="0">
                <a:solidFill>
                  <a:srgbClr val="59D7F0"/>
                </a:solidFill>
                <a:latin typeface="Avenir Next"/>
              </a:rPr>
              <a:t>SENSOR</a:t>
            </a:r>
          </a:p>
        </p:txBody>
      </p:sp>
      <p:sp>
        <p:nvSpPr>
          <p:cNvPr id="15" name="TextBox 14"/>
          <p:cNvSpPr txBox="1"/>
          <p:nvPr/>
        </p:nvSpPr>
        <p:spPr>
          <a:xfrm>
            <a:off x="9765792" y="3246120"/>
            <a:ext cx="2194560" cy="256032"/>
          </a:xfrm>
          <a:prstGeom prst="rect">
            <a:avLst/>
          </a:prstGeom>
          <a:noFill/>
        </p:spPr>
        <p:txBody>
          <a:bodyPr wrap="square" lIns="18288" tIns="18288" rIns="18288" bIns="18288" anchor="t">
            <a:noAutofit/>
          </a:bodyPr>
          <a:lstStyle/>
          <a:p>
            <a:pPr algn="l">
              <a:lnSpc>
                <a:spcPct val="105000"/>
              </a:lnSpc>
              <a:spcAft>
                <a:spcPts val="0"/>
              </a:spcAft>
            </a:pPr>
            <a:r>
              <a:rPr sz="960" b="1" i="0">
                <a:solidFill>
                  <a:srgbClr val="F5C451"/>
                </a:solidFill>
                <a:latin typeface="Menlo"/>
              </a:rPr>
              <a:t>GPIO 34</a:t>
            </a:r>
          </a:p>
        </p:txBody>
      </p:sp>
      <p:sp>
        <p:nvSpPr>
          <p:cNvPr id="16" name="TextBox 15"/>
          <p:cNvSpPr txBox="1"/>
          <p:nvPr/>
        </p:nvSpPr>
        <p:spPr>
          <a:xfrm>
            <a:off x="11932920" y="3246120"/>
            <a:ext cx="4663440" cy="256032"/>
          </a:xfrm>
          <a:prstGeom prst="rect">
            <a:avLst/>
          </a:prstGeom>
          <a:noFill/>
        </p:spPr>
        <p:txBody>
          <a:bodyPr wrap="square" lIns="18288" tIns="18288" rIns="18288" bIns="18288" anchor="t">
            <a:noAutofit/>
          </a:bodyPr>
          <a:lstStyle/>
          <a:p>
            <a:pPr algn="l">
              <a:lnSpc>
                <a:spcPct val="105000"/>
              </a:lnSpc>
              <a:spcAft>
                <a:spcPts val="0"/>
              </a:spcAft>
            </a:pPr>
            <a:r>
              <a:rPr sz="930" b="0" i="0">
                <a:solidFill>
                  <a:srgbClr val="F4FFFA"/>
                </a:solidFill>
                <a:latin typeface="Avenir Next"/>
              </a:rPr>
              <a:t>Soil probe 1 (analog)</a:t>
            </a:r>
          </a:p>
        </p:txBody>
      </p:sp>
      <p:sp>
        <p:nvSpPr>
          <p:cNvPr id="17" name="Rectangle 16"/>
          <p:cNvSpPr/>
          <p:nvPr/>
        </p:nvSpPr>
        <p:spPr>
          <a:xfrm>
            <a:off x="9765792" y="3593591"/>
            <a:ext cx="6903720" cy="18288"/>
          </a:xfrm>
          <a:prstGeom prst="rect">
            <a:avLst/>
          </a:prstGeom>
          <a:solidFill>
            <a:srgbClr val="1E3D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9765792" y="3694176"/>
            <a:ext cx="2194560" cy="256032"/>
          </a:xfrm>
          <a:prstGeom prst="rect">
            <a:avLst/>
          </a:prstGeom>
          <a:noFill/>
        </p:spPr>
        <p:txBody>
          <a:bodyPr wrap="square" lIns="18288" tIns="18288" rIns="18288" bIns="18288" anchor="t">
            <a:noAutofit/>
          </a:bodyPr>
          <a:lstStyle/>
          <a:p>
            <a:pPr algn="l">
              <a:lnSpc>
                <a:spcPct val="105000"/>
              </a:lnSpc>
              <a:spcAft>
                <a:spcPts val="0"/>
              </a:spcAft>
            </a:pPr>
            <a:r>
              <a:rPr sz="960" b="1" i="0">
                <a:solidFill>
                  <a:srgbClr val="F5C451"/>
                </a:solidFill>
                <a:latin typeface="Menlo"/>
              </a:rPr>
              <a:t>GPIO 35</a:t>
            </a:r>
          </a:p>
        </p:txBody>
      </p:sp>
      <p:sp>
        <p:nvSpPr>
          <p:cNvPr id="19" name="TextBox 18"/>
          <p:cNvSpPr txBox="1"/>
          <p:nvPr/>
        </p:nvSpPr>
        <p:spPr>
          <a:xfrm>
            <a:off x="11932920" y="3694176"/>
            <a:ext cx="4663440" cy="256032"/>
          </a:xfrm>
          <a:prstGeom prst="rect">
            <a:avLst/>
          </a:prstGeom>
          <a:noFill/>
        </p:spPr>
        <p:txBody>
          <a:bodyPr wrap="square" lIns="18288" tIns="18288" rIns="18288" bIns="18288" anchor="t">
            <a:noAutofit/>
          </a:bodyPr>
          <a:lstStyle/>
          <a:p>
            <a:pPr algn="l">
              <a:lnSpc>
                <a:spcPct val="105000"/>
              </a:lnSpc>
              <a:spcAft>
                <a:spcPts val="0"/>
              </a:spcAft>
            </a:pPr>
            <a:r>
              <a:rPr sz="930" b="0" i="0">
                <a:solidFill>
                  <a:srgbClr val="F4FFFA"/>
                </a:solidFill>
                <a:latin typeface="Avenir Next"/>
              </a:rPr>
              <a:t>Soil probe 2 (analog)</a:t>
            </a:r>
          </a:p>
        </p:txBody>
      </p:sp>
      <p:sp>
        <p:nvSpPr>
          <p:cNvPr id="20" name="Rectangle 19"/>
          <p:cNvSpPr/>
          <p:nvPr/>
        </p:nvSpPr>
        <p:spPr>
          <a:xfrm>
            <a:off x="9765792" y="4041648"/>
            <a:ext cx="6903720" cy="18288"/>
          </a:xfrm>
          <a:prstGeom prst="rect">
            <a:avLst/>
          </a:prstGeom>
          <a:solidFill>
            <a:srgbClr val="1E3D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9765792" y="4142231"/>
            <a:ext cx="2194560" cy="256032"/>
          </a:xfrm>
          <a:prstGeom prst="rect">
            <a:avLst/>
          </a:prstGeom>
          <a:noFill/>
        </p:spPr>
        <p:txBody>
          <a:bodyPr wrap="square" lIns="18288" tIns="18288" rIns="18288" bIns="18288" anchor="t">
            <a:noAutofit/>
          </a:bodyPr>
          <a:lstStyle/>
          <a:p>
            <a:pPr algn="l">
              <a:lnSpc>
                <a:spcPct val="105000"/>
              </a:lnSpc>
              <a:spcAft>
                <a:spcPts val="0"/>
              </a:spcAft>
            </a:pPr>
            <a:r>
              <a:rPr sz="960" b="1" i="0">
                <a:solidFill>
                  <a:srgbClr val="F5C451"/>
                </a:solidFill>
                <a:latin typeface="Menlo"/>
              </a:rPr>
              <a:t>GPIO 32</a:t>
            </a:r>
          </a:p>
        </p:txBody>
      </p:sp>
      <p:sp>
        <p:nvSpPr>
          <p:cNvPr id="22" name="TextBox 21"/>
          <p:cNvSpPr txBox="1"/>
          <p:nvPr/>
        </p:nvSpPr>
        <p:spPr>
          <a:xfrm>
            <a:off x="11932920" y="4142231"/>
            <a:ext cx="4663440" cy="256032"/>
          </a:xfrm>
          <a:prstGeom prst="rect">
            <a:avLst/>
          </a:prstGeom>
          <a:noFill/>
        </p:spPr>
        <p:txBody>
          <a:bodyPr wrap="square" lIns="18288" tIns="18288" rIns="18288" bIns="18288" anchor="t">
            <a:noAutofit/>
          </a:bodyPr>
          <a:lstStyle/>
          <a:p>
            <a:pPr algn="l">
              <a:lnSpc>
                <a:spcPct val="105000"/>
              </a:lnSpc>
              <a:spcAft>
                <a:spcPts val="0"/>
              </a:spcAft>
            </a:pPr>
            <a:r>
              <a:rPr sz="930" b="0" i="0">
                <a:solidFill>
                  <a:srgbClr val="F4FFFA"/>
                </a:solidFill>
                <a:latin typeface="Avenir Next"/>
              </a:rPr>
              <a:t>Rain sensor (wet/dry)</a:t>
            </a:r>
          </a:p>
        </p:txBody>
      </p:sp>
      <p:sp>
        <p:nvSpPr>
          <p:cNvPr id="23" name="Rectangle 22"/>
          <p:cNvSpPr/>
          <p:nvPr/>
        </p:nvSpPr>
        <p:spPr>
          <a:xfrm>
            <a:off x="9765792" y="4489703"/>
            <a:ext cx="6903720" cy="18288"/>
          </a:xfrm>
          <a:prstGeom prst="rect">
            <a:avLst/>
          </a:prstGeom>
          <a:solidFill>
            <a:srgbClr val="1E3D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9765792" y="4590288"/>
            <a:ext cx="2194560" cy="256032"/>
          </a:xfrm>
          <a:prstGeom prst="rect">
            <a:avLst/>
          </a:prstGeom>
          <a:noFill/>
        </p:spPr>
        <p:txBody>
          <a:bodyPr wrap="square" lIns="18288" tIns="18288" rIns="18288" bIns="18288" anchor="t">
            <a:noAutofit/>
          </a:bodyPr>
          <a:lstStyle/>
          <a:p>
            <a:pPr algn="l">
              <a:lnSpc>
                <a:spcPct val="105000"/>
              </a:lnSpc>
              <a:spcAft>
                <a:spcPts val="0"/>
              </a:spcAft>
            </a:pPr>
            <a:r>
              <a:rPr sz="960" b="1" i="0">
                <a:solidFill>
                  <a:srgbClr val="F5C451"/>
                </a:solidFill>
                <a:latin typeface="Menlo"/>
              </a:rPr>
              <a:t>GPIO 27</a:t>
            </a:r>
          </a:p>
        </p:txBody>
      </p:sp>
      <p:sp>
        <p:nvSpPr>
          <p:cNvPr id="25" name="TextBox 24"/>
          <p:cNvSpPr txBox="1"/>
          <p:nvPr/>
        </p:nvSpPr>
        <p:spPr>
          <a:xfrm>
            <a:off x="11932920" y="4590288"/>
            <a:ext cx="4663440" cy="256032"/>
          </a:xfrm>
          <a:prstGeom prst="rect">
            <a:avLst/>
          </a:prstGeom>
          <a:noFill/>
        </p:spPr>
        <p:txBody>
          <a:bodyPr wrap="square" lIns="18288" tIns="18288" rIns="18288" bIns="18288" anchor="t">
            <a:noAutofit/>
          </a:bodyPr>
          <a:lstStyle/>
          <a:p>
            <a:pPr algn="l">
              <a:lnSpc>
                <a:spcPct val="105000"/>
              </a:lnSpc>
              <a:spcAft>
                <a:spcPts val="0"/>
              </a:spcAft>
            </a:pPr>
            <a:r>
              <a:rPr sz="930" b="0" i="0">
                <a:solidFill>
                  <a:srgbClr val="F4FFFA"/>
                </a:solidFill>
                <a:latin typeface="Avenir Next"/>
              </a:rPr>
              <a:t>YF-S201 flow (pulse)</a:t>
            </a:r>
          </a:p>
        </p:txBody>
      </p:sp>
      <p:sp>
        <p:nvSpPr>
          <p:cNvPr id="26" name="Rectangle 25"/>
          <p:cNvSpPr/>
          <p:nvPr/>
        </p:nvSpPr>
        <p:spPr>
          <a:xfrm>
            <a:off x="9765792" y="4937759"/>
            <a:ext cx="6903720" cy="18288"/>
          </a:xfrm>
          <a:prstGeom prst="rect">
            <a:avLst/>
          </a:prstGeom>
          <a:solidFill>
            <a:srgbClr val="1E3D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TextBox 26"/>
          <p:cNvSpPr txBox="1"/>
          <p:nvPr/>
        </p:nvSpPr>
        <p:spPr>
          <a:xfrm>
            <a:off x="9765792" y="5038344"/>
            <a:ext cx="2194560" cy="256032"/>
          </a:xfrm>
          <a:prstGeom prst="rect">
            <a:avLst/>
          </a:prstGeom>
          <a:noFill/>
        </p:spPr>
        <p:txBody>
          <a:bodyPr wrap="square" lIns="18288" tIns="18288" rIns="18288" bIns="18288" anchor="t">
            <a:noAutofit/>
          </a:bodyPr>
          <a:lstStyle/>
          <a:p>
            <a:pPr algn="l">
              <a:lnSpc>
                <a:spcPct val="105000"/>
              </a:lnSpc>
              <a:spcAft>
                <a:spcPts val="0"/>
              </a:spcAft>
            </a:pPr>
            <a:r>
              <a:rPr sz="960" b="1" i="0">
                <a:solidFill>
                  <a:srgbClr val="F5C451"/>
                </a:solidFill>
                <a:latin typeface="Menlo"/>
              </a:rPr>
              <a:t>GPIO 4</a:t>
            </a:r>
          </a:p>
        </p:txBody>
      </p:sp>
      <p:sp>
        <p:nvSpPr>
          <p:cNvPr id="28" name="TextBox 27"/>
          <p:cNvSpPr txBox="1"/>
          <p:nvPr/>
        </p:nvSpPr>
        <p:spPr>
          <a:xfrm>
            <a:off x="11932920" y="5038344"/>
            <a:ext cx="4663440" cy="256032"/>
          </a:xfrm>
          <a:prstGeom prst="rect">
            <a:avLst/>
          </a:prstGeom>
          <a:noFill/>
        </p:spPr>
        <p:txBody>
          <a:bodyPr wrap="square" lIns="18288" tIns="18288" rIns="18288" bIns="18288" anchor="t">
            <a:noAutofit/>
          </a:bodyPr>
          <a:lstStyle/>
          <a:p>
            <a:pPr algn="l">
              <a:lnSpc>
                <a:spcPct val="105000"/>
              </a:lnSpc>
              <a:spcAft>
                <a:spcPts val="0"/>
              </a:spcAft>
            </a:pPr>
            <a:r>
              <a:rPr sz="930" b="0" i="0">
                <a:solidFill>
                  <a:srgbClr val="F4FFFA"/>
                </a:solidFill>
                <a:latin typeface="Avenir Next"/>
              </a:rPr>
              <a:t>DHT22 temperature + humidity</a:t>
            </a:r>
          </a:p>
        </p:txBody>
      </p:sp>
      <p:sp>
        <p:nvSpPr>
          <p:cNvPr id="29" name="Rectangle 28"/>
          <p:cNvSpPr/>
          <p:nvPr/>
        </p:nvSpPr>
        <p:spPr>
          <a:xfrm>
            <a:off x="9765792" y="5385816"/>
            <a:ext cx="6903720" cy="18288"/>
          </a:xfrm>
          <a:prstGeom prst="rect">
            <a:avLst/>
          </a:prstGeom>
          <a:solidFill>
            <a:srgbClr val="1E3D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TextBox 29"/>
          <p:cNvSpPr txBox="1"/>
          <p:nvPr/>
        </p:nvSpPr>
        <p:spPr>
          <a:xfrm>
            <a:off x="9765792" y="5486400"/>
            <a:ext cx="2194560" cy="256032"/>
          </a:xfrm>
          <a:prstGeom prst="rect">
            <a:avLst/>
          </a:prstGeom>
          <a:noFill/>
        </p:spPr>
        <p:txBody>
          <a:bodyPr wrap="square" lIns="18288" tIns="18288" rIns="18288" bIns="18288" anchor="t">
            <a:noAutofit/>
          </a:bodyPr>
          <a:lstStyle/>
          <a:p>
            <a:pPr algn="l">
              <a:lnSpc>
                <a:spcPct val="105000"/>
              </a:lnSpc>
              <a:spcAft>
                <a:spcPts val="0"/>
              </a:spcAft>
            </a:pPr>
            <a:r>
              <a:rPr sz="960" b="1" i="0">
                <a:solidFill>
                  <a:srgbClr val="F5C451"/>
                </a:solidFill>
                <a:latin typeface="Menlo"/>
              </a:rPr>
              <a:t>I²C 0x40</a:t>
            </a:r>
          </a:p>
        </p:txBody>
      </p:sp>
      <p:sp>
        <p:nvSpPr>
          <p:cNvPr id="31" name="TextBox 30"/>
          <p:cNvSpPr txBox="1"/>
          <p:nvPr/>
        </p:nvSpPr>
        <p:spPr>
          <a:xfrm>
            <a:off x="11932920" y="5486400"/>
            <a:ext cx="4663440" cy="256032"/>
          </a:xfrm>
          <a:prstGeom prst="rect">
            <a:avLst/>
          </a:prstGeom>
          <a:noFill/>
        </p:spPr>
        <p:txBody>
          <a:bodyPr wrap="square" lIns="18288" tIns="18288" rIns="18288" bIns="18288" anchor="t">
            <a:noAutofit/>
          </a:bodyPr>
          <a:lstStyle/>
          <a:p>
            <a:pPr algn="l">
              <a:lnSpc>
                <a:spcPct val="105000"/>
              </a:lnSpc>
              <a:spcAft>
                <a:spcPts val="0"/>
              </a:spcAft>
            </a:pPr>
            <a:r>
              <a:rPr sz="930" b="0" i="0">
                <a:solidFill>
                  <a:srgbClr val="F4FFFA"/>
                </a:solidFill>
                <a:latin typeface="Avenir Next"/>
              </a:rPr>
              <a:t>INA219 generation / charger</a:t>
            </a:r>
          </a:p>
        </p:txBody>
      </p:sp>
      <p:sp>
        <p:nvSpPr>
          <p:cNvPr id="32" name="Rectangle 31"/>
          <p:cNvSpPr/>
          <p:nvPr/>
        </p:nvSpPr>
        <p:spPr>
          <a:xfrm>
            <a:off x="9765792" y="5833872"/>
            <a:ext cx="6903720" cy="18288"/>
          </a:xfrm>
          <a:prstGeom prst="rect">
            <a:avLst/>
          </a:prstGeom>
          <a:solidFill>
            <a:srgbClr val="1E3D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TextBox 32"/>
          <p:cNvSpPr txBox="1"/>
          <p:nvPr/>
        </p:nvSpPr>
        <p:spPr>
          <a:xfrm>
            <a:off x="9765792" y="5934456"/>
            <a:ext cx="2194560" cy="256032"/>
          </a:xfrm>
          <a:prstGeom prst="rect">
            <a:avLst/>
          </a:prstGeom>
          <a:noFill/>
        </p:spPr>
        <p:txBody>
          <a:bodyPr wrap="square" lIns="18288" tIns="18288" rIns="18288" bIns="18288" anchor="t">
            <a:noAutofit/>
          </a:bodyPr>
          <a:lstStyle/>
          <a:p>
            <a:pPr algn="l">
              <a:lnSpc>
                <a:spcPct val="105000"/>
              </a:lnSpc>
              <a:spcAft>
                <a:spcPts val="0"/>
              </a:spcAft>
            </a:pPr>
            <a:r>
              <a:rPr sz="960" b="1" i="0">
                <a:solidFill>
                  <a:srgbClr val="F5C451"/>
                </a:solidFill>
                <a:latin typeface="Menlo"/>
              </a:rPr>
              <a:t>I²C 0x41</a:t>
            </a:r>
          </a:p>
        </p:txBody>
      </p:sp>
      <p:sp>
        <p:nvSpPr>
          <p:cNvPr id="34" name="TextBox 33"/>
          <p:cNvSpPr txBox="1"/>
          <p:nvPr/>
        </p:nvSpPr>
        <p:spPr>
          <a:xfrm>
            <a:off x="11932920" y="5934456"/>
            <a:ext cx="4663440" cy="256032"/>
          </a:xfrm>
          <a:prstGeom prst="rect">
            <a:avLst/>
          </a:prstGeom>
          <a:noFill/>
        </p:spPr>
        <p:txBody>
          <a:bodyPr wrap="square" lIns="18288" tIns="18288" rIns="18288" bIns="18288" anchor="t">
            <a:noAutofit/>
          </a:bodyPr>
          <a:lstStyle/>
          <a:p>
            <a:pPr algn="l">
              <a:lnSpc>
                <a:spcPct val="105000"/>
              </a:lnSpc>
              <a:spcAft>
                <a:spcPts val="0"/>
              </a:spcAft>
            </a:pPr>
            <a:r>
              <a:rPr sz="930" b="0" i="0">
                <a:solidFill>
                  <a:srgbClr val="F4FFFA"/>
                </a:solidFill>
                <a:latin typeface="Avenir Next"/>
              </a:rPr>
              <a:t>INA219 farm load</a:t>
            </a:r>
          </a:p>
        </p:txBody>
      </p:sp>
      <p:sp>
        <p:nvSpPr>
          <p:cNvPr id="35" name="TextBox 34"/>
          <p:cNvSpPr txBox="1"/>
          <p:nvPr/>
        </p:nvSpPr>
        <p:spPr>
          <a:xfrm>
            <a:off x="9765792" y="6492240"/>
            <a:ext cx="6903720" cy="274320"/>
          </a:xfrm>
          <a:prstGeom prst="rect">
            <a:avLst/>
          </a:prstGeom>
          <a:noFill/>
        </p:spPr>
        <p:txBody>
          <a:bodyPr wrap="square" lIns="18288" tIns="18288" rIns="18288" bIns="18288" anchor="t">
            <a:noAutofit/>
          </a:bodyPr>
          <a:lstStyle/>
          <a:p>
            <a:pPr algn="l">
              <a:lnSpc>
                <a:spcPct val="105000"/>
              </a:lnSpc>
              <a:spcAft>
                <a:spcPts val="0"/>
              </a:spcAft>
            </a:pPr>
            <a:r>
              <a:rPr sz="880" b="1" i="0">
                <a:solidFill>
                  <a:srgbClr val="A6F26B"/>
                </a:solidFill>
                <a:latin typeface="Avenir Next"/>
              </a:rPr>
              <a:t>60 s publish  ·  60-message ring buffer  ·  NTP timestamps</a:t>
            </a:r>
          </a:p>
        </p:txBody>
      </p:sp>
      <p:sp>
        <p:nvSpPr>
          <p:cNvPr id="36" name="TextBox 35"/>
          <p:cNvSpPr txBox="1"/>
          <p:nvPr/>
        </p:nvSpPr>
        <p:spPr>
          <a:xfrm>
            <a:off x="3063240" y="7635240"/>
            <a:ext cx="13898880" cy="256032"/>
          </a:xfrm>
          <a:prstGeom prst="rect">
            <a:avLst/>
          </a:prstGeom>
          <a:noFill/>
        </p:spPr>
        <p:txBody>
          <a:bodyPr wrap="square" lIns="18288" tIns="18288" rIns="18288" bIns="18288" anchor="t">
            <a:noAutofit/>
          </a:bodyPr>
          <a:lstStyle/>
          <a:p>
            <a:pPr algn="l">
              <a:lnSpc>
                <a:spcPct val="105000"/>
              </a:lnSpc>
              <a:spcAft>
                <a:spcPts val="0"/>
              </a:spcAft>
            </a:pPr>
            <a:r>
              <a:rPr sz="919" b="0" i="0">
                <a:solidFill>
                  <a:srgbClr val="7CA091"/>
                </a:solidFill>
                <a:latin typeface="Avenir Next"/>
              </a:rPr>
              <a:t>Physical node not photographed. The image is the project’s interactive 3D wiring model; firmware is in firmware/esp32.</a:t>
            </a:r>
          </a:p>
        </p:txBody>
      </p:sp>
      <p:sp>
        <p:nvSpPr>
          <p:cNvPr id="37" name="TextBox 36"/>
          <p:cNvSpPr txBox="1"/>
          <p:nvPr/>
        </p:nvSpPr>
        <p:spPr>
          <a:xfrm>
            <a:off x="4983480" y="9619488"/>
            <a:ext cx="5852160" cy="228600"/>
          </a:xfrm>
          <a:prstGeom prst="rect">
            <a:avLst/>
          </a:prstGeom>
          <a:noFill/>
        </p:spPr>
        <p:txBody>
          <a:bodyPr wrap="square" lIns="0" tIns="0" rIns="0" bIns="0" anchor="t">
            <a:noAutofit/>
          </a:bodyPr>
          <a:lstStyle/>
          <a:p>
            <a:pPr algn="l">
              <a:lnSpc>
                <a:spcPct val="105000"/>
              </a:lnSpc>
              <a:spcAft>
                <a:spcPts val="0"/>
              </a:spcAft>
            </a:pPr>
            <a:r>
              <a:rPr sz="819" b="0" i="0">
                <a:solidFill>
                  <a:srgbClr val="7CA091"/>
                </a:solidFill>
                <a:latin typeface="Avenir Next"/>
              </a:rPr>
              <a:t>TrustFarm  ·  INNOVA 2026  ·  ICBT</a:t>
            </a:r>
          </a:p>
        </p:txBody>
      </p:sp>
      <p:sp>
        <p:nvSpPr>
          <p:cNvPr id="38" name="TextBox 37"/>
          <p:cNvSpPr txBox="1"/>
          <p:nvPr/>
        </p:nvSpPr>
        <p:spPr>
          <a:xfrm>
            <a:off x="11018520" y="9619488"/>
            <a:ext cx="1234440" cy="228600"/>
          </a:xfrm>
          <a:prstGeom prst="rect">
            <a:avLst/>
          </a:prstGeom>
          <a:noFill/>
        </p:spPr>
        <p:txBody>
          <a:bodyPr wrap="square" lIns="0" tIns="0" rIns="0" bIns="0" anchor="t">
            <a:noAutofit/>
          </a:bodyPr>
          <a:lstStyle/>
          <a:p>
            <a:pPr algn="r">
              <a:lnSpc>
                <a:spcPct val="105000"/>
              </a:lnSpc>
              <a:spcAft>
                <a:spcPts val="0"/>
              </a:spcAft>
            </a:pPr>
            <a:r>
              <a:rPr sz="819" b="0" i="0">
                <a:solidFill>
                  <a:srgbClr val="7CA091"/>
                </a:solidFill>
                <a:latin typeface="Avenir Next"/>
              </a:rPr>
              <a:t>12 / 25</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1A1D1C"/>
        </a:solidFill>
        <a:effectLst/>
      </p:bgPr>
    </p:bg>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25192566" h="16800292">
                <a:moveTo>
                  <a:pt x="0" y="0"/>
                </a:moveTo>
                <a:lnTo>
                  <a:pt x="25192566" y="0"/>
                </a:lnTo>
                <a:lnTo>
                  <a:pt x="25192566" y="16800292"/>
                </a:lnTo>
                <a:lnTo>
                  <a:pt x="0" y="16800292"/>
                </a:lnTo>
                <a:lnTo>
                  <a:pt x="0" y="0"/>
                </a:lnTo>
                <a:close/>
              </a:path>
            </a:pathLst>
          </a:custGeom>
          <a:blipFill>
            <a:blip r:embed="rId3"/>
            <a:stretch>
              <a:fillRect/>
            </a:stretch>
          </a:blipFill>
        </p:spPr>
        <p:txBody>
          <a:bodyPr/>
          <a:lstStyle/>
          <a:p>
            <a:endParaRPr/>
          </a:p>
        </p:txBody>
      </p:sp>
      <p:sp>
        <p:nvSpPr>
          <p:cNvPr id="3" name="Freeform 3"/>
          <p:cNvSpPr/>
          <p:nvPr/>
        </p:nvSpPr>
        <p:spPr>
          <a:xfrm>
            <a:off x="12596283" y="8658721"/>
            <a:ext cx="6457129" cy="1628279"/>
          </a:xfrm>
          <a:custGeom>
            <a:avLst/>
            <a:gdLst/>
            <a:ahLst/>
            <a:cxnLst/>
            <a:rect l="l" t="t" r="r" b="b"/>
            <a:pathLst>
              <a:path w="6457129" h="1628279">
                <a:moveTo>
                  <a:pt x="0" y="0"/>
                </a:moveTo>
                <a:lnTo>
                  <a:pt x="6457129" y="0"/>
                </a:lnTo>
                <a:lnTo>
                  <a:pt x="6457129" y="1628279"/>
                </a:lnTo>
                <a:lnTo>
                  <a:pt x="0" y="1628279"/>
                </a:lnTo>
                <a:lnTo>
                  <a:pt x="0" y="0"/>
                </a:lnTo>
                <a:close/>
              </a:path>
            </a:pathLst>
          </a:custGeom>
          <a:blipFill>
            <a:blip r:embed="rId4"/>
            <a:stretch>
              <a:fillRect t="-85078" b="-85078"/>
            </a:stretch>
          </a:blipFill>
        </p:spPr>
        <p:txBody>
          <a:bodyPr/>
          <a:lstStyle/>
          <a:p>
            <a:endParaRPr/>
          </a:p>
        </p:txBody>
      </p:sp>
      <p:sp>
        <p:nvSpPr>
          <p:cNvPr id="4" name="Freeform 4"/>
          <p:cNvSpPr/>
          <p:nvPr/>
        </p:nvSpPr>
        <p:spPr>
          <a:xfrm>
            <a:off x="0" y="8072991"/>
            <a:ext cx="2839033" cy="2839033"/>
          </a:xfrm>
          <a:custGeom>
            <a:avLst/>
            <a:gdLst/>
            <a:ahLst/>
            <a:cxnLst/>
            <a:rect l="l" t="t" r="r" b="b"/>
            <a:pathLst>
              <a:path w="2839033" h="2839033">
                <a:moveTo>
                  <a:pt x="0" y="0"/>
                </a:moveTo>
                <a:lnTo>
                  <a:pt x="2839033" y="0"/>
                </a:lnTo>
                <a:lnTo>
                  <a:pt x="2839033" y="2839033"/>
                </a:lnTo>
                <a:lnTo>
                  <a:pt x="0" y="2839033"/>
                </a:lnTo>
                <a:lnTo>
                  <a:pt x="0" y="0"/>
                </a:lnTo>
                <a:close/>
              </a:path>
            </a:pathLst>
          </a:custGeom>
          <a:blipFill>
            <a:blip r:embed="rId5"/>
            <a:stretch>
              <a:fillRect/>
            </a:stretch>
          </a:blipFill>
        </p:spPr>
        <p:txBody>
          <a:bodyPr/>
          <a:lstStyle/>
          <a:p>
            <a:endParaRPr/>
          </a:p>
        </p:txBody>
      </p:sp>
      <p:sp>
        <p:nvSpPr>
          <p:cNvPr id="5" name="TextBox 4"/>
          <p:cNvSpPr txBox="1"/>
          <p:nvPr/>
        </p:nvSpPr>
        <p:spPr>
          <a:xfrm>
            <a:off x="1143000" y="841248"/>
            <a:ext cx="10972800" cy="292608"/>
          </a:xfrm>
          <a:prstGeom prst="rect">
            <a:avLst/>
          </a:prstGeom>
          <a:noFill/>
        </p:spPr>
        <p:txBody>
          <a:bodyPr wrap="square" lIns="0" tIns="0" rIns="0" bIns="0" anchor="t">
            <a:noAutofit/>
          </a:bodyPr>
          <a:lstStyle/>
          <a:p>
            <a:pPr algn="l">
              <a:lnSpc>
                <a:spcPct val="105000"/>
              </a:lnSpc>
              <a:spcAft>
                <a:spcPts val="0"/>
              </a:spcAft>
            </a:pPr>
            <a:r>
              <a:rPr sz="1000" b="1" i="0">
                <a:solidFill>
                  <a:srgbClr val="A6F26B"/>
                </a:solidFill>
                <a:latin typeface="Avenir Next"/>
              </a:rPr>
              <a:t>ENERGY</a:t>
            </a:r>
          </a:p>
        </p:txBody>
      </p:sp>
      <p:sp>
        <p:nvSpPr>
          <p:cNvPr id="6" name="TextBox 5"/>
          <p:cNvSpPr txBox="1"/>
          <p:nvPr/>
        </p:nvSpPr>
        <p:spPr>
          <a:xfrm>
            <a:off x="1097280" y="1124712"/>
            <a:ext cx="13075920" cy="676656"/>
          </a:xfrm>
          <a:prstGeom prst="rect">
            <a:avLst/>
          </a:prstGeom>
          <a:noFill/>
        </p:spPr>
        <p:txBody>
          <a:bodyPr wrap="square" lIns="0" tIns="0" rIns="0" bIns="0" anchor="t">
            <a:noAutofit/>
          </a:bodyPr>
          <a:lstStyle/>
          <a:p>
            <a:pPr algn="l">
              <a:lnSpc>
                <a:spcPct val="98000"/>
              </a:lnSpc>
              <a:spcAft>
                <a:spcPts val="0"/>
              </a:spcAft>
            </a:pPr>
            <a:r>
              <a:rPr sz="3300" b="1" i="0">
                <a:solidFill>
                  <a:srgbClr val="F4FFFA"/>
                </a:solidFill>
                <a:latin typeface="Avenir Next"/>
              </a:rPr>
              <a:t>Monitor first. Automate later.</a:t>
            </a:r>
          </a:p>
        </p:txBody>
      </p:sp>
      <p:sp>
        <p:nvSpPr>
          <p:cNvPr id="7" name="TextBox 6"/>
          <p:cNvSpPr txBox="1"/>
          <p:nvPr/>
        </p:nvSpPr>
        <p:spPr>
          <a:xfrm>
            <a:off x="1143000" y="1865376"/>
            <a:ext cx="13258800" cy="502920"/>
          </a:xfrm>
          <a:prstGeom prst="rect">
            <a:avLst/>
          </a:prstGeom>
          <a:noFill/>
        </p:spPr>
        <p:txBody>
          <a:bodyPr wrap="square" lIns="0" tIns="0" rIns="0" bIns="0" anchor="t">
            <a:noAutofit/>
          </a:bodyPr>
          <a:lstStyle/>
          <a:p>
            <a:pPr algn="l">
              <a:lnSpc>
                <a:spcPct val="110000"/>
              </a:lnSpc>
              <a:spcAft>
                <a:spcPts val="0"/>
              </a:spcAft>
            </a:pPr>
            <a:r>
              <a:rPr sz="1400" b="0" i="0">
                <a:solidFill>
                  <a:srgbClr val="ADC9BE"/>
                </a:solidFill>
                <a:latin typeface="Avenir Next"/>
              </a:rPr>
              <a:t>The energy layer can delay irrigation — but the prototype does not switch the pump.</a:t>
            </a:r>
          </a:p>
        </p:txBody>
      </p:sp>
      <p:sp>
        <p:nvSpPr>
          <p:cNvPr id="8" name="Rectangle 7"/>
          <p:cNvSpPr/>
          <p:nvPr/>
        </p:nvSpPr>
        <p:spPr>
          <a:xfrm>
            <a:off x="1143000" y="2542032"/>
            <a:ext cx="1143000" cy="41148"/>
          </a:xfrm>
          <a:prstGeom prst="rect">
            <a:avLst/>
          </a:prstGeom>
          <a:solidFill>
            <a:srgbClr val="A6F2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ounded Rectangle 8"/>
          <p:cNvSpPr/>
          <p:nvPr/>
        </p:nvSpPr>
        <p:spPr>
          <a:xfrm>
            <a:off x="14127480" y="1143000"/>
            <a:ext cx="3017520" cy="347472"/>
          </a:xfrm>
          <a:prstGeom prst="roundRect">
            <a:avLst>
              <a:gd name="adj" fmla="val 50000"/>
            </a:avLst>
          </a:prstGeom>
          <a:solidFill>
            <a:srgbClr val="0A221B"/>
          </a:solidFill>
          <a:ln w="8890">
            <a:solidFill>
              <a:srgbClr val="A6F26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14164055" y="1161288"/>
            <a:ext cx="2944368" cy="310896"/>
          </a:xfrm>
          <a:prstGeom prst="rect">
            <a:avLst/>
          </a:prstGeom>
          <a:noFill/>
        </p:spPr>
        <p:txBody>
          <a:bodyPr wrap="square" lIns="9144" tIns="0" rIns="9144" bIns="0" anchor="ctr">
            <a:noAutofit/>
          </a:bodyPr>
          <a:lstStyle/>
          <a:p>
            <a:pPr algn="ctr">
              <a:lnSpc>
                <a:spcPct val="105000"/>
              </a:lnSpc>
              <a:spcAft>
                <a:spcPts val="0"/>
              </a:spcAft>
            </a:pPr>
            <a:r>
              <a:rPr sz="819" b="1" i="0">
                <a:solidFill>
                  <a:srgbClr val="A6F26B"/>
                </a:solidFill>
                <a:latin typeface="Avenir Next"/>
              </a:rPr>
              <a:t>MONITORING IMPLEMENTED</a:t>
            </a:r>
          </a:p>
        </p:txBody>
      </p:sp>
      <p:sp>
        <p:nvSpPr>
          <p:cNvPr id="11" name="Oval 10"/>
          <p:cNvSpPr/>
          <p:nvPr/>
        </p:nvSpPr>
        <p:spPr>
          <a:xfrm>
            <a:off x="1298448" y="2880360"/>
            <a:ext cx="420624" cy="420624"/>
          </a:xfrm>
          <a:prstGeom prst="ellipse">
            <a:avLst/>
          </a:prstGeom>
          <a:solidFill>
            <a:srgbClr val="102C23"/>
          </a:solidFill>
          <a:ln w="12700">
            <a:solidFill>
              <a:srgbClr val="F5C45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1298448" y="2871216"/>
            <a:ext cx="420624" cy="420624"/>
          </a:xfrm>
          <a:prstGeom prst="rect">
            <a:avLst/>
          </a:prstGeom>
          <a:noFill/>
        </p:spPr>
        <p:txBody>
          <a:bodyPr wrap="square" lIns="0" tIns="0" rIns="0" bIns="0" anchor="ctr">
            <a:noAutofit/>
          </a:bodyPr>
          <a:lstStyle/>
          <a:p>
            <a:pPr algn="ctr">
              <a:lnSpc>
                <a:spcPct val="105000"/>
              </a:lnSpc>
              <a:spcAft>
                <a:spcPts val="0"/>
              </a:spcAft>
            </a:pPr>
            <a:r>
              <a:rPr sz="950" b="1" i="0">
                <a:solidFill>
                  <a:srgbClr val="F5C451"/>
                </a:solidFill>
                <a:latin typeface="Avenir Next"/>
              </a:rPr>
              <a:t>1</a:t>
            </a:r>
          </a:p>
        </p:txBody>
      </p:sp>
      <p:sp>
        <p:nvSpPr>
          <p:cNvPr id="13" name="TextBox 12"/>
          <p:cNvSpPr txBox="1"/>
          <p:nvPr/>
        </p:nvSpPr>
        <p:spPr>
          <a:xfrm>
            <a:off x="1847088" y="2862072"/>
            <a:ext cx="2377440" cy="256032"/>
          </a:xfrm>
          <a:prstGeom prst="rect">
            <a:avLst/>
          </a:prstGeom>
          <a:noFill/>
        </p:spPr>
        <p:txBody>
          <a:bodyPr wrap="square" lIns="18288" tIns="18288" rIns="18288" bIns="18288" anchor="t">
            <a:noAutofit/>
          </a:bodyPr>
          <a:lstStyle/>
          <a:p>
            <a:pPr algn="l">
              <a:lnSpc>
                <a:spcPct val="105000"/>
              </a:lnSpc>
              <a:spcAft>
                <a:spcPts val="0"/>
              </a:spcAft>
            </a:pPr>
            <a:r>
              <a:rPr sz="1150" b="1" i="0">
                <a:solidFill>
                  <a:srgbClr val="F4FFFA"/>
                </a:solidFill>
                <a:latin typeface="Avenir Next"/>
              </a:rPr>
              <a:t>Organic waste</a:t>
            </a:r>
          </a:p>
        </p:txBody>
      </p:sp>
      <p:sp>
        <p:nvSpPr>
          <p:cNvPr id="14" name="TextBox 13"/>
          <p:cNvSpPr txBox="1"/>
          <p:nvPr/>
        </p:nvSpPr>
        <p:spPr>
          <a:xfrm>
            <a:off x="4251960" y="2862072"/>
            <a:ext cx="3246120" cy="256032"/>
          </a:xfrm>
          <a:prstGeom prst="rect">
            <a:avLst/>
          </a:prstGeom>
          <a:noFill/>
        </p:spPr>
        <p:txBody>
          <a:bodyPr wrap="square" lIns="18288" tIns="18288" rIns="18288" bIns="18288" anchor="t">
            <a:noAutofit/>
          </a:bodyPr>
          <a:lstStyle/>
          <a:p>
            <a:pPr algn="l">
              <a:lnSpc>
                <a:spcPct val="105000"/>
              </a:lnSpc>
              <a:spcAft>
                <a:spcPts val="0"/>
              </a:spcAft>
            </a:pPr>
            <a:r>
              <a:rPr sz="919" b="0" i="0">
                <a:solidFill>
                  <a:srgbClr val="ADC9BE"/>
                </a:solidFill>
                <a:latin typeface="Avenir Next"/>
              </a:rPr>
              <a:t>farm and food waste</a:t>
            </a:r>
          </a:p>
        </p:txBody>
      </p:sp>
      <p:sp>
        <p:nvSpPr>
          <p:cNvPr id="15" name="Oval 14"/>
          <p:cNvSpPr/>
          <p:nvPr/>
        </p:nvSpPr>
        <p:spPr>
          <a:xfrm>
            <a:off x="1298448" y="3739896"/>
            <a:ext cx="420624" cy="420624"/>
          </a:xfrm>
          <a:prstGeom prst="ellipse">
            <a:avLst/>
          </a:prstGeom>
          <a:solidFill>
            <a:srgbClr val="102C23"/>
          </a:solidFill>
          <a:ln w="12700">
            <a:solidFill>
              <a:srgbClr val="F5C45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1298448" y="3730752"/>
            <a:ext cx="420624" cy="420624"/>
          </a:xfrm>
          <a:prstGeom prst="rect">
            <a:avLst/>
          </a:prstGeom>
          <a:noFill/>
        </p:spPr>
        <p:txBody>
          <a:bodyPr wrap="square" lIns="0" tIns="0" rIns="0" bIns="0" anchor="ctr">
            <a:noAutofit/>
          </a:bodyPr>
          <a:lstStyle/>
          <a:p>
            <a:pPr algn="ctr">
              <a:lnSpc>
                <a:spcPct val="105000"/>
              </a:lnSpc>
              <a:spcAft>
                <a:spcPts val="0"/>
              </a:spcAft>
            </a:pPr>
            <a:r>
              <a:rPr sz="950" b="1" i="0">
                <a:solidFill>
                  <a:srgbClr val="F5C451"/>
                </a:solidFill>
                <a:latin typeface="Avenir Next"/>
              </a:rPr>
              <a:t>2</a:t>
            </a:r>
          </a:p>
        </p:txBody>
      </p:sp>
      <p:sp>
        <p:nvSpPr>
          <p:cNvPr id="17" name="TextBox 16"/>
          <p:cNvSpPr txBox="1"/>
          <p:nvPr/>
        </p:nvSpPr>
        <p:spPr>
          <a:xfrm>
            <a:off x="1847088" y="3721608"/>
            <a:ext cx="2377440" cy="256032"/>
          </a:xfrm>
          <a:prstGeom prst="rect">
            <a:avLst/>
          </a:prstGeom>
          <a:noFill/>
        </p:spPr>
        <p:txBody>
          <a:bodyPr wrap="square" lIns="18288" tIns="18288" rIns="18288" bIns="18288" anchor="t">
            <a:noAutofit/>
          </a:bodyPr>
          <a:lstStyle/>
          <a:p>
            <a:pPr algn="l">
              <a:lnSpc>
                <a:spcPct val="105000"/>
              </a:lnSpc>
              <a:spcAft>
                <a:spcPts val="0"/>
              </a:spcAft>
            </a:pPr>
            <a:r>
              <a:rPr sz="1150" b="1" i="0">
                <a:solidFill>
                  <a:srgbClr val="F4FFFA"/>
                </a:solidFill>
                <a:latin typeface="Avenir Next"/>
              </a:rPr>
              <a:t>Anaerobic digester</a:t>
            </a:r>
          </a:p>
        </p:txBody>
      </p:sp>
      <p:sp>
        <p:nvSpPr>
          <p:cNvPr id="18" name="TextBox 17"/>
          <p:cNvSpPr txBox="1"/>
          <p:nvPr/>
        </p:nvSpPr>
        <p:spPr>
          <a:xfrm>
            <a:off x="4251960" y="3721608"/>
            <a:ext cx="3246120" cy="256032"/>
          </a:xfrm>
          <a:prstGeom prst="rect">
            <a:avLst/>
          </a:prstGeom>
          <a:noFill/>
        </p:spPr>
        <p:txBody>
          <a:bodyPr wrap="square" lIns="18288" tIns="18288" rIns="18288" bIns="18288" anchor="t">
            <a:noAutofit/>
          </a:bodyPr>
          <a:lstStyle/>
          <a:p>
            <a:pPr algn="l">
              <a:lnSpc>
                <a:spcPct val="105000"/>
              </a:lnSpc>
              <a:spcAft>
                <a:spcPts val="0"/>
              </a:spcAft>
            </a:pPr>
            <a:r>
              <a:rPr sz="919" b="0" i="0">
                <a:solidFill>
                  <a:srgbClr val="ADC9BE"/>
                </a:solidFill>
                <a:latin typeface="Avenir Next"/>
              </a:rPr>
              <a:t>sealed, supervised</a:t>
            </a:r>
          </a:p>
        </p:txBody>
      </p:sp>
      <p:sp>
        <p:nvSpPr>
          <p:cNvPr id="19" name="Oval 18"/>
          <p:cNvSpPr/>
          <p:nvPr/>
        </p:nvSpPr>
        <p:spPr>
          <a:xfrm>
            <a:off x="1298448" y="4599431"/>
            <a:ext cx="420624" cy="420624"/>
          </a:xfrm>
          <a:prstGeom prst="ellipse">
            <a:avLst/>
          </a:prstGeom>
          <a:solidFill>
            <a:srgbClr val="102C23"/>
          </a:solidFill>
          <a:ln w="12700">
            <a:solidFill>
              <a:srgbClr val="F5C45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1298448" y="4590288"/>
            <a:ext cx="420624" cy="420624"/>
          </a:xfrm>
          <a:prstGeom prst="rect">
            <a:avLst/>
          </a:prstGeom>
          <a:noFill/>
        </p:spPr>
        <p:txBody>
          <a:bodyPr wrap="square" lIns="0" tIns="0" rIns="0" bIns="0" anchor="ctr">
            <a:noAutofit/>
          </a:bodyPr>
          <a:lstStyle/>
          <a:p>
            <a:pPr algn="ctr">
              <a:lnSpc>
                <a:spcPct val="105000"/>
              </a:lnSpc>
              <a:spcAft>
                <a:spcPts val="0"/>
              </a:spcAft>
            </a:pPr>
            <a:r>
              <a:rPr sz="950" b="1" i="0">
                <a:solidFill>
                  <a:srgbClr val="F5C451"/>
                </a:solidFill>
                <a:latin typeface="Avenir Next"/>
              </a:rPr>
              <a:t>3</a:t>
            </a:r>
          </a:p>
        </p:txBody>
      </p:sp>
      <p:sp>
        <p:nvSpPr>
          <p:cNvPr id="21" name="TextBox 20"/>
          <p:cNvSpPr txBox="1"/>
          <p:nvPr/>
        </p:nvSpPr>
        <p:spPr>
          <a:xfrm>
            <a:off x="1847088" y="4581144"/>
            <a:ext cx="2377440" cy="256032"/>
          </a:xfrm>
          <a:prstGeom prst="rect">
            <a:avLst/>
          </a:prstGeom>
          <a:noFill/>
        </p:spPr>
        <p:txBody>
          <a:bodyPr wrap="square" lIns="18288" tIns="18288" rIns="18288" bIns="18288" anchor="t">
            <a:noAutofit/>
          </a:bodyPr>
          <a:lstStyle/>
          <a:p>
            <a:pPr algn="l">
              <a:lnSpc>
                <a:spcPct val="105000"/>
              </a:lnSpc>
              <a:spcAft>
                <a:spcPts val="0"/>
              </a:spcAft>
            </a:pPr>
            <a:r>
              <a:rPr sz="1150" b="1" i="0">
                <a:solidFill>
                  <a:srgbClr val="F4FFFA"/>
                </a:solidFill>
                <a:latin typeface="Avenir Next"/>
              </a:rPr>
              <a:t>Gas cleaning + generator</a:t>
            </a:r>
          </a:p>
        </p:txBody>
      </p:sp>
      <p:sp>
        <p:nvSpPr>
          <p:cNvPr id="22" name="TextBox 21"/>
          <p:cNvSpPr txBox="1"/>
          <p:nvPr/>
        </p:nvSpPr>
        <p:spPr>
          <a:xfrm>
            <a:off x="4251960" y="4581144"/>
            <a:ext cx="3246120" cy="256032"/>
          </a:xfrm>
          <a:prstGeom prst="rect">
            <a:avLst/>
          </a:prstGeom>
          <a:noFill/>
        </p:spPr>
        <p:txBody>
          <a:bodyPr wrap="square" lIns="18288" tIns="18288" rIns="18288" bIns="18288" anchor="t">
            <a:noAutofit/>
          </a:bodyPr>
          <a:lstStyle/>
          <a:p>
            <a:pPr algn="l">
              <a:lnSpc>
                <a:spcPct val="105000"/>
              </a:lnSpc>
              <a:spcAft>
                <a:spcPts val="0"/>
              </a:spcAft>
            </a:pPr>
            <a:r>
              <a:rPr sz="919" b="0" i="0">
                <a:solidFill>
                  <a:srgbClr val="ADC9BE"/>
                </a:solidFill>
                <a:latin typeface="Avenir Next"/>
              </a:rPr>
              <a:t>biogas → electricity</a:t>
            </a:r>
          </a:p>
        </p:txBody>
      </p:sp>
      <p:sp>
        <p:nvSpPr>
          <p:cNvPr id="23" name="Oval 22"/>
          <p:cNvSpPr/>
          <p:nvPr/>
        </p:nvSpPr>
        <p:spPr>
          <a:xfrm>
            <a:off x="1298448" y="5458968"/>
            <a:ext cx="420624" cy="420624"/>
          </a:xfrm>
          <a:prstGeom prst="ellipse">
            <a:avLst/>
          </a:prstGeom>
          <a:solidFill>
            <a:srgbClr val="102C23"/>
          </a:solidFill>
          <a:ln w="12700">
            <a:solidFill>
              <a:srgbClr val="F5C45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1298448" y="5449824"/>
            <a:ext cx="420624" cy="420624"/>
          </a:xfrm>
          <a:prstGeom prst="rect">
            <a:avLst/>
          </a:prstGeom>
          <a:noFill/>
        </p:spPr>
        <p:txBody>
          <a:bodyPr wrap="square" lIns="0" tIns="0" rIns="0" bIns="0" anchor="ctr">
            <a:noAutofit/>
          </a:bodyPr>
          <a:lstStyle/>
          <a:p>
            <a:pPr algn="ctr">
              <a:lnSpc>
                <a:spcPct val="105000"/>
              </a:lnSpc>
              <a:spcAft>
                <a:spcPts val="0"/>
              </a:spcAft>
            </a:pPr>
            <a:r>
              <a:rPr sz="950" b="1" i="0">
                <a:solidFill>
                  <a:srgbClr val="F5C451"/>
                </a:solidFill>
                <a:latin typeface="Avenir Next"/>
              </a:rPr>
              <a:t>4</a:t>
            </a:r>
          </a:p>
        </p:txBody>
      </p:sp>
      <p:sp>
        <p:nvSpPr>
          <p:cNvPr id="25" name="TextBox 24"/>
          <p:cNvSpPr txBox="1"/>
          <p:nvPr/>
        </p:nvSpPr>
        <p:spPr>
          <a:xfrm>
            <a:off x="1847088" y="5440680"/>
            <a:ext cx="2377440" cy="256032"/>
          </a:xfrm>
          <a:prstGeom prst="rect">
            <a:avLst/>
          </a:prstGeom>
          <a:noFill/>
        </p:spPr>
        <p:txBody>
          <a:bodyPr wrap="square" lIns="18288" tIns="18288" rIns="18288" bIns="18288" anchor="t">
            <a:noAutofit/>
          </a:bodyPr>
          <a:lstStyle/>
          <a:p>
            <a:pPr algn="l">
              <a:lnSpc>
                <a:spcPct val="105000"/>
              </a:lnSpc>
              <a:spcAft>
                <a:spcPts val="0"/>
              </a:spcAft>
            </a:pPr>
            <a:r>
              <a:rPr sz="1150" b="1" i="0">
                <a:solidFill>
                  <a:srgbClr val="F4FFFA"/>
                </a:solidFill>
                <a:latin typeface="Avenir Next"/>
              </a:rPr>
              <a:t>Charge controller + BMS</a:t>
            </a:r>
          </a:p>
        </p:txBody>
      </p:sp>
      <p:sp>
        <p:nvSpPr>
          <p:cNvPr id="26" name="TextBox 25"/>
          <p:cNvSpPr txBox="1"/>
          <p:nvPr/>
        </p:nvSpPr>
        <p:spPr>
          <a:xfrm>
            <a:off x="4251960" y="5440680"/>
            <a:ext cx="3246120" cy="256032"/>
          </a:xfrm>
          <a:prstGeom prst="rect">
            <a:avLst/>
          </a:prstGeom>
          <a:noFill/>
        </p:spPr>
        <p:txBody>
          <a:bodyPr wrap="square" lIns="18288" tIns="18288" rIns="18288" bIns="18288" anchor="t">
            <a:noAutofit/>
          </a:bodyPr>
          <a:lstStyle/>
          <a:p>
            <a:pPr algn="l">
              <a:lnSpc>
                <a:spcPct val="105000"/>
              </a:lnSpc>
              <a:spcAft>
                <a:spcPts val="0"/>
              </a:spcAft>
            </a:pPr>
            <a:r>
              <a:rPr sz="919" b="0" i="0">
                <a:solidFill>
                  <a:srgbClr val="ADC9BE"/>
                </a:solidFill>
                <a:latin typeface="Avenir Next"/>
              </a:rPr>
              <a:t>charge and protect</a:t>
            </a:r>
          </a:p>
        </p:txBody>
      </p:sp>
      <p:sp>
        <p:nvSpPr>
          <p:cNvPr id="27" name="Oval 26"/>
          <p:cNvSpPr/>
          <p:nvPr/>
        </p:nvSpPr>
        <p:spPr>
          <a:xfrm>
            <a:off x="1298448" y="6318504"/>
            <a:ext cx="420624" cy="420624"/>
          </a:xfrm>
          <a:prstGeom prst="ellipse">
            <a:avLst/>
          </a:prstGeom>
          <a:solidFill>
            <a:srgbClr val="102C23"/>
          </a:solidFill>
          <a:ln w="12700">
            <a:solidFill>
              <a:srgbClr val="F5C45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TextBox 27"/>
          <p:cNvSpPr txBox="1"/>
          <p:nvPr/>
        </p:nvSpPr>
        <p:spPr>
          <a:xfrm>
            <a:off x="1298448" y="6309360"/>
            <a:ext cx="420624" cy="420624"/>
          </a:xfrm>
          <a:prstGeom prst="rect">
            <a:avLst/>
          </a:prstGeom>
          <a:noFill/>
        </p:spPr>
        <p:txBody>
          <a:bodyPr wrap="square" lIns="0" tIns="0" rIns="0" bIns="0" anchor="ctr">
            <a:noAutofit/>
          </a:bodyPr>
          <a:lstStyle/>
          <a:p>
            <a:pPr algn="ctr">
              <a:lnSpc>
                <a:spcPct val="105000"/>
              </a:lnSpc>
              <a:spcAft>
                <a:spcPts val="0"/>
              </a:spcAft>
            </a:pPr>
            <a:r>
              <a:rPr sz="950" b="1" i="0">
                <a:solidFill>
                  <a:srgbClr val="F5C451"/>
                </a:solidFill>
                <a:latin typeface="Avenir Next"/>
              </a:rPr>
              <a:t>5</a:t>
            </a:r>
          </a:p>
        </p:txBody>
      </p:sp>
      <p:sp>
        <p:nvSpPr>
          <p:cNvPr id="29" name="TextBox 28"/>
          <p:cNvSpPr txBox="1"/>
          <p:nvPr/>
        </p:nvSpPr>
        <p:spPr>
          <a:xfrm>
            <a:off x="1847088" y="6300216"/>
            <a:ext cx="2377440" cy="256032"/>
          </a:xfrm>
          <a:prstGeom prst="rect">
            <a:avLst/>
          </a:prstGeom>
          <a:noFill/>
        </p:spPr>
        <p:txBody>
          <a:bodyPr wrap="square" lIns="18288" tIns="18288" rIns="18288" bIns="18288" anchor="t">
            <a:noAutofit/>
          </a:bodyPr>
          <a:lstStyle/>
          <a:p>
            <a:pPr algn="l">
              <a:lnSpc>
                <a:spcPct val="105000"/>
              </a:lnSpc>
              <a:spcAft>
                <a:spcPts val="0"/>
              </a:spcAft>
            </a:pPr>
            <a:r>
              <a:rPr sz="1150" b="1" i="0">
                <a:solidFill>
                  <a:srgbClr val="F4FFFA"/>
                </a:solidFill>
                <a:latin typeface="Avenir Next"/>
              </a:rPr>
              <a:t>12 V battery → loads</a:t>
            </a:r>
          </a:p>
        </p:txBody>
      </p:sp>
      <p:sp>
        <p:nvSpPr>
          <p:cNvPr id="30" name="TextBox 29"/>
          <p:cNvSpPr txBox="1"/>
          <p:nvPr/>
        </p:nvSpPr>
        <p:spPr>
          <a:xfrm>
            <a:off x="4251960" y="6300216"/>
            <a:ext cx="3246120" cy="256032"/>
          </a:xfrm>
          <a:prstGeom prst="rect">
            <a:avLst/>
          </a:prstGeom>
          <a:noFill/>
        </p:spPr>
        <p:txBody>
          <a:bodyPr wrap="square" lIns="18288" tIns="18288" rIns="18288" bIns="18288" anchor="t">
            <a:noAutofit/>
          </a:bodyPr>
          <a:lstStyle/>
          <a:p>
            <a:pPr algn="l">
              <a:lnSpc>
                <a:spcPct val="105000"/>
              </a:lnSpc>
              <a:spcAft>
                <a:spcPts val="0"/>
              </a:spcAft>
            </a:pPr>
            <a:r>
              <a:rPr sz="919" b="0" i="0">
                <a:solidFill>
                  <a:srgbClr val="ADC9BE"/>
                </a:solidFill>
                <a:latin typeface="Avenir Next"/>
              </a:rPr>
              <a:t>sensors · network · pump</a:t>
            </a:r>
          </a:p>
        </p:txBody>
      </p:sp>
      <p:pic>
        <p:nvPicPr>
          <p:cNvPr id="31" name="Picture 30" descr="3D circuit model in low-battery PROTECT state"/>
          <p:cNvPicPr>
            <a:picLocks noChangeAspect="1"/>
          </p:cNvPicPr>
          <p:nvPr/>
        </p:nvPicPr>
        <p:blipFill>
          <a:blip r:embed="rId6"/>
          <a:stretch>
            <a:fillRect/>
          </a:stretch>
        </p:blipFill>
        <p:spPr>
          <a:xfrm>
            <a:off x="8229600" y="2743200"/>
            <a:ext cx="8869680" cy="5102352"/>
          </a:xfrm>
          <a:prstGeom prst="rect">
            <a:avLst/>
          </a:prstGeom>
        </p:spPr>
      </p:pic>
      <p:sp>
        <p:nvSpPr>
          <p:cNvPr id="32" name="TextBox 31"/>
          <p:cNvSpPr txBox="1"/>
          <p:nvPr/>
        </p:nvSpPr>
        <p:spPr>
          <a:xfrm>
            <a:off x="8247888" y="7900416"/>
            <a:ext cx="8823960" cy="237744"/>
          </a:xfrm>
          <a:prstGeom prst="rect">
            <a:avLst/>
          </a:prstGeom>
          <a:noFill/>
        </p:spPr>
        <p:txBody>
          <a:bodyPr wrap="square" lIns="18288" tIns="18288" rIns="18288" bIns="18288" anchor="t">
            <a:noAutofit/>
          </a:bodyPr>
          <a:lstStyle/>
          <a:p>
            <a:pPr algn="l">
              <a:lnSpc>
                <a:spcPct val="105000"/>
              </a:lnSpc>
              <a:spcAft>
                <a:spcPts val="0"/>
              </a:spcAft>
            </a:pPr>
            <a:r>
              <a:rPr sz="840" b="0" i="0">
                <a:solidFill>
                  <a:srgbClr val="7CA091"/>
                </a:solidFill>
                <a:latin typeface="Avenir Next"/>
              </a:rPr>
              <a:t>3D model shown in 15% battery PROTECT state.</a:t>
            </a:r>
          </a:p>
        </p:txBody>
      </p:sp>
      <p:sp>
        <p:nvSpPr>
          <p:cNvPr id="33" name="Rounded Rectangle 32"/>
          <p:cNvSpPr/>
          <p:nvPr/>
        </p:nvSpPr>
        <p:spPr>
          <a:xfrm>
            <a:off x="8229600" y="8156448"/>
            <a:ext cx="2560320" cy="411480"/>
          </a:xfrm>
          <a:prstGeom prst="roundRect">
            <a:avLst>
              <a:gd name="adj" fmla="val 8000"/>
            </a:avLst>
          </a:prstGeom>
          <a:solidFill>
            <a:srgbClr val="0A221B"/>
          </a:solidFill>
          <a:ln w="10160">
            <a:solidFill>
              <a:srgbClr val="F26B6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 name="TextBox 33"/>
          <p:cNvSpPr txBox="1"/>
          <p:nvPr/>
        </p:nvSpPr>
        <p:spPr>
          <a:xfrm>
            <a:off x="8321040" y="8238744"/>
            <a:ext cx="2377440" cy="237744"/>
          </a:xfrm>
          <a:prstGeom prst="rect">
            <a:avLst/>
          </a:prstGeom>
          <a:noFill/>
        </p:spPr>
        <p:txBody>
          <a:bodyPr wrap="square" lIns="18288" tIns="18288" rIns="18288" bIns="18288" anchor="t">
            <a:noAutofit/>
          </a:bodyPr>
          <a:lstStyle/>
          <a:p>
            <a:pPr algn="ctr">
              <a:lnSpc>
                <a:spcPct val="105000"/>
              </a:lnSpc>
              <a:spcAft>
                <a:spcPts val="0"/>
              </a:spcAft>
            </a:pPr>
            <a:r>
              <a:rPr sz="919" b="1" i="0">
                <a:solidFill>
                  <a:srgbClr val="F26B6B"/>
                </a:solidFill>
                <a:latin typeface="Avenir Next"/>
              </a:rPr>
              <a:t>&lt; 20%  ·  PROTECT</a:t>
            </a:r>
          </a:p>
        </p:txBody>
      </p:sp>
      <p:sp>
        <p:nvSpPr>
          <p:cNvPr id="35" name="Rounded Rectangle 34"/>
          <p:cNvSpPr/>
          <p:nvPr/>
        </p:nvSpPr>
        <p:spPr>
          <a:xfrm>
            <a:off x="11064240" y="8156448"/>
            <a:ext cx="2697480" cy="411480"/>
          </a:xfrm>
          <a:prstGeom prst="roundRect">
            <a:avLst>
              <a:gd name="adj" fmla="val 8000"/>
            </a:avLst>
          </a:prstGeom>
          <a:solidFill>
            <a:srgbClr val="0A221B"/>
          </a:solidFill>
          <a:ln w="10160">
            <a:solidFill>
              <a:srgbClr val="F0B42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 name="TextBox 35"/>
          <p:cNvSpPr txBox="1"/>
          <p:nvPr/>
        </p:nvSpPr>
        <p:spPr>
          <a:xfrm>
            <a:off x="11155680" y="8238744"/>
            <a:ext cx="2514600" cy="237744"/>
          </a:xfrm>
          <a:prstGeom prst="rect">
            <a:avLst/>
          </a:prstGeom>
          <a:noFill/>
        </p:spPr>
        <p:txBody>
          <a:bodyPr wrap="square" lIns="18288" tIns="18288" rIns="18288" bIns="18288" anchor="t">
            <a:noAutofit/>
          </a:bodyPr>
          <a:lstStyle/>
          <a:p>
            <a:pPr algn="ctr">
              <a:lnSpc>
                <a:spcPct val="105000"/>
              </a:lnSpc>
              <a:spcAft>
                <a:spcPts val="0"/>
              </a:spcAft>
            </a:pPr>
            <a:r>
              <a:rPr sz="830" b="1" i="0">
                <a:solidFill>
                  <a:srgbClr val="F0B429"/>
                </a:solidFill>
                <a:latin typeface="Avenir Next"/>
              </a:rPr>
              <a:t>&lt; 40% + low gen  ·  CONSERVE</a:t>
            </a:r>
          </a:p>
        </p:txBody>
      </p:sp>
      <p:sp>
        <p:nvSpPr>
          <p:cNvPr id="37" name="Rounded Rectangle 36"/>
          <p:cNvSpPr/>
          <p:nvPr/>
        </p:nvSpPr>
        <p:spPr>
          <a:xfrm>
            <a:off x="14036040" y="8156448"/>
            <a:ext cx="3063240" cy="411480"/>
          </a:xfrm>
          <a:prstGeom prst="roundRect">
            <a:avLst>
              <a:gd name="adj" fmla="val 8000"/>
            </a:avLst>
          </a:prstGeom>
          <a:solidFill>
            <a:srgbClr val="0A221B"/>
          </a:solidFill>
          <a:ln w="10160">
            <a:solidFill>
              <a:srgbClr val="F5C45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8" name="TextBox 37"/>
          <p:cNvSpPr txBox="1"/>
          <p:nvPr/>
        </p:nvSpPr>
        <p:spPr>
          <a:xfrm>
            <a:off x="14127480" y="8238744"/>
            <a:ext cx="2880360" cy="237744"/>
          </a:xfrm>
          <a:prstGeom prst="rect">
            <a:avLst/>
          </a:prstGeom>
          <a:noFill/>
        </p:spPr>
        <p:txBody>
          <a:bodyPr wrap="square" lIns="18288" tIns="18288" rIns="18288" bIns="18288" anchor="t">
            <a:noAutofit/>
          </a:bodyPr>
          <a:lstStyle/>
          <a:p>
            <a:pPr algn="ctr">
              <a:lnSpc>
                <a:spcPct val="105000"/>
              </a:lnSpc>
              <a:spcAft>
                <a:spcPts val="0"/>
              </a:spcAft>
            </a:pPr>
            <a:r>
              <a:rPr sz="900" b="1" i="0">
                <a:solidFill>
                  <a:srgbClr val="F5C451"/>
                </a:solidFill>
                <a:latin typeface="Avenir Next"/>
              </a:rPr>
              <a:t>50 W pump  ·  energy gate</a:t>
            </a:r>
          </a:p>
        </p:txBody>
      </p:sp>
      <p:sp>
        <p:nvSpPr>
          <p:cNvPr id="39" name="Rounded Rectangle 38"/>
          <p:cNvSpPr/>
          <p:nvPr/>
        </p:nvSpPr>
        <p:spPr>
          <a:xfrm>
            <a:off x="1143000" y="7269480"/>
            <a:ext cx="6812280" cy="786384"/>
          </a:xfrm>
          <a:prstGeom prst="roundRect">
            <a:avLst>
              <a:gd name="adj" fmla="val 8000"/>
            </a:avLst>
          </a:prstGeom>
          <a:solidFill>
            <a:srgbClr val="102C23"/>
          </a:solidFill>
          <a:ln w="10160">
            <a:solidFill>
              <a:srgbClr val="F0B42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0" name="TextBox 39"/>
          <p:cNvSpPr txBox="1"/>
          <p:nvPr/>
        </p:nvSpPr>
        <p:spPr>
          <a:xfrm>
            <a:off x="1371600" y="7406640"/>
            <a:ext cx="6400800" cy="502920"/>
          </a:xfrm>
          <a:prstGeom prst="rect">
            <a:avLst/>
          </a:prstGeom>
          <a:noFill/>
        </p:spPr>
        <p:txBody>
          <a:bodyPr wrap="square" lIns="18288" tIns="18288" rIns="18288" bIns="18288" anchor="t">
            <a:noAutofit/>
          </a:bodyPr>
          <a:lstStyle/>
          <a:p>
            <a:pPr algn="l">
              <a:lnSpc>
                <a:spcPct val="108000"/>
              </a:lnSpc>
              <a:spcAft>
                <a:spcPts val="0"/>
              </a:spcAft>
            </a:pPr>
            <a:r>
              <a:rPr sz="960" b="0" i="0">
                <a:solidFill>
                  <a:srgbClr val="F4FFFA"/>
                </a:solidFill>
                <a:latin typeface="Avenir Next"/>
              </a:rPr>
              <a:t>Advice only: the code never actuates the pump. Digester, generator, BMS and wiring are a supervised physical build.</a:t>
            </a:r>
          </a:p>
        </p:txBody>
      </p:sp>
      <p:sp>
        <p:nvSpPr>
          <p:cNvPr id="41" name="TextBox 40"/>
          <p:cNvSpPr txBox="1"/>
          <p:nvPr/>
        </p:nvSpPr>
        <p:spPr>
          <a:xfrm>
            <a:off x="4983480" y="9619488"/>
            <a:ext cx="5852160" cy="228600"/>
          </a:xfrm>
          <a:prstGeom prst="rect">
            <a:avLst/>
          </a:prstGeom>
          <a:noFill/>
        </p:spPr>
        <p:txBody>
          <a:bodyPr wrap="square" lIns="0" tIns="0" rIns="0" bIns="0" anchor="t">
            <a:noAutofit/>
          </a:bodyPr>
          <a:lstStyle/>
          <a:p>
            <a:pPr algn="l">
              <a:lnSpc>
                <a:spcPct val="105000"/>
              </a:lnSpc>
              <a:spcAft>
                <a:spcPts val="0"/>
              </a:spcAft>
            </a:pPr>
            <a:r>
              <a:rPr sz="819" b="0" i="0">
                <a:solidFill>
                  <a:srgbClr val="7CA091"/>
                </a:solidFill>
                <a:latin typeface="Avenir Next"/>
              </a:rPr>
              <a:t>TrustFarm  ·  INNOVA 2026  ·  ICBT</a:t>
            </a:r>
          </a:p>
        </p:txBody>
      </p:sp>
      <p:sp>
        <p:nvSpPr>
          <p:cNvPr id="42" name="TextBox 41"/>
          <p:cNvSpPr txBox="1"/>
          <p:nvPr/>
        </p:nvSpPr>
        <p:spPr>
          <a:xfrm>
            <a:off x="11018520" y="9619488"/>
            <a:ext cx="1234440" cy="228600"/>
          </a:xfrm>
          <a:prstGeom prst="rect">
            <a:avLst/>
          </a:prstGeom>
          <a:noFill/>
        </p:spPr>
        <p:txBody>
          <a:bodyPr wrap="square" lIns="0" tIns="0" rIns="0" bIns="0" anchor="t">
            <a:noAutofit/>
          </a:bodyPr>
          <a:lstStyle/>
          <a:p>
            <a:pPr algn="r">
              <a:lnSpc>
                <a:spcPct val="105000"/>
              </a:lnSpc>
              <a:spcAft>
                <a:spcPts val="0"/>
              </a:spcAft>
            </a:pPr>
            <a:r>
              <a:rPr sz="819" b="0" i="0">
                <a:solidFill>
                  <a:srgbClr val="7CA091"/>
                </a:solidFill>
                <a:latin typeface="Avenir Next"/>
              </a:rPr>
              <a:t>13 / 25</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1A1D1C"/>
        </a:solidFill>
        <a:effectLst/>
      </p:bgPr>
    </p:bg>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25192566" h="16800292">
                <a:moveTo>
                  <a:pt x="0" y="0"/>
                </a:moveTo>
                <a:lnTo>
                  <a:pt x="25192566" y="0"/>
                </a:lnTo>
                <a:lnTo>
                  <a:pt x="25192566" y="16800292"/>
                </a:lnTo>
                <a:lnTo>
                  <a:pt x="0" y="16800292"/>
                </a:lnTo>
                <a:lnTo>
                  <a:pt x="0" y="0"/>
                </a:lnTo>
                <a:close/>
              </a:path>
            </a:pathLst>
          </a:custGeom>
          <a:blipFill>
            <a:blip r:embed="rId3"/>
            <a:stretch>
              <a:fillRect/>
            </a:stretch>
          </a:blipFill>
        </p:spPr>
        <p:txBody>
          <a:bodyPr/>
          <a:lstStyle/>
          <a:p>
            <a:endParaRPr/>
          </a:p>
        </p:txBody>
      </p:sp>
      <p:sp>
        <p:nvSpPr>
          <p:cNvPr id="3" name="Freeform 3"/>
          <p:cNvSpPr/>
          <p:nvPr/>
        </p:nvSpPr>
        <p:spPr>
          <a:xfrm>
            <a:off x="12596283" y="8658721"/>
            <a:ext cx="6457129" cy="1628279"/>
          </a:xfrm>
          <a:custGeom>
            <a:avLst/>
            <a:gdLst/>
            <a:ahLst/>
            <a:cxnLst/>
            <a:rect l="l" t="t" r="r" b="b"/>
            <a:pathLst>
              <a:path w="6457129" h="1628279">
                <a:moveTo>
                  <a:pt x="0" y="0"/>
                </a:moveTo>
                <a:lnTo>
                  <a:pt x="6457129" y="0"/>
                </a:lnTo>
                <a:lnTo>
                  <a:pt x="6457129" y="1628279"/>
                </a:lnTo>
                <a:lnTo>
                  <a:pt x="0" y="1628279"/>
                </a:lnTo>
                <a:lnTo>
                  <a:pt x="0" y="0"/>
                </a:lnTo>
                <a:close/>
              </a:path>
            </a:pathLst>
          </a:custGeom>
          <a:blipFill>
            <a:blip r:embed="rId4"/>
            <a:stretch>
              <a:fillRect t="-85078" b="-85078"/>
            </a:stretch>
          </a:blipFill>
        </p:spPr>
        <p:txBody>
          <a:bodyPr/>
          <a:lstStyle/>
          <a:p>
            <a:endParaRPr/>
          </a:p>
        </p:txBody>
      </p:sp>
      <p:sp>
        <p:nvSpPr>
          <p:cNvPr id="4" name="Freeform 4"/>
          <p:cNvSpPr/>
          <p:nvPr/>
        </p:nvSpPr>
        <p:spPr>
          <a:xfrm>
            <a:off x="0" y="8072991"/>
            <a:ext cx="2839033" cy="2839033"/>
          </a:xfrm>
          <a:custGeom>
            <a:avLst/>
            <a:gdLst/>
            <a:ahLst/>
            <a:cxnLst/>
            <a:rect l="l" t="t" r="r" b="b"/>
            <a:pathLst>
              <a:path w="2839033" h="2839033">
                <a:moveTo>
                  <a:pt x="0" y="0"/>
                </a:moveTo>
                <a:lnTo>
                  <a:pt x="2839033" y="0"/>
                </a:lnTo>
                <a:lnTo>
                  <a:pt x="2839033" y="2839033"/>
                </a:lnTo>
                <a:lnTo>
                  <a:pt x="0" y="2839033"/>
                </a:lnTo>
                <a:lnTo>
                  <a:pt x="0" y="0"/>
                </a:lnTo>
                <a:close/>
              </a:path>
            </a:pathLst>
          </a:custGeom>
          <a:blipFill>
            <a:blip r:embed="rId5"/>
            <a:stretch>
              <a:fillRect/>
            </a:stretch>
          </a:blipFill>
        </p:spPr>
        <p:txBody>
          <a:bodyPr/>
          <a:lstStyle/>
          <a:p>
            <a:endParaRPr/>
          </a:p>
        </p:txBody>
      </p:sp>
      <p:sp>
        <p:nvSpPr>
          <p:cNvPr id="5" name="TextBox 4"/>
          <p:cNvSpPr txBox="1"/>
          <p:nvPr/>
        </p:nvSpPr>
        <p:spPr>
          <a:xfrm>
            <a:off x="1143000" y="841248"/>
            <a:ext cx="10972800" cy="292608"/>
          </a:xfrm>
          <a:prstGeom prst="rect">
            <a:avLst/>
          </a:prstGeom>
          <a:noFill/>
        </p:spPr>
        <p:txBody>
          <a:bodyPr wrap="square" lIns="0" tIns="0" rIns="0" bIns="0" anchor="t">
            <a:noAutofit/>
          </a:bodyPr>
          <a:lstStyle/>
          <a:p>
            <a:pPr algn="l">
              <a:lnSpc>
                <a:spcPct val="105000"/>
              </a:lnSpc>
              <a:spcAft>
                <a:spcPts val="0"/>
              </a:spcAft>
            </a:pPr>
            <a:r>
              <a:rPr sz="1000" b="1" i="0">
                <a:solidFill>
                  <a:srgbClr val="A6F26B"/>
                </a:solidFill>
                <a:latin typeface="Avenir Next"/>
              </a:rPr>
              <a:t>APPLICATIONS</a:t>
            </a:r>
          </a:p>
        </p:txBody>
      </p:sp>
      <p:sp>
        <p:nvSpPr>
          <p:cNvPr id="6" name="TextBox 5"/>
          <p:cNvSpPr txBox="1"/>
          <p:nvPr/>
        </p:nvSpPr>
        <p:spPr>
          <a:xfrm>
            <a:off x="1097280" y="1124712"/>
            <a:ext cx="13075920" cy="676656"/>
          </a:xfrm>
          <a:prstGeom prst="rect">
            <a:avLst/>
          </a:prstGeom>
          <a:noFill/>
        </p:spPr>
        <p:txBody>
          <a:bodyPr wrap="square" lIns="0" tIns="0" rIns="0" bIns="0" anchor="t">
            <a:noAutofit/>
          </a:bodyPr>
          <a:lstStyle/>
          <a:p>
            <a:pPr algn="l">
              <a:lnSpc>
                <a:spcPct val="98000"/>
              </a:lnSpc>
              <a:spcAft>
                <a:spcPts val="0"/>
              </a:spcAft>
            </a:pPr>
            <a:r>
              <a:rPr sz="3300" b="1" i="0">
                <a:solidFill>
                  <a:srgbClr val="F4FFFA"/>
                </a:solidFill>
                <a:latin typeface="Avenir Next"/>
              </a:rPr>
              <a:t>One app, three views.</a:t>
            </a:r>
          </a:p>
        </p:txBody>
      </p:sp>
      <p:sp>
        <p:nvSpPr>
          <p:cNvPr id="7" name="TextBox 6"/>
          <p:cNvSpPr txBox="1"/>
          <p:nvPr/>
        </p:nvSpPr>
        <p:spPr>
          <a:xfrm>
            <a:off x="1143000" y="1865376"/>
            <a:ext cx="13258800" cy="502920"/>
          </a:xfrm>
          <a:prstGeom prst="rect">
            <a:avLst/>
          </a:prstGeom>
          <a:noFill/>
        </p:spPr>
        <p:txBody>
          <a:bodyPr wrap="square" lIns="0" tIns="0" rIns="0" bIns="0" anchor="t">
            <a:noAutofit/>
          </a:bodyPr>
          <a:lstStyle/>
          <a:p>
            <a:pPr algn="l">
              <a:lnSpc>
                <a:spcPct val="110000"/>
              </a:lnSpc>
              <a:spcAft>
                <a:spcPts val="0"/>
              </a:spcAft>
            </a:pPr>
            <a:r>
              <a:rPr sz="1400" b="0" i="0">
                <a:solidFill>
                  <a:srgbClr val="ADC9BE"/>
                </a:solidFill>
                <a:latin typeface="Avenir Next"/>
              </a:rPr>
              <a:t>Live overview, 24-hour analytics and read-only alerts — on desktop and mobile.</a:t>
            </a:r>
          </a:p>
        </p:txBody>
      </p:sp>
      <p:sp>
        <p:nvSpPr>
          <p:cNvPr id="8" name="Rectangle 7"/>
          <p:cNvSpPr/>
          <p:nvPr/>
        </p:nvSpPr>
        <p:spPr>
          <a:xfrm>
            <a:off x="1143000" y="2542032"/>
            <a:ext cx="1143000" cy="41148"/>
          </a:xfrm>
          <a:prstGeom prst="rect">
            <a:avLst/>
          </a:prstGeom>
          <a:solidFill>
            <a:srgbClr val="A6F2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ounded Rectangle 8"/>
          <p:cNvSpPr/>
          <p:nvPr/>
        </p:nvSpPr>
        <p:spPr>
          <a:xfrm>
            <a:off x="14127480" y="1143000"/>
            <a:ext cx="3017520" cy="347472"/>
          </a:xfrm>
          <a:prstGeom prst="roundRect">
            <a:avLst>
              <a:gd name="adj" fmla="val 50000"/>
            </a:avLst>
          </a:prstGeom>
          <a:solidFill>
            <a:srgbClr val="0A221B"/>
          </a:solidFill>
          <a:ln w="8890">
            <a:solidFill>
              <a:srgbClr val="A6F26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14164055" y="1161288"/>
            <a:ext cx="2944368" cy="310896"/>
          </a:xfrm>
          <a:prstGeom prst="rect">
            <a:avLst/>
          </a:prstGeom>
          <a:noFill/>
        </p:spPr>
        <p:txBody>
          <a:bodyPr wrap="square" lIns="9144" tIns="0" rIns="9144" bIns="0" anchor="ctr">
            <a:noAutofit/>
          </a:bodyPr>
          <a:lstStyle/>
          <a:p>
            <a:pPr algn="ctr">
              <a:lnSpc>
                <a:spcPct val="105000"/>
              </a:lnSpc>
              <a:spcAft>
                <a:spcPts val="0"/>
              </a:spcAft>
            </a:pPr>
            <a:r>
              <a:rPr sz="819" b="1" i="0">
                <a:solidFill>
                  <a:srgbClr val="A6F26B"/>
                </a:solidFill>
                <a:latin typeface="Avenir Next"/>
              </a:rPr>
              <a:t>FLUTTER · RESPONSIVE</a:t>
            </a:r>
          </a:p>
        </p:txBody>
      </p:sp>
      <p:pic>
        <p:nvPicPr>
          <p:cNvPr id="11" name="Picture 10" descr="TrustFarm Overview screen"/>
          <p:cNvPicPr>
            <a:picLocks noChangeAspect="1"/>
          </p:cNvPicPr>
          <p:nvPr/>
        </p:nvPicPr>
        <p:blipFill>
          <a:blip r:embed="rId6"/>
          <a:stretch>
            <a:fillRect/>
          </a:stretch>
        </p:blipFill>
        <p:spPr>
          <a:xfrm>
            <a:off x="1143000" y="2834640"/>
            <a:ext cx="4983480" cy="3182112"/>
          </a:xfrm>
          <a:prstGeom prst="rect">
            <a:avLst/>
          </a:prstGeom>
        </p:spPr>
      </p:pic>
      <p:sp>
        <p:nvSpPr>
          <p:cNvPr id="12" name="TextBox 11"/>
          <p:cNvSpPr txBox="1"/>
          <p:nvPr/>
        </p:nvSpPr>
        <p:spPr>
          <a:xfrm>
            <a:off x="1188720" y="6108192"/>
            <a:ext cx="4754880" cy="274320"/>
          </a:xfrm>
          <a:prstGeom prst="rect">
            <a:avLst/>
          </a:prstGeom>
          <a:noFill/>
        </p:spPr>
        <p:txBody>
          <a:bodyPr wrap="square" lIns="18288" tIns="18288" rIns="18288" bIns="18288" anchor="t">
            <a:noAutofit/>
          </a:bodyPr>
          <a:lstStyle/>
          <a:p>
            <a:pPr algn="l">
              <a:lnSpc>
                <a:spcPct val="105000"/>
              </a:lnSpc>
              <a:spcAft>
                <a:spcPts val="0"/>
              </a:spcAft>
            </a:pPr>
            <a:r>
              <a:rPr sz="1200" b="1" i="0">
                <a:solidFill>
                  <a:srgbClr val="F4FFFA"/>
                </a:solidFill>
                <a:latin typeface="Avenir Next"/>
              </a:rPr>
              <a:t>Overview</a:t>
            </a:r>
          </a:p>
        </p:txBody>
      </p:sp>
      <p:sp>
        <p:nvSpPr>
          <p:cNvPr id="13" name="TextBox 12"/>
          <p:cNvSpPr txBox="1"/>
          <p:nvPr/>
        </p:nvSpPr>
        <p:spPr>
          <a:xfrm>
            <a:off x="1188720" y="6391656"/>
            <a:ext cx="4754880" cy="237744"/>
          </a:xfrm>
          <a:prstGeom prst="rect">
            <a:avLst/>
          </a:prstGeom>
          <a:noFill/>
        </p:spPr>
        <p:txBody>
          <a:bodyPr wrap="square" lIns="18288" tIns="18288" rIns="18288" bIns="18288" anchor="t">
            <a:noAutofit/>
          </a:bodyPr>
          <a:lstStyle/>
          <a:p>
            <a:pPr algn="l">
              <a:lnSpc>
                <a:spcPct val="105000"/>
              </a:lnSpc>
              <a:spcAft>
                <a:spcPts val="0"/>
              </a:spcAft>
            </a:pPr>
            <a:r>
              <a:rPr sz="880" b="0" i="0">
                <a:solidFill>
                  <a:srgbClr val="ADC9BE"/>
                </a:solidFill>
                <a:latin typeface="Avenir Next"/>
              </a:rPr>
              <a:t>Trust, advice, energy and the 3D hero.</a:t>
            </a:r>
          </a:p>
        </p:txBody>
      </p:sp>
      <p:pic>
        <p:nvPicPr>
          <p:cNvPr id="14" name="Picture 13" descr="TrustFarm Analytics screen"/>
          <p:cNvPicPr>
            <a:picLocks noChangeAspect="1"/>
          </p:cNvPicPr>
          <p:nvPr/>
        </p:nvPicPr>
        <p:blipFill>
          <a:blip r:embed="rId7"/>
          <a:stretch>
            <a:fillRect/>
          </a:stretch>
        </p:blipFill>
        <p:spPr>
          <a:xfrm>
            <a:off x="6153912" y="2834640"/>
            <a:ext cx="4983480" cy="3182112"/>
          </a:xfrm>
          <a:prstGeom prst="rect">
            <a:avLst/>
          </a:prstGeom>
        </p:spPr>
      </p:pic>
      <p:sp>
        <p:nvSpPr>
          <p:cNvPr id="15" name="TextBox 14"/>
          <p:cNvSpPr txBox="1"/>
          <p:nvPr/>
        </p:nvSpPr>
        <p:spPr>
          <a:xfrm>
            <a:off x="6199632" y="6108192"/>
            <a:ext cx="4754880" cy="274320"/>
          </a:xfrm>
          <a:prstGeom prst="rect">
            <a:avLst/>
          </a:prstGeom>
          <a:noFill/>
        </p:spPr>
        <p:txBody>
          <a:bodyPr wrap="square" lIns="18288" tIns="18288" rIns="18288" bIns="18288" anchor="t">
            <a:noAutofit/>
          </a:bodyPr>
          <a:lstStyle/>
          <a:p>
            <a:pPr algn="l">
              <a:lnSpc>
                <a:spcPct val="105000"/>
              </a:lnSpc>
              <a:spcAft>
                <a:spcPts val="0"/>
              </a:spcAft>
            </a:pPr>
            <a:r>
              <a:rPr sz="1200" b="1" i="0">
                <a:solidFill>
                  <a:srgbClr val="F4FFFA"/>
                </a:solidFill>
                <a:latin typeface="Avenir Next"/>
              </a:rPr>
              <a:t>Analytics</a:t>
            </a:r>
          </a:p>
        </p:txBody>
      </p:sp>
      <p:sp>
        <p:nvSpPr>
          <p:cNvPr id="16" name="TextBox 15"/>
          <p:cNvSpPr txBox="1"/>
          <p:nvPr/>
        </p:nvSpPr>
        <p:spPr>
          <a:xfrm>
            <a:off x="6199632" y="6391656"/>
            <a:ext cx="4754880" cy="237744"/>
          </a:xfrm>
          <a:prstGeom prst="rect">
            <a:avLst/>
          </a:prstGeom>
          <a:noFill/>
        </p:spPr>
        <p:txBody>
          <a:bodyPr wrap="square" lIns="18288" tIns="18288" rIns="18288" bIns="18288" anchor="t">
            <a:noAutofit/>
          </a:bodyPr>
          <a:lstStyle/>
          <a:p>
            <a:pPr algn="l">
              <a:lnSpc>
                <a:spcPct val="105000"/>
              </a:lnSpc>
              <a:spcAft>
                <a:spcPts val="0"/>
              </a:spcAft>
            </a:pPr>
            <a:r>
              <a:rPr sz="880" b="0" i="0">
                <a:solidFill>
                  <a:srgbClr val="ADC9BE"/>
                </a:solidFill>
                <a:latin typeface="Avenir Next"/>
              </a:rPr>
              <a:t>Soil, power, environment and battery.</a:t>
            </a:r>
          </a:p>
        </p:txBody>
      </p:sp>
      <p:pic>
        <p:nvPicPr>
          <p:cNvPr id="17" name="Picture 16" descr="TrustFarm Alerts screen"/>
          <p:cNvPicPr>
            <a:picLocks noChangeAspect="1"/>
          </p:cNvPicPr>
          <p:nvPr/>
        </p:nvPicPr>
        <p:blipFill>
          <a:blip r:embed="rId8"/>
          <a:stretch>
            <a:fillRect/>
          </a:stretch>
        </p:blipFill>
        <p:spPr>
          <a:xfrm>
            <a:off x="11164824" y="2834640"/>
            <a:ext cx="4983480" cy="3182112"/>
          </a:xfrm>
          <a:prstGeom prst="rect">
            <a:avLst/>
          </a:prstGeom>
        </p:spPr>
      </p:pic>
      <p:sp>
        <p:nvSpPr>
          <p:cNvPr id="18" name="TextBox 17"/>
          <p:cNvSpPr txBox="1"/>
          <p:nvPr/>
        </p:nvSpPr>
        <p:spPr>
          <a:xfrm>
            <a:off x="11210544" y="6108192"/>
            <a:ext cx="4754880" cy="274320"/>
          </a:xfrm>
          <a:prstGeom prst="rect">
            <a:avLst/>
          </a:prstGeom>
          <a:noFill/>
        </p:spPr>
        <p:txBody>
          <a:bodyPr wrap="square" lIns="18288" tIns="18288" rIns="18288" bIns="18288" anchor="t">
            <a:noAutofit/>
          </a:bodyPr>
          <a:lstStyle/>
          <a:p>
            <a:pPr algn="l">
              <a:lnSpc>
                <a:spcPct val="105000"/>
              </a:lnSpc>
              <a:spcAft>
                <a:spcPts val="0"/>
              </a:spcAft>
            </a:pPr>
            <a:r>
              <a:rPr sz="1200" b="1" i="0">
                <a:solidFill>
                  <a:srgbClr val="F4FFFA"/>
                </a:solidFill>
                <a:latin typeface="Avenir Next"/>
              </a:rPr>
              <a:t>Alerts</a:t>
            </a:r>
          </a:p>
        </p:txBody>
      </p:sp>
      <p:sp>
        <p:nvSpPr>
          <p:cNvPr id="19" name="TextBox 18"/>
          <p:cNvSpPr txBox="1"/>
          <p:nvPr/>
        </p:nvSpPr>
        <p:spPr>
          <a:xfrm>
            <a:off x="11210544" y="6391656"/>
            <a:ext cx="4754880" cy="237744"/>
          </a:xfrm>
          <a:prstGeom prst="rect">
            <a:avLst/>
          </a:prstGeom>
          <a:noFill/>
        </p:spPr>
        <p:txBody>
          <a:bodyPr wrap="square" lIns="18288" tIns="18288" rIns="18288" bIns="18288" anchor="t">
            <a:noAutofit/>
          </a:bodyPr>
          <a:lstStyle/>
          <a:p>
            <a:pPr algn="l">
              <a:lnSpc>
                <a:spcPct val="105000"/>
              </a:lnSpc>
              <a:spcAft>
                <a:spcPts val="0"/>
              </a:spcAft>
            </a:pPr>
            <a:r>
              <a:rPr sz="880" b="0" i="0">
                <a:solidFill>
                  <a:srgbClr val="ADC9BE"/>
                </a:solidFill>
                <a:latin typeface="Avenir Next"/>
              </a:rPr>
              <a:t>Critical and warning events.</a:t>
            </a:r>
          </a:p>
        </p:txBody>
      </p:sp>
      <p:sp>
        <p:nvSpPr>
          <p:cNvPr id="20" name="Rounded Rectangle 19"/>
          <p:cNvSpPr/>
          <p:nvPr/>
        </p:nvSpPr>
        <p:spPr>
          <a:xfrm>
            <a:off x="1143000" y="6812280"/>
            <a:ext cx="7635240" cy="1005840"/>
          </a:xfrm>
          <a:prstGeom prst="roundRect">
            <a:avLst>
              <a:gd name="adj" fmla="val 8000"/>
            </a:avLst>
          </a:prstGeom>
          <a:solidFill>
            <a:srgbClr val="0A221B"/>
          </a:solidFill>
          <a:ln w="10160">
            <a:solidFill>
              <a:srgbClr val="A6F26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1371600" y="6949440"/>
            <a:ext cx="7223760" cy="256032"/>
          </a:xfrm>
          <a:prstGeom prst="rect">
            <a:avLst/>
          </a:prstGeom>
          <a:noFill/>
        </p:spPr>
        <p:txBody>
          <a:bodyPr wrap="square" lIns="18288" tIns="18288" rIns="18288" bIns="18288" anchor="t">
            <a:noAutofit/>
          </a:bodyPr>
          <a:lstStyle/>
          <a:p>
            <a:pPr algn="l">
              <a:lnSpc>
                <a:spcPct val="105000"/>
              </a:lnSpc>
              <a:spcAft>
                <a:spcPts val="0"/>
              </a:spcAft>
            </a:pPr>
            <a:r>
              <a:rPr sz="880" b="1" i="0">
                <a:solidFill>
                  <a:srgbClr val="A6F26B"/>
                </a:solidFill>
                <a:latin typeface="Avenir Next"/>
              </a:rPr>
              <a:t>IMPLEMENTED</a:t>
            </a:r>
          </a:p>
        </p:txBody>
      </p:sp>
      <p:sp>
        <p:nvSpPr>
          <p:cNvPr id="22" name="TextBox 21"/>
          <p:cNvSpPr txBox="1"/>
          <p:nvPr/>
        </p:nvSpPr>
        <p:spPr>
          <a:xfrm>
            <a:off x="1371600" y="7223760"/>
            <a:ext cx="7223760" cy="502920"/>
          </a:xfrm>
          <a:prstGeom prst="rect">
            <a:avLst/>
          </a:prstGeom>
          <a:noFill/>
        </p:spPr>
        <p:txBody>
          <a:bodyPr wrap="square" lIns="18288" tIns="18288" rIns="18288" bIns="18288" anchor="t">
            <a:noAutofit/>
          </a:bodyPr>
          <a:lstStyle/>
          <a:p>
            <a:pPr algn="l">
              <a:lnSpc>
                <a:spcPct val="105000"/>
              </a:lnSpc>
              <a:spcAft>
                <a:spcPts val="0"/>
              </a:spcAft>
            </a:pPr>
            <a:r>
              <a:rPr sz="960" b="0" i="0">
                <a:solidFill>
                  <a:srgbClr val="F4FFFA"/>
                </a:solidFill>
                <a:latin typeface="Avenir Next"/>
              </a:rPr>
              <a:t>Live dashboards · 3D twin · trust history · offline cache of last safe state.</a:t>
            </a:r>
          </a:p>
        </p:txBody>
      </p:sp>
      <p:sp>
        <p:nvSpPr>
          <p:cNvPr id="23" name="Rounded Rectangle 22"/>
          <p:cNvSpPr/>
          <p:nvPr/>
        </p:nvSpPr>
        <p:spPr>
          <a:xfrm>
            <a:off x="9006840" y="6812280"/>
            <a:ext cx="8001000" cy="1005840"/>
          </a:xfrm>
          <a:prstGeom prst="roundRect">
            <a:avLst>
              <a:gd name="adj" fmla="val 8000"/>
            </a:avLst>
          </a:prstGeom>
          <a:solidFill>
            <a:srgbClr val="0A221B"/>
          </a:solidFill>
          <a:ln w="10160">
            <a:solidFill>
              <a:srgbClr val="F0B42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9235440" y="6949440"/>
            <a:ext cx="7498079" cy="256032"/>
          </a:xfrm>
          <a:prstGeom prst="rect">
            <a:avLst/>
          </a:prstGeom>
          <a:noFill/>
        </p:spPr>
        <p:txBody>
          <a:bodyPr wrap="square" lIns="18288" tIns="18288" rIns="18288" bIns="18288" anchor="t">
            <a:noAutofit/>
          </a:bodyPr>
          <a:lstStyle/>
          <a:p>
            <a:pPr algn="l">
              <a:lnSpc>
                <a:spcPct val="105000"/>
              </a:lnSpc>
              <a:spcAft>
                <a:spcPts val="0"/>
              </a:spcAft>
            </a:pPr>
            <a:r>
              <a:rPr sz="880" b="1" i="0">
                <a:solidFill>
                  <a:srgbClr val="F0B429"/>
                </a:solidFill>
                <a:latin typeface="Avenir Next"/>
              </a:rPr>
              <a:t>NOT YET</a:t>
            </a:r>
          </a:p>
        </p:txBody>
      </p:sp>
      <p:sp>
        <p:nvSpPr>
          <p:cNvPr id="25" name="TextBox 24"/>
          <p:cNvSpPr txBox="1"/>
          <p:nvPr/>
        </p:nvSpPr>
        <p:spPr>
          <a:xfrm>
            <a:off x="9235440" y="7223760"/>
            <a:ext cx="7498079" cy="502920"/>
          </a:xfrm>
          <a:prstGeom prst="rect">
            <a:avLst/>
          </a:prstGeom>
          <a:noFill/>
        </p:spPr>
        <p:txBody>
          <a:bodyPr wrap="square" lIns="18288" tIns="18288" rIns="18288" bIns="18288" anchor="t">
            <a:noAutofit/>
          </a:bodyPr>
          <a:lstStyle/>
          <a:p>
            <a:pPr algn="l">
              <a:lnSpc>
                <a:spcPct val="105000"/>
              </a:lnSpc>
              <a:spcAft>
                <a:spcPts val="0"/>
              </a:spcAft>
            </a:pPr>
            <a:r>
              <a:rPr sz="960" b="0" i="0">
                <a:solidFill>
                  <a:srgbClr val="F4FFFA"/>
                </a:solidFill>
                <a:latin typeface="Avenir Next"/>
              </a:rPr>
              <a:t>Push notifications · automatic pump control · production TLS.</a:t>
            </a:r>
          </a:p>
        </p:txBody>
      </p:sp>
      <p:sp>
        <p:nvSpPr>
          <p:cNvPr id="26" name="TextBox 25"/>
          <p:cNvSpPr txBox="1"/>
          <p:nvPr/>
        </p:nvSpPr>
        <p:spPr>
          <a:xfrm>
            <a:off x="4983480" y="9619488"/>
            <a:ext cx="5852160" cy="228600"/>
          </a:xfrm>
          <a:prstGeom prst="rect">
            <a:avLst/>
          </a:prstGeom>
          <a:noFill/>
        </p:spPr>
        <p:txBody>
          <a:bodyPr wrap="square" lIns="0" tIns="0" rIns="0" bIns="0" anchor="t">
            <a:noAutofit/>
          </a:bodyPr>
          <a:lstStyle/>
          <a:p>
            <a:pPr algn="l">
              <a:lnSpc>
                <a:spcPct val="105000"/>
              </a:lnSpc>
              <a:spcAft>
                <a:spcPts val="0"/>
              </a:spcAft>
            </a:pPr>
            <a:r>
              <a:rPr sz="819" b="0" i="0">
                <a:solidFill>
                  <a:srgbClr val="7CA091"/>
                </a:solidFill>
                <a:latin typeface="Avenir Next"/>
              </a:rPr>
              <a:t>TrustFarm  ·  INNOVA 2026  ·  ICBT</a:t>
            </a:r>
          </a:p>
        </p:txBody>
      </p:sp>
      <p:sp>
        <p:nvSpPr>
          <p:cNvPr id="27" name="TextBox 26"/>
          <p:cNvSpPr txBox="1"/>
          <p:nvPr/>
        </p:nvSpPr>
        <p:spPr>
          <a:xfrm>
            <a:off x="11018520" y="9619488"/>
            <a:ext cx="1234440" cy="228600"/>
          </a:xfrm>
          <a:prstGeom prst="rect">
            <a:avLst/>
          </a:prstGeom>
          <a:noFill/>
        </p:spPr>
        <p:txBody>
          <a:bodyPr wrap="square" lIns="0" tIns="0" rIns="0" bIns="0" anchor="t">
            <a:noAutofit/>
          </a:bodyPr>
          <a:lstStyle/>
          <a:p>
            <a:pPr algn="r">
              <a:lnSpc>
                <a:spcPct val="105000"/>
              </a:lnSpc>
              <a:spcAft>
                <a:spcPts val="0"/>
              </a:spcAft>
            </a:pPr>
            <a:r>
              <a:rPr sz="819" b="0" i="0">
                <a:solidFill>
                  <a:srgbClr val="7CA091"/>
                </a:solidFill>
                <a:latin typeface="Avenir Next"/>
              </a:rPr>
              <a:t>14 / 25</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1A1D1C"/>
        </a:solidFill>
        <a:effectLst/>
      </p:bgPr>
    </p:bg>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25192566" h="16800292">
                <a:moveTo>
                  <a:pt x="0" y="0"/>
                </a:moveTo>
                <a:lnTo>
                  <a:pt x="25192566" y="0"/>
                </a:lnTo>
                <a:lnTo>
                  <a:pt x="25192566" y="16800292"/>
                </a:lnTo>
                <a:lnTo>
                  <a:pt x="0" y="16800292"/>
                </a:lnTo>
                <a:lnTo>
                  <a:pt x="0" y="0"/>
                </a:lnTo>
                <a:close/>
              </a:path>
            </a:pathLst>
          </a:custGeom>
          <a:blipFill>
            <a:blip r:embed="rId3"/>
            <a:stretch>
              <a:fillRect/>
            </a:stretch>
          </a:blipFill>
        </p:spPr>
        <p:txBody>
          <a:bodyPr/>
          <a:lstStyle/>
          <a:p>
            <a:endParaRPr/>
          </a:p>
        </p:txBody>
      </p:sp>
      <p:sp>
        <p:nvSpPr>
          <p:cNvPr id="3" name="Freeform 3"/>
          <p:cNvSpPr/>
          <p:nvPr/>
        </p:nvSpPr>
        <p:spPr>
          <a:xfrm>
            <a:off x="12596283" y="8658721"/>
            <a:ext cx="6457129" cy="1628279"/>
          </a:xfrm>
          <a:custGeom>
            <a:avLst/>
            <a:gdLst/>
            <a:ahLst/>
            <a:cxnLst/>
            <a:rect l="l" t="t" r="r" b="b"/>
            <a:pathLst>
              <a:path w="6457129" h="1628279">
                <a:moveTo>
                  <a:pt x="0" y="0"/>
                </a:moveTo>
                <a:lnTo>
                  <a:pt x="6457129" y="0"/>
                </a:lnTo>
                <a:lnTo>
                  <a:pt x="6457129" y="1628279"/>
                </a:lnTo>
                <a:lnTo>
                  <a:pt x="0" y="1628279"/>
                </a:lnTo>
                <a:lnTo>
                  <a:pt x="0" y="0"/>
                </a:lnTo>
                <a:close/>
              </a:path>
            </a:pathLst>
          </a:custGeom>
          <a:blipFill>
            <a:blip r:embed="rId4"/>
            <a:stretch>
              <a:fillRect t="-85078" b="-85078"/>
            </a:stretch>
          </a:blipFill>
        </p:spPr>
        <p:txBody>
          <a:bodyPr/>
          <a:lstStyle/>
          <a:p>
            <a:endParaRPr/>
          </a:p>
        </p:txBody>
      </p:sp>
      <p:sp>
        <p:nvSpPr>
          <p:cNvPr id="4" name="Freeform 4"/>
          <p:cNvSpPr/>
          <p:nvPr/>
        </p:nvSpPr>
        <p:spPr>
          <a:xfrm>
            <a:off x="0" y="8072991"/>
            <a:ext cx="2839033" cy="2839033"/>
          </a:xfrm>
          <a:custGeom>
            <a:avLst/>
            <a:gdLst/>
            <a:ahLst/>
            <a:cxnLst/>
            <a:rect l="l" t="t" r="r" b="b"/>
            <a:pathLst>
              <a:path w="2839033" h="2839033">
                <a:moveTo>
                  <a:pt x="0" y="0"/>
                </a:moveTo>
                <a:lnTo>
                  <a:pt x="2839033" y="0"/>
                </a:lnTo>
                <a:lnTo>
                  <a:pt x="2839033" y="2839033"/>
                </a:lnTo>
                <a:lnTo>
                  <a:pt x="0" y="2839033"/>
                </a:lnTo>
                <a:lnTo>
                  <a:pt x="0" y="0"/>
                </a:lnTo>
                <a:close/>
              </a:path>
            </a:pathLst>
          </a:custGeom>
          <a:blipFill>
            <a:blip r:embed="rId5"/>
            <a:stretch>
              <a:fillRect/>
            </a:stretch>
          </a:blipFill>
        </p:spPr>
        <p:txBody>
          <a:bodyPr/>
          <a:lstStyle/>
          <a:p>
            <a:endParaRPr/>
          </a:p>
        </p:txBody>
      </p:sp>
      <p:sp>
        <p:nvSpPr>
          <p:cNvPr id="5" name="TextBox 4"/>
          <p:cNvSpPr txBox="1"/>
          <p:nvPr/>
        </p:nvSpPr>
        <p:spPr>
          <a:xfrm>
            <a:off x="1143000" y="841248"/>
            <a:ext cx="10972800" cy="292608"/>
          </a:xfrm>
          <a:prstGeom prst="rect">
            <a:avLst/>
          </a:prstGeom>
          <a:noFill/>
        </p:spPr>
        <p:txBody>
          <a:bodyPr wrap="square" lIns="0" tIns="0" rIns="0" bIns="0" anchor="t">
            <a:noAutofit/>
          </a:bodyPr>
          <a:lstStyle/>
          <a:p>
            <a:pPr algn="l">
              <a:lnSpc>
                <a:spcPct val="105000"/>
              </a:lnSpc>
              <a:spcAft>
                <a:spcPts val="0"/>
              </a:spcAft>
            </a:pPr>
            <a:r>
              <a:rPr sz="1000" b="1" i="0">
                <a:solidFill>
                  <a:srgbClr val="A6F26B"/>
                </a:solidFill>
                <a:latin typeface="Avenir Next"/>
              </a:rPr>
              <a:t>DATA FOUNDATION</a:t>
            </a:r>
          </a:p>
        </p:txBody>
      </p:sp>
      <p:sp>
        <p:nvSpPr>
          <p:cNvPr id="6" name="TextBox 5"/>
          <p:cNvSpPr txBox="1"/>
          <p:nvPr/>
        </p:nvSpPr>
        <p:spPr>
          <a:xfrm>
            <a:off x="1097280" y="1124712"/>
            <a:ext cx="13075920" cy="676656"/>
          </a:xfrm>
          <a:prstGeom prst="rect">
            <a:avLst/>
          </a:prstGeom>
          <a:noFill/>
        </p:spPr>
        <p:txBody>
          <a:bodyPr wrap="square" lIns="0" tIns="0" rIns="0" bIns="0" anchor="t">
            <a:noAutofit/>
          </a:bodyPr>
          <a:lstStyle/>
          <a:p>
            <a:pPr algn="l">
              <a:lnSpc>
                <a:spcPct val="98000"/>
              </a:lnSpc>
              <a:spcAft>
                <a:spcPts val="0"/>
              </a:spcAft>
            </a:pPr>
            <a:r>
              <a:rPr sz="3300" b="1" i="0">
                <a:solidFill>
                  <a:srgbClr val="F4FFFA"/>
                </a:solidFill>
                <a:latin typeface="Avenir Next"/>
              </a:rPr>
              <a:t>Four datasets. One honest evidence label.</a:t>
            </a:r>
          </a:p>
        </p:txBody>
      </p:sp>
      <p:sp>
        <p:nvSpPr>
          <p:cNvPr id="7" name="TextBox 6"/>
          <p:cNvSpPr txBox="1"/>
          <p:nvPr/>
        </p:nvSpPr>
        <p:spPr>
          <a:xfrm>
            <a:off x="1143000" y="1865376"/>
            <a:ext cx="13258800" cy="502920"/>
          </a:xfrm>
          <a:prstGeom prst="rect">
            <a:avLst/>
          </a:prstGeom>
          <a:noFill/>
        </p:spPr>
        <p:txBody>
          <a:bodyPr wrap="square" lIns="0" tIns="0" rIns="0" bIns="0" anchor="t">
            <a:noAutofit/>
          </a:bodyPr>
          <a:lstStyle/>
          <a:p>
            <a:pPr algn="l">
              <a:lnSpc>
                <a:spcPct val="110000"/>
              </a:lnSpc>
              <a:spcAft>
                <a:spcPts val="0"/>
              </a:spcAft>
            </a:pPr>
            <a:r>
              <a:rPr sz="1400" b="0" i="0">
                <a:solidFill>
                  <a:srgbClr val="ADC9BE"/>
                </a:solidFill>
                <a:latin typeface="Avenir Next"/>
              </a:rPr>
              <a:t>Public data supports development. It is not a substitute for a field pilot.</a:t>
            </a:r>
          </a:p>
        </p:txBody>
      </p:sp>
      <p:sp>
        <p:nvSpPr>
          <p:cNvPr id="8" name="Rectangle 7"/>
          <p:cNvSpPr/>
          <p:nvPr/>
        </p:nvSpPr>
        <p:spPr>
          <a:xfrm>
            <a:off x="1143000" y="2542032"/>
            <a:ext cx="1143000" cy="41148"/>
          </a:xfrm>
          <a:prstGeom prst="rect">
            <a:avLst/>
          </a:prstGeom>
          <a:solidFill>
            <a:srgbClr val="A6F2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ounded Rectangle 8"/>
          <p:cNvSpPr/>
          <p:nvPr/>
        </p:nvSpPr>
        <p:spPr>
          <a:xfrm>
            <a:off x="14127480" y="1143000"/>
            <a:ext cx="3017520" cy="347472"/>
          </a:xfrm>
          <a:prstGeom prst="roundRect">
            <a:avLst>
              <a:gd name="adj" fmla="val 50000"/>
            </a:avLst>
          </a:prstGeom>
          <a:solidFill>
            <a:srgbClr val="0A221B"/>
          </a:solidFill>
          <a:ln w="8890">
            <a:solidFill>
              <a:srgbClr val="A6F26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14164055" y="1161288"/>
            <a:ext cx="2944368" cy="310896"/>
          </a:xfrm>
          <a:prstGeom prst="rect">
            <a:avLst/>
          </a:prstGeom>
          <a:noFill/>
        </p:spPr>
        <p:txBody>
          <a:bodyPr wrap="square" lIns="9144" tIns="0" rIns="9144" bIns="0" anchor="ctr">
            <a:noAutofit/>
          </a:bodyPr>
          <a:lstStyle/>
          <a:p>
            <a:pPr algn="ctr">
              <a:lnSpc>
                <a:spcPct val="105000"/>
              </a:lnSpc>
              <a:spcAft>
                <a:spcPts val="0"/>
              </a:spcAft>
            </a:pPr>
            <a:r>
              <a:rPr sz="819" b="1" i="0">
                <a:solidFill>
                  <a:srgbClr val="A6F26B"/>
                </a:solidFill>
                <a:latin typeface="Avenir Next"/>
              </a:rPr>
              <a:t>IEEE DATAPORT</a:t>
            </a:r>
          </a:p>
        </p:txBody>
      </p:sp>
      <p:sp>
        <p:nvSpPr>
          <p:cNvPr id="11" name="Rounded Rectangle 10"/>
          <p:cNvSpPr/>
          <p:nvPr/>
        </p:nvSpPr>
        <p:spPr>
          <a:xfrm>
            <a:off x="1143000" y="2834640"/>
            <a:ext cx="3767328" cy="4160520"/>
          </a:xfrm>
          <a:prstGeom prst="roundRect">
            <a:avLst>
              <a:gd name="adj" fmla="val 8000"/>
            </a:avLst>
          </a:prstGeom>
          <a:solidFill>
            <a:srgbClr val="071813"/>
          </a:solidFill>
          <a:ln w="10160">
            <a:solidFill>
              <a:srgbClr val="A6F26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1307592" y="2999232"/>
            <a:ext cx="3429000" cy="457200"/>
          </a:xfrm>
          <a:prstGeom prst="rect">
            <a:avLst/>
          </a:prstGeom>
          <a:noFill/>
        </p:spPr>
        <p:txBody>
          <a:bodyPr wrap="square" lIns="18288" tIns="18288" rIns="18288" bIns="18288" anchor="t">
            <a:noAutofit/>
          </a:bodyPr>
          <a:lstStyle/>
          <a:p>
            <a:pPr algn="l">
              <a:lnSpc>
                <a:spcPct val="100000"/>
              </a:lnSpc>
              <a:spcAft>
                <a:spcPts val="0"/>
              </a:spcAft>
            </a:pPr>
            <a:r>
              <a:rPr sz="1320" b="1" i="0">
                <a:solidFill>
                  <a:srgbClr val="F4FFFA"/>
                </a:solidFill>
                <a:latin typeface="Avenir Next"/>
              </a:rPr>
              <a:t>AquaIntel</a:t>
            </a:r>
          </a:p>
        </p:txBody>
      </p:sp>
      <p:sp>
        <p:nvSpPr>
          <p:cNvPr id="13" name="Rounded Rectangle 12"/>
          <p:cNvSpPr/>
          <p:nvPr/>
        </p:nvSpPr>
        <p:spPr>
          <a:xfrm>
            <a:off x="1307592" y="3502152"/>
            <a:ext cx="1481328" cy="256032"/>
          </a:xfrm>
          <a:prstGeom prst="roundRect">
            <a:avLst>
              <a:gd name="adj" fmla="val 50000"/>
            </a:avLst>
          </a:prstGeom>
          <a:solidFill>
            <a:srgbClr val="0A221B"/>
          </a:solidFill>
          <a:ln w="8890">
            <a:solidFill>
              <a:srgbClr val="A6F26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1344168" y="3520440"/>
            <a:ext cx="1408176" cy="219456"/>
          </a:xfrm>
          <a:prstGeom prst="rect">
            <a:avLst/>
          </a:prstGeom>
          <a:noFill/>
        </p:spPr>
        <p:txBody>
          <a:bodyPr wrap="square" lIns="9144" tIns="0" rIns="9144" bIns="0" anchor="ctr">
            <a:noAutofit/>
          </a:bodyPr>
          <a:lstStyle/>
          <a:p>
            <a:pPr algn="ctr">
              <a:lnSpc>
                <a:spcPct val="105000"/>
              </a:lnSpc>
              <a:spcAft>
                <a:spcPts val="0"/>
              </a:spcAft>
            </a:pPr>
            <a:r>
              <a:rPr sz="660" b="1" i="0">
                <a:solidFill>
                  <a:srgbClr val="A6F26B"/>
                </a:solidFill>
                <a:latin typeface="Avenir Next"/>
              </a:rPr>
              <a:t>MEASURED</a:t>
            </a:r>
          </a:p>
        </p:txBody>
      </p:sp>
      <p:sp>
        <p:nvSpPr>
          <p:cNvPr id="15" name="TextBox 14"/>
          <p:cNvSpPr txBox="1"/>
          <p:nvPr/>
        </p:nvSpPr>
        <p:spPr>
          <a:xfrm>
            <a:off x="1307592" y="3858768"/>
            <a:ext cx="3429000" cy="228600"/>
          </a:xfrm>
          <a:prstGeom prst="rect">
            <a:avLst/>
          </a:prstGeom>
          <a:noFill/>
        </p:spPr>
        <p:txBody>
          <a:bodyPr wrap="square" lIns="18288" tIns="18288" rIns="18288" bIns="18288" anchor="t">
            <a:noAutofit/>
          </a:bodyPr>
          <a:lstStyle/>
          <a:p>
            <a:pPr algn="l">
              <a:lnSpc>
                <a:spcPct val="105000"/>
              </a:lnSpc>
              <a:spcAft>
                <a:spcPts val="0"/>
              </a:spcAft>
            </a:pPr>
            <a:r>
              <a:rPr sz="760" b="0" i="0">
                <a:solidFill>
                  <a:srgbClr val="A6F26B"/>
                </a:solidFill>
                <a:latin typeface="Menlo"/>
              </a:rPr>
              <a:t>10.21227/tt8w-qh19</a:t>
            </a:r>
          </a:p>
        </p:txBody>
      </p:sp>
      <p:sp>
        <p:nvSpPr>
          <p:cNvPr id="16" name="TextBox 15"/>
          <p:cNvSpPr txBox="1"/>
          <p:nvPr/>
        </p:nvSpPr>
        <p:spPr>
          <a:xfrm>
            <a:off x="1307592" y="4178808"/>
            <a:ext cx="3456432" cy="960120"/>
          </a:xfrm>
          <a:prstGeom prst="rect">
            <a:avLst/>
          </a:prstGeom>
          <a:noFill/>
        </p:spPr>
        <p:txBody>
          <a:bodyPr wrap="square" lIns="18288" tIns="18288" rIns="18288" bIns="18288" anchor="t">
            <a:noAutofit/>
          </a:bodyPr>
          <a:lstStyle/>
          <a:p>
            <a:pPr algn="l">
              <a:lnSpc>
                <a:spcPct val="108000"/>
              </a:lnSpc>
              <a:spcAft>
                <a:spcPts val="0"/>
              </a:spcAft>
            </a:pPr>
            <a:r>
              <a:rPr sz="910" b="0" i="0">
                <a:solidFill>
                  <a:srgbClr val="ADC9BE"/>
                </a:solidFill>
                <a:latin typeface="Avenir Next"/>
              </a:rPr>
              <a:t>Soil moisture, water level, flow, temperature, pump status, real faults.</a:t>
            </a:r>
          </a:p>
        </p:txBody>
      </p:sp>
      <p:sp>
        <p:nvSpPr>
          <p:cNvPr id="17" name="Rectangle 16"/>
          <p:cNvSpPr/>
          <p:nvPr/>
        </p:nvSpPr>
        <p:spPr>
          <a:xfrm>
            <a:off x="1307592" y="5285232"/>
            <a:ext cx="3291840" cy="22860"/>
          </a:xfrm>
          <a:prstGeom prst="rect">
            <a:avLst/>
          </a:prstGeom>
          <a:solidFill>
            <a:srgbClr val="22423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1307592" y="5413248"/>
            <a:ext cx="3456432" cy="201168"/>
          </a:xfrm>
          <a:prstGeom prst="rect">
            <a:avLst/>
          </a:prstGeom>
          <a:noFill/>
        </p:spPr>
        <p:txBody>
          <a:bodyPr wrap="square" lIns="18288" tIns="18288" rIns="18288" bIns="18288" anchor="t">
            <a:noAutofit/>
          </a:bodyPr>
          <a:lstStyle/>
          <a:p>
            <a:pPr algn="l">
              <a:lnSpc>
                <a:spcPct val="105000"/>
              </a:lnSpc>
              <a:spcAft>
                <a:spcPts val="0"/>
              </a:spcAft>
            </a:pPr>
            <a:r>
              <a:rPr sz="720" b="1" i="0">
                <a:solidFill>
                  <a:srgbClr val="A6F26B"/>
                </a:solidFill>
                <a:latin typeface="Avenir Next"/>
              </a:rPr>
              <a:t>USED FOR</a:t>
            </a:r>
          </a:p>
        </p:txBody>
      </p:sp>
      <p:sp>
        <p:nvSpPr>
          <p:cNvPr id="19" name="TextBox 18"/>
          <p:cNvSpPr txBox="1"/>
          <p:nvPr/>
        </p:nvSpPr>
        <p:spPr>
          <a:xfrm>
            <a:off x="1307592" y="5669280"/>
            <a:ext cx="3456432" cy="868680"/>
          </a:xfrm>
          <a:prstGeom prst="rect">
            <a:avLst/>
          </a:prstGeom>
          <a:noFill/>
        </p:spPr>
        <p:txBody>
          <a:bodyPr wrap="square" lIns="18288" tIns="18288" rIns="18288" bIns="18288" anchor="t">
            <a:noAutofit/>
          </a:bodyPr>
          <a:lstStyle/>
          <a:p>
            <a:pPr algn="l">
              <a:lnSpc>
                <a:spcPct val="108000"/>
              </a:lnSpc>
              <a:spcAft>
                <a:spcPts val="0"/>
              </a:spcAft>
            </a:pPr>
            <a:r>
              <a:rPr sz="880" b="0" i="0">
                <a:solidFill>
                  <a:srgbClr val="F4FFFA"/>
                </a:solidFill>
                <a:latin typeface="Avenir Next"/>
              </a:rPr>
              <a:t>Trust engine · anomaly checks · irrigation forecasting.</a:t>
            </a:r>
          </a:p>
        </p:txBody>
      </p:sp>
      <p:sp>
        <p:nvSpPr>
          <p:cNvPr id="20" name="Rounded Rectangle 19"/>
          <p:cNvSpPr/>
          <p:nvPr/>
        </p:nvSpPr>
        <p:spPr>
          <a:xfrm>
            <a:off x="5166360" y="2834640"/>
            <a:ext cx="3767328" cy="4160520"/>
          </a:xfrm>
          <a:prstGeom prst="roundRect">
            <a:avLst>
              <a:gd name="adj" fmla="val 8000"/>
            </a:avLst>
          </a:prstGeom>
          <a:solidFill>
            <a:srgbClr val="071813"/>
          </a:solidFill>
          <a:ln w="10160">
            <a:solidFill>
              <a:srgbClr val="59D7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5330952" y="2999232"/>
            <a:ext cx="3429000" cy="457200"/>
          </a:xfrm>
          <a:prstGeom prst="rect">
            <a:avLst/>
          </a:prstGeom>
          <a:noFill/>
        </p:spPr>
        <p:txBody>
          <a:bodyPr wrap="square" lIns="18288" tIns="18288" rIns="18288" bIns="18288" anchor="t">
            <a:noAutofit/>
          </a:bodyPr>
          <a:lstStyle/>
          <a:p>
            <a:pPr algn="l">
              <a:lnSpc>
                <a:spcPct val="100000"/>
              </a:lnSpc>
              <a:spcAft>
                <a:spcPts val="0"/>
              </a:spcAft>
            </a:pPr>
            <a:r>
              <a:rPr sz="1320" b="1" i="0">
                <a:solidFill>
                  <a:srgbClr val="F4FFFA"/>
                </a:solidFill>
                <a:latin typeface="Avenir Next"/>
              </a:rPr>
              <a:t>AgriField-Manipur</a:t>
            </a:r>
          </a:p>
        </p:txBody>
      </p:sp>
      <p:sp>
        <p:nvSpPr>
          <p:cNvPr id="22" name="Rounded Rectangle 21"/>
          <p:cNvSpPr/>
          <p:nvPr/>
        </p:nvSpPr>
        <p:spPr>
          <a:xfrm>
            <a:off x="5330952" y="3502152"/>
            <a:ext cx="1481328" cy="256032"/>
          </a:xfrm>
          <a:prstGeom prst="roundRect">
            <a:avLst>
              <a:gd name="adj" fmla="val 50000"/>
            </a:avLst>
          </a:prstGeom>
          <a:solidFill>
            <a:srgbClr val="0A221B"/>
          </a:solidFill>
          <a:ln w="8890">
            <a:solidFill>
              <a:srgbClr val="59D7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5367528" y="3520440"/>
            <a:ext cx="1408176" cy="219456"/>
          </a:xfrm>
          <a:prstGeom prst="rect">
            <a:avLst/>
          </a:prstGeom>
          <a:noFill/>
        </p:spPr>
        <p:txBody>
          <a:bodyPr wrap="square" lIns="9144" tIns="0" rIns="9144" bIns="0" anchor="ctr">
            <a:noAutofit/>
          </a:bodyPr>
          <a:lstStyle/>
          <a:p>
            <a:pPr algn="ctr">
              <a:lnSpc>
                <a:spcPct val="105000"/>
              </a:lnSpc>
              <a:spcAft>
                <a:spcPts val="0"/>
              </a:spcAft>
            </a:pPr>
            <a:r>
              <a:rPr sz="660" b="1" i="0">
                <a:solidFill>
                  <a:srgbClr val="59D7F0"/>
                </a:solidFill>
                <a:latin typeface="Avenir Next"/>
              </a:rPr>
              <a:t>SYNTHETIC / SIM.</a:t>
            </a:r>
          </a:p>
        </p:txBody>
      </p:sp>
      <p:sp>
        <p:nvSpPr>
          <p:cNvPr id="24" name="TextBox 23"/>
          <p:cNvSpPr txBox="1"/>
          <p:nvPr/>
        </p:nvSpPr>
        <p:spPr>
          <a:xfrm>
            <a:off x="5330952" y="3858768"/>
            <a:ext cx="3429000" cy="228600"/>
          </a:xfrm>
          <a:prstGeom prst="rect">
            <a:avLst/>
          </a:prstGeom>
          <a:noFill/>
        </p:spPr>
        <p:txBody>
          <a:bodyPr wrap="square" lIns="18288" tIns="18288" rIns="18288" bIns="18288" anchor="t">
            <a:noAutofit/>
          </a:bodyPr>
          <a:lstStyle/>
          <a:p>
            <a:pPr algn="l">
              <a:lnSpc>
                <a:spcPct val="105000"/>
              </a:lnSpc>
              <a:spcAft>
                <a:spcPts val="0"/>
              </a:spcAft>
            </a:pPr>
            <a:r>
              <a:rPr sz="760" b="0" i="0">
                <a:solidFill>
                  <a:srgbClr val="59D7F0"/>
                </a:solidFill>
                <a:latin typeface="Menlo"/>
              </a:rPr>
              <a:t>10.21227/kbpa-7d35</a:t>
            </a:r>
          </a:p>
        </p:txBody>
      </p:sp>
      <p:sp>
        <p:nvSpPr>
          <p:cNvPr id="25" name="TextBox 24"/>
          <p:cNvSpPr txBox="1"/>
          <p:nvPr/>
        </p:nvSpPr>
        <p:spPr>
          <a:xfrm>
            <a:off x="5330952" y="4178808"/>
            <a:ext cx="3456432" cy="960120"/>
          </a:xfrm>
          <a:prstGeom prst="rect">
            <a:avLst/>
          </a:prstGeom>
          <a:noFill/>
        </p:spPr>
        <p:txBody>
          <a:bodyPr wrap="square" lIns="18288" tIns="18288" rIns="18288" bIns="18288" anchor="t">
            <a:noAutofit/>
          </a:bodyPr>
          <a:lstStyle/>
          <a:p>
            <a:pPr algn="l">
              <a:lnSpc>
                <a:spcPct val="108000"/>
              </a:lnSpc>
              <a:spcAft>
                <a:spcPts val="0"/>
              </a:spcAft>
            </a:pPr>
            <a:r>
              <a:rPr sz="910" b="0" i="0">
                <a:solidFill>
                  <a:srgbClr val="ADC9BE"/>
                </a:solidFill>
                <a:latin typeface="Avenir Next"/>
              </a:rPr>
              <a:t>Temperature, humidity, soil moisture, pH, rainfall, crop and district.</a:t>
            </a:r>
          </a:p>
        </p:txBody>
      </p:sp>
      <p:sp>
        <p:nvSpPr>
          <p:cNvPr id="26" name="Rectangle 25"/>
          <p:cNvSpPr/>
          <p:nvPr/>
        </p:nvSpPr>
        <p:spPr>
          <a:xfrm>
            <a:off x="5330952" y="5285232"/>
            <a:ext cx="3291840" cy="22860"/>
          </a:xfrm>
          <a:prstGeom prst="rect">
            <a:avLst/>
          </a:prstGeom>
          <a:solidFill>
            <a:srgbClr val="22423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TextBox 26"/>
          <p:cNvSpPr txBox="1"/>
          <p:nvPr/>
        </p:nvSpPr>
        <p:spPr>
          <a:xfrm>
            <a:off x="5330952" y="5413248"/>
            <a:ext cx="3456432" cy="201168"/>
          </a:xfrm>
          <a:prstGeom prst="rect">
            <a:avLst/>
          </a:prstGeom>
          <a:noFill/>
        </p:spPr>
        <p:txBody>
          <a:bodyPr wrap="square" lIns="18288" tIns="18288" rIns="18288" bIns="18288" anchor="t">
            <a:noAutofit/>
          </a:bodyPr>
          <a:lstStyle/>
          <a:p>
            <a:pPr algn="l">
              <a:lnSpc>
                <a:spcPct val="105000"/>
              </a:lnSpc>
              <a:spcAft>
                <a:spcPts val="0"/>
              </a:spcAft>
            </a:pPr>
            <a:r>
              <a:rPr sz="720" b="1" i="0">
                <a:solidFill>
                  <a:srgbClr val="59D7F0"/>
                </a:solidFill>
                <a:latin typeface="Avenir Next"/>
              </a:rPr>
              <a:t>USED FOR</a:t>
            </a:r>
          </a:p>
        </p:txBody>
      </p:sp>
      <p:sp>
        <p:nvSpPr>
          <p:cNvPr id="28" name="TextBox 27"/>
          <p:cNvSpPr txBox="1"/>
          <p:nvPr/>
        </p:nvSpPr>
        <p:spPr>
          <a:xfrm>
            <a:off x="5330952" y="5669280"/>
            <a:ext cx="3456432" cy="868680"/>
          </a:xfrm>
          <a:prstGeom prst="rect">
            <a:avLst/>
          </a:prstGeom>
          <a:noFill/>
        </p:spPr>
        <p:txBody>
          <a:bodyPr wrap="square" lIns="18288" tIns="18288" rIns="18288" bIns="18288" anchor="t">
            <a:noAutofit/>
          </a:bodyPr>
          <a:lstStyle/>
          <a:p>
            <a:pPr algn="l">
              <a:lnSpc>
                <a:spcPct val="108000"/>
              </a:lnSpc>
              <a:spcAft>
                <a:spcPts val="0"/>
              </a:spcAft>
            </a:pPr>
            <a:r>
              <a:rPr sz="880" b="0" i="0">
                <a:solidFill>
                  <a:srgbClr val="F4FFFA"/>
                </a:solidFill>
                <a:latin typeface="Avenir Next"/>
              </a:rPr>
              <a:t>Classification features · crop/weather context.</a:t>
            </a:r>
          </a:p>
        </p:txBody>
      </p:sp>
      <p:sp>
        <p:nvSpPr>
          <p:cNvPr id="29" name="Rounded Rectangle 28"/>
          <p:cNvSpPr/>
          <p:nvPr/>
        </p:nvSpPr>
        <p:spPr>
          <a:xfrm>
            <a:off x="9189720" y="2834640"/>
            <a:ext cx="3767328" cy="4160520"/>
          </a:xfrm>
          <a:prstGeom prst="roundRect">
            <a:avLst>
              <a:gd name="adj" fmla="val 8000"/>
            </a:avLst>
          </a:prstGeom>
          <a:solidFill>
            <a:srgbClr val="071813"/>
          </a:solidFill>
          <a:ln w="10160">
            <a:solidFill>
              <a:srgbClr val="F5C45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TextBox 29"/>
          <p:cNvSpPr txBox="1"/>
          <p:nvPr/>
        </p:nvSpPr>
        <p:spPr>
          <a:xfrm>
            <a:off x="9354312" y="2999232"/>
            <a:ext cx="3429000" cy="457200"/>
          </a:xfrm>
          <a:prstGeom prst="rect">
            <a:avLst/>
          </a:prstGeom>
          <a:noFill/>
        </p:spPr>
        <p:txBody>
          <a:bodyPr wrap="square" lIns="18288" tIns="18288" rIns="18288" bIns="18288" anchor="t">
            <a:noAutofit/>
          </a:bodyPr>
          <a:lstStyle/>
          <a:p>
            <a:pPr algn="l">
              <a:lnSpc>
                <a:spcPct val="100000"/>
              </a:lnSpc>
              <a:spcAft>
                <a:spcPts val="0"/>
              </a:spcAft>
            </a:pPr>
            <a:r>
              <a:rPr sz="1320" b="1" i="0">
                <a:solidFill>
                  <a:srgbClr val="F4FFFA"/>
                </a:solidFill>
                <a:latin typeface="Avenir Next"/>
              </a:rPr>
              <a:t>Biogas Swine Farm</a:t>
            </a:r>
          </a:p>
        </p:txBody>
      </p:sp>
      <p:sp>
        <p:nvSpPr>
          <p:cNvPr id="31" name="Rounded Rectangle 30"/>
          <p:cNvSpPr/>
          <p:nvPr/>
        </p:nvSpPr>
        <p:spPr>
          <a:xfrm>
            <a:off x="9354312" y="3502152"/>
            <a:ext cx="1481328" cy="256032"/>
          </a:xfrm>
          <a:prstGeom prst="roundRect">
            <a:avLst>
              <a:gd name="adj" fmla="val 50000"/>
            </a:avLst>
          </a:prstGeom>
          <a:solidFill>
            <a:srgbClr val="0A221B"/>
          </a:solidFill>
          <a:ln w="8890">
            <a:solidFill>
              <a:srgbClr val="F5C45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TextBox 31"/>
          <p:cNvSpPr txBox="1"/>
          <p:nvPr/>
        </p:nvSpPr>
        <p:spPr>
          <a:xfrm>
            <a:off x="9390888" y="3520440"/>
            <a:ext cx="1408176" cy="219456"/>
          </a:xfrm>
          <a:prstGeom prst="rect">
            <a:avLst/>
          </a:prstGeom>
          <a:noFill/>
        </p:spPr>
        <p:txBody>
          <a:bodyPr wrap="square" lIns="9144" tIns="0" rIns="9144" bIns="0" anchor="ctr">
            <a:noAutofit/>
          </a:bodyPr>
          <a:lstStyle/>
          <a:p>
            <a:pPr algn="ctr">
              <a:lnSpc>
                <a:spcPct val="105000"/>
              </a:lnSpc>
              <a:spcAft>
                <a:spcPts val="0"/>
              </a:spcAft>
            </a:pPr>
            <a:r>
              <a:rPr sz="660" b="1" i="0">
                <a:solidFill>
                  <a:srgbClr val="F5C451"/>
                </a:solidFill>
                <a:latin typeface="Avenir Next"/>
              </a:rPr>
              <a:t>SYNTHETIC / SIM.</a:t>
            </a:r>
          </a:p>
        </p:txBody>
      </p:sp>
      <p:sp>
        <p:nvSpPr>
          <p:cNvPr id="33" name="TextBox 32"/>
          <p:cNvSpPr txBox="1"/>
          <p:nvPr/>
        </p:nvSpPr>
        <p:spPr>
          <a:xfrm>
            <a:off x="9354312" y="3858768"/>
            <a:ext cx="3429000" cy="228600"/>
          </a:xfrm>
          <a:prstGeom prst="rect">
            <a:avLst/>
          </a:prstGeom>
          <a:noFill/>
        </p:spPr>
        <p:txBody>
          <a:bodyPr wrap="square" lIns="18288" tIns="18288" rIns="18288" bIns="18288" anchor="t">
            <a:noAutofit/>
          </a:bodyPr>
          <a:lstStyle/>
          <a:p>
            <a:pPr algn="l">
              <a:lnSpc>
                <a:spcPct val="105000"/>
              </a:lnSpc>
              <a:spcAft>
                <a:spcPts val="0"/>
              </a:spcAft>
            </a:pPr>
            <a:r>
              <a:rPr sz="760" b="0" i="0">
                <a:solidFill>
                  <a:srgbClr val="F5C451"/>
                </a:solidFill>
                <a:latin typeface="Menlo"/>
              </a:rPr>
              <a:t>10.21227/jd39-y840</a:t>
            </a:r>
          </a:p>
        </p:txBody>
      </p:sp>
      <p:sp>
        <p:nvSpPr>
          <p:cNvPr id="34" name="TextBox 33"/>
          <p:cNvSpPr txBox="1"/>
          <p:nvPr/>
        </p:nvSpPr>
        <p:spPr>
          <a:xfrm>
            <a:off x="9354312" y="4178808"/>
            <a:ext cx="3456432" cy="960120"/>
          </a:xfrm>
          <a:prstGeom prst="rect">
            <a:avLst/>
          </a:prstGeom>
          <a:noFill/>
        </p:spPr>
        <p:txBody>
          <a:bodyPr wrap="square" lIns="18288" tIns="18288" rIns="18288" bIns="18288" anchor="t">
            <a:noAutofit/>
          </a:bodyPr>
          <a:lstStyle/>
          <a:p>
            <a:pPr algn="l">
              <a:lnSpc>
                <a:spcPct val="108000"/>
              </a:lnSpc>
              <a:spcAft>
                <a:spcPts val="0"/>
              </a:spcAft>
            </a:pPr>
            <a:r>
              <a:rPr sz="910" b="0" i="0">
                <a:solidFill>
                  <a:srgbClr val="ADC9BE"/>
                </a:solidFill>
                <a:latin typeface="Avenir Next"/>
              </a:rPr>
              <a:t>Biogas production, inflow, substrate and temperature time-series.</a:t>
            </a:r>
          </a:p>
        </p:txBody>
      </p:sp>
      <p:sp>
        <p:nvSpPr>
          <p:cNvPr id="35" name="Rectangle 34"/>
          <p:cNvSpPr/>
          <p:nvPr/>
        </p:nvSpPr>
        <p:spPr>
          <a:xfrm>
            <a:off x="9354312" y="5285232"/>
            <a:ext cx="3291840" cy="22860"/>
          </a:xfrm>
          <a:prstGeom prst="rect">
            <a:avLst/>
          </a:prstGeom>
          <a:solidFill>
            <a:srgbClr val="22423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 name="TextBox 35"/>
          <p:cNvSpPr txBox="1"/>
          <p:nvPr/>
        </p:nvSpPr>
        <p:spPr>
          <a:xfrm>
            <a:off x="9354312" y="5413248"/>
            <a:ext cx="3456432" cy="201168"/>
          </a:xfrm>
          <a:prstGeom prst="rect">
            <a:avLst/>
          </a:prstGeom>
          <a:noFill/>
        </p:spPr>
        <p:txBody>
          <a:bodyPr wrap="square" lIns="18288" tIns="18288" rIns="18288" bIns="18288" anchor="t">
            <a:noAutofit/>
          </a:bodyPr>
          <a:lstStyle/>
          <a:p>
            <a:pPr algn="l">
              <a:lnSpc>
                <a:spcPct val="105000"/>
              </a:lnSpc>
              <a:spcAft>
                <a:spcPts val="0"/>
              </a:spcAft>
            </a:pPr>
            <a:r>
              <a:rPr sz="720" b="1" i="0">
                <a:solidFill>
                  <a:srgbClr val="F5C451"/>
                </a:solidFill>
                <a:latin typeface="Avenir Next"/>
              </a:rPr>
              <a:t>USED FOR</a:t>
            </a:r>
          </a:p>
        </p:txBody>
      </p:sp>
      <p:sp>
        <p:nvSpPr>
          <p:cNvPr id="37" name="TextBox 36"/>
          <p:cNvSpPr txBox="1"/>
          <p:nvPr/>
        </p:nvSpPr>
        <p:spPr>
          <a:xfrm>
            <a:off x="9354312" y="5669280"/>
            <a:ext cx="3456432" cy="868680"/>
          </a:xfrm>
          <a:prstGeom prst="rect">
            <a:avLst/>
          </a:prstGeom>
          <a:noFill/>
        </p:spPr>
        <p:txBody>
          <a:bodyPr wrap="square" lIns="18288" tIns="18288" rIns="18288" bIns="18288" anchor="t">
            <a:noAutofit/>
          </a:bodyPr>
          <a:lstStyle/>
          <a:p>
            <a:pPr algn="l">
              <a:lnSpc>
                <a:spcPct val="108000"/>
              </a:lnSpc>
              <a:spcAft>
                <a:spcPts val="0"/>
              </a:spcAft>
            </a:pPr>
            <a:r>
              <a:rPr sz="880" b="0" i="0">
                <a:solidFill>
                  <a:srgbClr val="F4FFFA"/>
                </a:solidFill>
                <a:latin typeface="Avenir Next"/>
              </a:rPr>
              <a:t>Energy module · scenario generation.</a:t>
            </a:r>
          </a:p>
        </p:txBody>
      </p:sp>
      <p:sp>
        <p:nvSpPr>
          <p:cNvPr id="38" name="Rounded Rectangle 37"/>
          <p:cNvSpPr/>
          <p:nvPr/>
        </p:nvSpPr>
        <p:spPr>
          <a:xfrm>
            <a:off x="13213080" y="2834640"/>
            <a:ext cx="3767328" cy="4160520"/>
          </a:xfrm>
          <a:prstGeom prst="roundRect">
            <a:avLst>
              <a:gd name="adj" fmla="val 8000"/>
            </a:avLst>
          </a:prstGeom>
          <a:solidFill>
            <a:srgbClr val="071813"/>
          </a:solidFill>
          <a:ln w="10160">
            <a:solidFill>
              <a:srgbClr val="7DB8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9" name="TextBox 38"/>
          <p:cNvSpPr txBox="1"/>
          <p:nvPr/>
        </p:nvSpPr>
        <p:spPr>
          <a:xfrm>
            <a:off x="13377672" y="2999232"/>
            <a:ext cx="3429000" cy="457200"/>
          </a:xfrm>
          <a:prstGeom prst="rect">
            <a:avLst/>
          </a:prstGeom>
          <a:noFill/>
        </p:spPr>
        <p:txBody>
          <a:bodyPr wrap="square" lIns="18288" tIns="18288" rIns="18288" bIns="18288" anchor="t">
            <a:noAutofit/>
          </a:bodyPr>
          <a:lstStyle/>
          <a:p>
            <a:pPr algn="l">
              <a:lnSpc>
                <a:spcPct val="100000"/>
              </a:lnSpc>
              <a:spcAft>
                <a:spcPts val="0"/>
              </a:spcAft>
            </a:pPr>
            <a:r>
              <a:rPr sz="1320" b="1" i="0">
                <a:solidFill>
                  <a:srgbClr val="F4FFFA"/>
                </a:solidFill>
                <a:latin typeface="Avenir Next"/>
              </a:rPr>
              <a:t>Semantic-Aware IoT</a:t>
            </a:r>
          </a:p>
        </p:txBody>
      </p:sp>
      <p:sp>
        <p:nvSpPr>
          <p:cNvPr id="40" name="Rounded Rectangle 39"/>
          <p:cNvSpPr/>
          <p:nvPr/>
        </p:nvSpPr>
        <p:spPr>
          <a:xfrm>
            <a:off x="13377672" y="3502152"/>
            <a:ext cx="1481328" cy="256032"/>
          </a:xfrm>
          <a:prstGeom prst="roundRect">
            <a:avLst>
              <a:gd name="adj" fmla="val 50000"/>
            </a:avLst>
          </a:prstGeom>
          <a:solidFill>
            <a:srgbClr val="0A221B"/>
          </a:solidFill>
          <a:ln w="8890">
            <a:solidFill>
              <a:srgbClr val="7DB8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1" name="TextBox 40"/>
          <p:cNvSpPr txBox="1"/>
          <p:nvPr/>
        </p:nvSpPr>
        <p:spPr>
          <a:xfrm>
            <a:off x="13414248" y="3520440"/>
            <a:ext cx="1408176" cy="219456"/>
          </a:xfrm>
          <a:prstGeom prst="rect">
            <a:avLst/>
          </a:prstGeom>
          <a:noFill/>
        </p:spPr>
        <p:txBody>
          <a:bodyPr wrap="square" lIns="9144" tIns="0" rIns="9144" bIns="0" anchor="ctr">
            <a:noAutofit/>
          </a:bodyPr>
          <a:lstStyle/>
          <a:p>
            <a:pPr algn="ctr">
              <a:lnSpc>
                <a:spcPct val="105000"/>
              </a:lnSpc>
              <a:spcAft>
                <a:spcPts val="0"/>
              </a:spcAft>
            </a:pPr>
            <a:r>
              <a:rPr sz="660" b="1" i="0">
                <a:solidFill>
                  <a:srgbClr val="7DB8FF"/>
                </a:solidFill>
                <a:latin typeface="Avenir Next"/>
              </a:rPr>
              <a:t>SYNTHETIC / SIM.</a:t>
            </a:r>
          </a:p>
        </p:txBody>
      </p:sp>
      <p:sp>
        <p:nvSpPr>
          <p:cNvPr id="42" name="TextBox 41"/>
          <p:cNvSpPr txBox="1"/>
          <p:nvPr/>
        </p:nvSpPr>
        <p:spPr>
          <a:xfrm>
            <a:off x="13377672" y="3858768"/>
            <a:ext cx="3429000" cy="228600"/>
          </a:xfrm>
          <a:prstGeom prst="rect">
            <a:avLst/>
          </a:prstGeom>
          <a:noFill/>
        </p:spPr>
        <p:txBody>
          <a:bodyPr wrap="square" lIns="18288" tIns="18288" rIns="18288" bIns="18288" anchor="t">
            <a:noAutofit/>
          </a:bodyPr>
          <a:lstStyle/>
          <a:p>
            <a:pPr algn="l">
              <a:lnSpc>
                <a:spcPct val="105000"/>
              </a:lnSpc>
              <a:spcAft>
                <a:spcPts val="0"/>
              </a:spcAft>
            </a:pPr>
            <a:r>
              <a:rPr sz="760" b="0" i="0">
                <a:solidFill>
                  <a:srgbClr val="7DB8FF"/>
                </a:solidFill>
                <a:latin typeface="Menlo"/>
              </a:rPr>
              <a:t>10.21227/xnk1-yn46</a:t>
            </a:r>
          </a:p>
        </p:txBody>
      </p:sp>
      <p:sp>
        <p:nvSpPr>
          <p:cNvPr id="43" name="TextBox 42"/>
          <p:cNvSpPr txBox="1"/>
          <p:nvPr/>
        </p:nvSpPr>
        <p:spPr>
          <a:xfrm>
            <a:off x="13377672" y="4178808"/>
            <a:ext cx="3456432" cy="960120"/>
          </a:xfrm>
          <a:prstGeom prst="rect">
            <a:avLst/>
          </a:prstGeom>
          <a:noFill/>
        </p:spPr>
        <p:txBody>
          <a:bodyPr wrap="square" lIns="18288" tIns="18288" rIns="18288" bIns="18288" anchor="t">
            <a:noAutofit/>
          </a:bodyPr>
          <a:lstStyle/>
          <a:p>
            <a:pPr algn="l">
              <a:lnSpc>
                <a:spcPct val="108000"/>
              </a:lnSpc>
              <a:spcAft>
                <a:spcPts val="0"/>
              </a:spcAft>
            </a:pPr>
            <a:r>
              <a:rPr sz="910" b="0" i="0">
                <a:solidFill>
                  <a:srgbClr val="ADC9BE"/>
                </a:solidFill>
                <a:latin typeface="Avenir Next"/>
              </a:rPr>
              <a:t>Soil, humidity, temperature, NPK, pH, energy and latency; 60k records.</a:t>
            </a:r>
          </a:p>
        </p:txBody>
      </p:sp>
      <p:sp>
        <p:nvSpPr>
          <p:cNvPr id="44" name="Rectangle 43"/>
          <p:cNvSpPr/>
          <p:nvPr/>
        </p:nvSpPr>
        <p:spPr>
          <a:xfrm>
            <a:off x="13377672" y="5285232"/>
            <a:ext cx="3291840" cy="22860"/>
          </a:xfrm>
          <a:prstGeom prst="rect">
            <a:avLst/>
          </a:prstGeom>
          <a:solidFill>
            <a:srgbClr val="22423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5" name="TextBox 44"/>
          <p:cNvSpPr txBox="1"/>
          <p:nvPr/>
        </p:nvSpPr>
        <p:spPr>
          <a:xfrm>
            <a:off x="13377672" y="5413248"/>
            <a:ext cx="3456432" cy="201168"/>
          </a:xfrm>
          <a:prstGeom prst="rect">
            <a:avLst/>
          </a:prstGeom>
          <a:noFill/>
        </p:spPr>
        <p:txBody>
          <a:bodyPr wrap="square" lIns="18288" tIns="18288" rIns="18288" bIns="18288" anchor="t">
            <a:noAutofit/>
          </a:bodyPr>
          <a:lstStyle/>
          <a:p>
            <a:pPr algn="l">
              <a:lnSpc>
                <a:spcPct val="105000"/>
              </a:lnSpc>
              <a:spcAft>
                <a:spcPts val="0"/>
              </a:spcAft>
            </a:pPr>
            <a:r>
              <a:rPr sz="720" b="1" i="0">
                <a:solidFill>
                  <a:srgbClr val="7DB8FF"/>
                </a:solidFill>
                <a:latin typeface="Avenir Next"/>
              </a:rPr>
              <a:t>USED FOR</a:t>
            </a:r>
          </a:p>
        </p:txBody>
      </p:sp>
      <p:sp>
        <p:nvSpPr>
          <p:cNvPr id="46" name="TextBox 45"/>
          <p:cNvSpPr txBox="1"/>
          <p:nvPr/>
        </p:nvSpPr>
        <p:spPr>
          <a:xfrm>
            <a:off x="13377672" y="5669280"/>
            <a:ext cx="3456432" cy="868680"/>
          </a:xfrm>
          <a:prstGeom prst="rect">
            <a:avLst/>
          </a:prstGeom>
          <a:noFill/>
        </p:spPr>
        <p:txBody>
          <a:bodyPr wrap="square" lIns="18288" tIns="18288" rIns="18288" bIns="18288" anchor="t">
            <a:noAutofit/>
          </a:bodyPr>
          <a:lstStyle/>
          <a:p>
            <a:pPr algn="l">
              <a:lnSpc>
                <a:spcPct val="108000"/>
              </a:lnSpc>
              <a:spcAft>
                <a:spcPts val="0"/>
              </a:spcAft>
            </a:pPr>
            <a:r>
              <a:rPr sz="880" b="0" i="0">
                <a:solidFill>
                  <a:srgbClr val="F4FFFA"/>
                </a:solidFill>
                <a:latin typeface="Avenir Next"/>
              </a:rPr>
              <a:t>IoT validation · network resilience benchmarks.</a:t>
            </a:r>
          </a:p>
        </p:txBody>
      </p:sp>
      <p:sp>
        <p:nvSpPr>
          <p:cNvPr id="47" name="Rounded Rectangle 46"/>
          <p:cNvSpPr/>
          <p:nvPr/>
        </p:nvSpPr>
        <p:spPr>
          <a:xfrm>
            <a:off x="1143000" y="7269480"/>
            <a:ext cx="15864840" cy="749808"/>
          </a:xfrm>
          <a:prstGeom prst="roundRect">
            <a:avLst>
              <a:gd name="adj" fmla="val 8000"/>
            </a:avLst>
          </a:prstGeom>
          <a:solidFill>
            <a:srgbClr val="102C23"/>
          </a:solidFill>
          <a:ln w="10160">
            <a:solidFill>
              <a:srgbClr val="F0B42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8" name="TextBox 47"/>
          <p:cNvSpPr txBox="1"/>
          <p:nvPr/>
        </p:nvSpPr>
        <p:spPr>
          <a:xfrm>
            <a:off x="1417320" y="7406640"/>
            <a:ext cx="15316200" cy="438912"/>
          </a:xfrm>
          <a:prstGeom prst="rect">
            <a:avLst/>
          </a:prstGeom>
          <a:noFill/>
        </p:spPr>
        <p:txBody>
          <a:bodyPr wrap="square" lIns="18288" tIns="18288" rIns="18288" bIns="18288" anchor="t">
            <a:noAutofit/>
          </a:bodyPr>
          <a:lstStyle/>
          <a:p>
            <a:pPr algn="l">
              <a:lnSpc>
                <a:spcPct val="105000"/>
              </a:lnSpc>
              <a:spcAft>
                <a:spcPts val="0"/>
              </a:spcAft>
            </a:pPr>
            <a:r>
              <a:rPr sz="1100" b="1" i="0">
                <a:solidFill>
                  <a:srgbClr val="F4FFFA"/>
                </a:solidFill>
                <a:latin typeface="Avenir Next"/>
              </a:rPr>
              <a:t>Only AquaIntel is measured hardware data. The other three are synthetic or simulated; they support development and testing, not field claims.</a:t>
            </a:r>
          </a:p>
        </p:txBody>
      </p:sp>
      <p:sp>
        <p:nvSpPr>
          <p:cNvPr id="49" name="TextBox 48"/>
          <p:cNvSpPr txBox="1"/>
          <p:nvPr/>
        </p:nvSpPr>
        <p:spPr>
          <a:xfrm>
            <a:off x="4983480" y="9619488"/>
            <a:ext cx="5852160" cy="228600"/>
          </a:xfrm>
          <a:prstGeom prst="rect">
            <a:avLst/>
          </a:prstGeom>
          <a:noFill/>
        </p:spPr>
        <p:txBody>
          <a:bodyPr wrap="square" lIns="0" tIns="0" rIns="0" bIns="0" anchor="t">
            <a:noAutofit/>
          </a:bodyPr>
          <a:lstStyle/>
          <a:p>
            <a:pPr algn="l">
              <a:lnSpc>
                <a:spcPct val="105000"/>
              </a:lnSpc>
              <a:spcAft>
                <a:spcPts val="0"/>
              </a:spcAft>
            </a:pPr>
            <a:r>
              <a:rPr sz="819" b="0" i="0">
                <a:solidFill>
                  <a:srgbClr val="7CA091"/>
                </a:solidFill>
                <a:latin typeface="Avenir Next"/>
              </a:rPr>
              <a:t>TrustFarm  ·  INNOVA 2026  ·  ICBT</a:t>
            </a:r>
          </a:p>
        </p:txBody>
      </p:sp>
      <p:sp>
        <p:nvSpPr>
          <p:cNvPr id="50" name="TextBox 49"/>
          <p:cNvSpPr txBox="1"/>
          <p:nvPr/>
        </p:nvSpPr>
        <p:spPr>
          <a:xfrm>
            <a:off x="11018520" y="9619488"/>
            <a:ext cx="1234440" cy="228600"/>
          </a:xfrm>
          <a:prstGeom prst="rect">
            <a:avLst/>
          </a:prstGeom>
          <a:noFill/>
        </p:spPr>
        <p:txBody>
          <a:bodyPr wrap="square" lIns="0" tIns="0" rIns="0" bIns="0" anchor="t">
            <a:noAutofit/>
          </a:bodyPr>
          <a:lstStyle/>
          <a:p>
            <a:pPr algn="r">
              <a:lnSpc>
                <a:spcPct val="105000"/>
              </a:lnSpc>
              <a:spcAft>
                <a:spcPts val="0"/>
              </a:spcAft>
            </a:pPr>
            <a:r>
              <a:rPr sz="819" b="0" i="0">
                <a:solidFill>
                  <a:srgbClr val="7CA091"/>
                </a:solidFill>
                <a:latin typeface="Avenir Next"/>
              </a:rPr>
              <a:t>15 / 25</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1A1D1C"/>
        </a:solidFill>
        <a:effectLst/>
      </p:bgPr>
    </p:bg>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25192566" h="16800292">
                <a:moveTo>
                  <a:pt x="0" y="0"/>
                </a:moveTo>
                <a:lnTo>
                  <a:pt x="25192566" y="0"/>
                </a:lnTo>
                <a:lnTo>
                  <a:pt x="25192566" y="16800292"/>
                </a:lnTo>
                <a:lnTo>
                  <a:pt x="0" y="16800292"/>
                </a:lnTo>
                <a:lnTo>
                  <a:pt x="0" y="0"/>
                </a:lnTo>
                <a:close/>
              </a:path>
            </a:pathLst>
          </a:custGeom>
          <a:blipFill>
            <a:blip r:embed="rId3"/>
            <a:stretch>
              <a:fillRect/>
            </a:stretch>
          </a:blipFill>
        </p:spPr>
        <p:txBody>
          <a:bodyPr/>
          <a:lstStyle/>
          <a:p>
            <a:endParaRPr/>
          </a:p>
        </p:txBody>
      </p:sp>
      <p:sp>
        <p:nvSpPr>
          <p:cNvPr id="3" name="Freeform 3"/>
          <p:cNvSpPr/>
          <p:nvPr/>
        </p:nvSpPr>
        <p:spPr>
          <a:xfrm>
            <a:off x="12596283" y="8658721"/>
            <a:ext cx="6457129" cy="1628279"/>
          </a:xfrm>
          <a:custGeom>
            <a:avLst/>
            <a:gdLst/>
            <a:ahLst/>
            <a:cxnLst/>
            <a:rect l="l" t="t" r="r" b="b"/>
            <a:pathLst>
              <a:path w="6457129" h="1628279">
                <a:moveTo>
                  <a:pt x="0" y="0"/>
                </a:moveTo>
                <a:lnTo>
                  <a:pt x="6457129" y="0"/>
                </a:lnTo>
                <a:lnTo>
                  <a:pt x="6457129" y="1628279"/>
                </a:lnTo>
                <a:lnTo>
                  <a:pt x="0" y="1628279"/>
                </a:lnTo>
                <a:lnTo>
                  <a:pt x="0" y="0"/>
                </a:lnTo>
                <a:close/>
              </a:path>
            </a:pathLst>
          </a:custGeom>
          <a:blipFill>
            <a:blip r:embed="rId4"/>
            <a:stretch>
              <a:fillRect t="-85078" b="-85078"/>
            </a:stretch>
          </a:blipFill>
        </p:spPr>
        <p:txBody>
          <a:bodyPr/>
          <a:lstStyle/>
          <a:p>
            <a:endParaRPr/>
          </a:p>
        </p:txBody>
      </p:sp>
      <p:sp>
        <p:nvSpPr>
          <p:cNvPr id="4" name="Freeform 4"/>
          <p:cNvSpPr/>
          <p:nvPr/>
        </p:nvSpPr>
        <p:spPr>
          <a:xfrm>
            <a:off x="0" y="8072991"/>
            <a:ext cx="2839033" cy="2839033"/>
          </a:xfrm>
          <a:custGeom>
            <a:avLst/>
            <a:gdLst/>
            <a:ahLst/>
            <a:cxnLst/>
            <a:rect l="l" t="t" r="r" b="b"/>
            <a:pathLst>
              <a:path w="2839033" h="2839033">
                <a:moveTo>
                  <a:pt x="0" y="0"/>
                </a:moveTo>
                <a:lnTo>
                  <a:pt x="2839033" y="0"/>
                </a:lnTo>
                <a:lnTo>
                  <a:pt x="2839033" y="2839033"/>
                </a:lnTo>
                <a:lnTo>
                  <a:pt x="0" y="2839033"/>
                </a:lnTo>
                <a:lnTo>
                  <a:pt x="0" y="0"/>
                </a:lnTo>
                <a:close/>
              </a:path>
            </a:pathLst>
          </a:custGeom>
          <a:blipFill>
            <a:blip r:embed="rId5"/>
            <a:stretch>
              <a:fillRect/>
            </a:stretch>
          </a:blipFill>
        </p:spPr>
        <p:txBody>
          <a:bodyPr/>
          <a:lstStyle/>
          <a:p>
            <a:endParaRPr/>
          </a:p>
        </p:txBody>
      </p:sp>
      <p:sp>
        <p:nvSpPr>
          <p:cNvPr id="5" name="TextBox 4"/>
          <p:cNvSpPr txBox="1"/>
          <p:nvPr/>
        </p:nvSpPr>
        <p:spPr>
          <a:xfrm>
            <a:off x="1143000" y="841248"/>
            <a:ext cx="10972800" cy="292608"/>
          </a:xfrm>
          <a:prstGeom prst="rect">
            <a:avLst/>
          </a:prstGeom>
          <a:noFill/>
        </p:spPr>
        <p:txBody>
          <a:bodyPr wrap="square" lIns="0" tIns="0" rIns="0" bIns="0" anchor="t">
            <a:noAutofit/>
          </a:bodyPr>
          <a:lstStyle/>
          <a:p>
            <a:pPr algn="l">
              <a:lnSpc>
                <a:spcPct val="105000"/>
              </a:lnSpc>
              <a:spcAft>
                <a:spcPts val="0"/>
              </a:spcAft>
            </a:pPr>
            <a:r>
              <a:rPr sz="1000" b="1" i="0">
                <a:solidFill>
                  <a:srgbClr val="A6F26B"/>
                </a:solidFill>
                <a:latin typeface="Avenir Next"/>
              </a:rPr>
              <a:t>DATASET ANALYSIS · AQUAINTEL</a:t>
            </a:r>
          </a:p>
        </p:txBody>
      </p:sp>
      <p:sp>
        <p:nvSpPr>
          <p:cNvPr id="6" name="TextBox 5"/>
          <p:cNvSpPr txBox="1"/>
          <p:nvPr/>
        </p:nvSpPr>
        <p:spPr>
          <a:xfrm>
            <a:off x="1097280" y="1124712"/>
            <a:ext cx="13075920" cy="676656"/>
          </a:xfrm>
          <a:prstGeom prst="rect">
            <a:avLst/>
          </a:prstGeom>
          <a:noFill/>
        </p:spPr>
        <p:txBody>
          <a:bodyPr wrap="square" lIns="0" tIns="0" rIns="0" bIns="0" anchor="t">
            <a:noAutofit/>
          </a:bodyPr>
          <a:lstStyle/>
          <a:p>
            <a:pPr algn="l">
              <a:lnSpc>
                <a:spcPct val="98000"/>
              </a:lnSpc>
              <a:spcAft>
                <a:spcPts val="0"/>
              </a:spcAft>
            </a:pPr>
            <a:r>
              <a:rPr sz="3300" b="1" i="0">
                <a:solidFill>
                  <a:srgbClr val="F4FFFA"/>
                </a:solidFill>
                <a:latin typeface="Avenir Next"/>
              </a:rPr>
              <a:t>Measured hardware data — and a very small pump signal.</a:t>
            </a:r>
          </a:p>
        </p:txBody>
      </p:sp>
      <p:sp>
        <p:nvSpPr>
          <p:cNvPr id="7" name="TextBox 6"/>
          <p:cNvSpPr txBox="1"/>
          <p:nvPr/>
        </p:nvSpPr>
        <p:spPr>
          <a:xfrm>
            <a:off x="1143000" y="1865376"/>
            <a:ext cx="13258800" cy="502920"/>
          </a:xfrm>
          <a:prstGeom prst="rect">
            <a:avLst/>
          </a:prstGeom>
          <a:noFill/>
        </p:spPr>
        <p:txBody>
          <a:bodyPr wrap="square" lIns="0" tIns="0" rIns="0" bIns="0" anchor="t">
            <a:noAutofit/>
          </a:bodyPr>
          <a:lstStyle/>
          <a:p>
            <a:pPr algn="l">
              <a:lnSpc>
                <a:spcPct val="110000"/>
              </a:lnSpc>
              <a:spcAft>
                <a:spcPts val="0"/>
              </a:spcAft>
            </a:pPr>
            <a:r>
              <a:rPr sz="1400" b="0" i="0">
                <a:solidFill>
                  <a:srgbClr val="ADC9BE"/>
                </a:solidFill>
                <a:latin typeface="Avenir Next"/>
              </a:rPr>
              <a:t>AquaIntel is the strongest evidence in the current data stack.</a:t>
            </a:r>
          </a:p>
        </p:txBody>
      </p:sp>
      <p:sp>
        <p:nvSpPr>
          <p:cNvPr id="8" name="Rectangle 7"/>
          <p:cNvSpPr/>
          <p:nvPr/>
        </p:nvSpPr>
        <p:spPr>
          <a:xfrm>
            <a:off x="1143000" y="2542032"/>
            <a:ext cx="1143000" cy="41148"/>
          </a:xfrm>
          <a:prstGeom prst="rect">
            <a:avLst/>
          </a:prstGeom>
          <a:solidFill>
            <a:srgbClr val="A6F2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ounded Rectangle 8"/>
          <p:cNvSpPr/>
          <p:nvPr/>
        </p:nvSpPr>
        <p:spPr>
          <a:xfrm>
            <a:off x="14127480" y="1143000"/>
            <a:ext cx="3017520" cy="347472"/>
          </a:xfrm>
          <a:prstGeom prst="roundRect">
            <a:avLst>
              <a:gd name="adj" fmla="val 50000"/>
            </a:avLst>
          </a:prstGeom>
          <a:solidFill>
            <a:srgbClr val="0A221B"/>
          </a:solidFill>
          <a:ln w="8890">
            <a:solidFill>
              <a:srgbClr val="A6F26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14164055" y="1161288"/>
            <a:ext cx="2944368" cy="310896"/>
          </a:xfrm>
          <a:prstGeom prst="rect">
            <a:avLst/>
          </a:prstGeom>
          <a:noFill/>
        </p:spPr>
        <p:txBody>
          <a:bodyPr wrap="square" lIns="9144" tIns="0" rIns="9144" bIns="0" anchor="ctr">
            <a:noAutofit/>
          </a:bodyPr>
          <a:lstStyle/>
          <a:p>
            <a:pPr algn="ctr">
              <a:lnSpc>
                <a:spcPct val="105000"/>
              </a:lnSpc>
              <a:spcAft>
                <a:spcPts val="0"/>
              </a:spcAft>
            </a:pPr>
            <a:r>
              <a:rPr sz="819" b="1" i="0">
                <a:solidFill>
                  <a:srgbClr val="A6F26B"/>
                </a:solidFill>
                <a:latin typeface="Avenir Next"/>
              </a:rPr>
              <a:t>MEASURED</a:t>
            </a:r>
          </a:p>
        </p:txBody>
      </p:sp>
      <p:sp>
        <p:nvSpPr>
          <p:cNvPr id="11" name="Rounded Rectangle 10"/>
          <p:cNvSpPr/>
          <p:nvPr/>
        </p:nvSpPr>
        <p:spPr>
          <a:xfrm>
            <a:off x="1143000" y="2743200"/>
            <a:ext cx="7909560" cy="5440680"/>
          </a:xfrm>
          <a:prstGeom prst="roundRect">
            <a:avLst>
              <a:gd name="adj" fmla="val 8000"/>
            </a:avLst>
          </a:prstGeom>
          <a:solidFill>
            <a:srgbClr val="071813"/>
          </a:solidFill>
          <a:ln w="10160">
            <a:solidFill>
              <a:srgbClr val="2C5A4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1389888" y="2926080"/>
            <a:ext cx="7223760" cy="274320"/>
          </a:xfrm>
          <a:prstGeom prst="rect">
            <a:avLst/>
          </a:prstGeom>
          <a:noFill/>
        </p:spPr>
        <p:txBody>
          <a:bodyPr wrap="square" lIns="18288" tIns="18288" rIns="18288" bIns="18288" anchor="t">
            <a:noAutofit/>
          </a:bodyPr>
          <a:lstStyle/>
          <a:p>
            <a:pPr algn="l">
              <a:lnSpc>
                <a:spcPct val="105000"/>
              </a:lnSpc>
              <a:spcAft>
                <a:spcPts val="0"/>
              </a:spcAft>
            </a:pPr>
            <a:r>
              <a:rPr sz="950" b="1" i="0">
                <a:solidFill>
                  <a:srgbClr val="A6F26B"/>
                </a:solidFill>
                <a:latin typeface="Avenir Next"/>
              </a:rPr>
              <a:t>WHAT THE DATASET SHOWS</a:t>
            </a:r>
          </a:p>
        </p:txBody>
      </p:sp>
      <p:sp>
        <p:nvSpPr>
          <p:cNvPr id="13" name="TextBox 12"/>
          <p:cNvSpPr txBox="1"/>
          <p:nvPr/>
        </p:nvSpPr>
        <p:spPr>
          <a:xfrm>
            <a:off x="1389888" y="3273552"/>
            <a:ext cx="3337560" cy="566928"/>
          </a:xfrm>
          <a:prstGeom prst="rect">
            <a:avLst/>
          </a:prstGeom>
          <a:noFill/>
        </p:spPr>
        <p:txBody>
          <a:bodyPr wrap="square" lIns="18288" tIns="18288" rIns="18288" bIns="18288" anchor="t">
            <a:noAutofit/>
          </a:bodyPr>
          <a:lstStyle/>
          <a:p>
            <a:pPr algn="l">
              <a:lnSpc>
                <a:spcPct val="90000"/>
              </a:lnSpc>
              <a:spcAft>
                <a:spcPts val="0"/>
              </a:spcAft>
            </a:pPr>
            <a:r>
              <a:rPr sz="3000" b="1" i="0">
                <a:solidFill>
                  <a:srgbClr val="F4FFFA"/>
                </a:solidFill>
                <a:latin typeface="Avenir Next"/>
              </a:rPr>
              <a:t>2,879</a:t>
            </a:r>
          </a:p>
        </p:txBody>
      </p:sp>
      <p:sp>
        <p:nvSpPr>
          <p:cNvPr id="14" name="TextBox 13"/>
          <p:cNvSpPr txBox="1"/>
          <p:nvPr/>
        </p:nvSpPr>
        <p:spPr>
          <a:xfrm>
            <a:off x="1389888" y="3803904"/>
            <a:ext cx="3337560" cy="256032"/>
          </a:xfrm>
          <a:prstGeom prst="rect">
            <a:avLst/>
          </a:prstGeom>
          <a:noFill/>
        </p:spPr>
        <p:txBody>
          <a:bodyPr wrap="square" lIns="18288" tIns="18288" rIns="18288" bIns="18288" anchor="t">
            <a:noAutofit/>
          </a:bodyPr>
          <a:lstStyle/>
          <a:p>
            <a:pPr algn="l">
              <a:lnSpc>
                <a:spcPct val="105000"/>
              </a:lnSpc>
              <a:spcAft>
                <a:spcPts val="0"/>
              </a:spcAft>
            </a:pPr>
            <a:r>
              <a:rPr sz="919" b="0" i="0">
                <a:solidFill>
                  <a:srgbClr val="ADC9BE"/>
                </a:solidFill>
                <a:latin typeface="Avenir Next"/>
              </a:rPr>
              <a:t>baseline records</a:t>
            </a:r>
          </a:p>
        </p:txBody>
      </p:sp>
      <p:sp>
        <p:nvSpPr>
          <p:cNvPr id="15" name="TextBox 14"/>
          <p:cNvSpPr txBox="1"/>
          <p:nvPr/>
        </p:nvSpPr>
        <p:spPr>
          <a:xfrm>
            <a:off x="4919472" y="3273552"/>
            <a:ext cx="3337560" cy="566928"/>
          </a:xfrm>
          <a:prstGeom prst="rect">
            <a:avLst/>
          </a:prstGeom>
          <a:noFill/>
        </p:spPr>
        <p:txBody>
          <a:bodyPr wrap="square" lIns="18288" tIns="18288" rIns="18288" bIns="18288" anchor="t">
            <a:noAutofit/>
          </a:bodyPr>
          <a:lstStyle/>
          <a:p>
            <a:pPr algn="l">
              <a:lnSpc>
                <a:spcPct val="90000"/>
              </a:lnSpc>
              <a:spcAft>
                <a:spcPts val="0"/>
              </a:spcAft>
            </a:pPr>
            <a:r>
              <a:rPr sz="3000" b="1" i="0">
                <a:solidFill>
                  <a:srgbClr val="A6F26B"/>
                </a:solidFill>
                <a:latin typeface="Avenir Next"/>
              </a:rPr>
              <a:t>1,007</a:t>
            </a:r>
          </a:p>
        </p:txBody>
      </p:sp>
      <p:sp>
        <p:nvSpPr>
          <p:cNvPr id="16" name="TextBox 15"/>
          <p:cNvSpPr txBox="1"/>
          <p:nvPr/>
        </p:nvSpPr>
        <p:spPr>
          <a:xfrm>
            <a:off x="4919472" y="3803904"/>
            <a:ext cx="3337560" cy="256032"/>
          </a:xfrm>
          <a:prstGeom prst="rect">
            <a:avLst/>
          </a:prstGeom>
          <a:noFill/>
        </p:spPr>
        <p:txBody>
          <a:bodyPr wrap="square" lIns="18288" tIns="18288" rIns="18288" bIns="18288" anchor="t">
            <a:noAutofit/>
          </a:bodyPr>
          <a:lstStyle/>
          <a:p>
            <a:pPr algn="l">
              <a:lnSpc>
                <a:spcPct val="105000"/>
              </a:lnSpc>
              <a:spcAft>
                <a:spcPts val="0"/>
              </a:spcAft>
            </a:pPr>
            <a:r>
              <a:rPr sz="919" b="0" i="0">
                <a:solidFill>
                  <a:srgbClr val="ADC9BE"/>
                </a:solidFill>
                <a:latin typeface="Avenir Next"/>
              </a:rPr>
              <a:t>irrigation records</a:t>
            </a:r>
          </a:p>
        </p:txBody>
      </p:sp>
      <p:sp>
        <p:nvSpPr>
          <p:cNvPr id="17" name="Rectangle 16"/>
          <p:cNvSpPr/>
          <p:nvPr/>
        </p:nvSpPr>
        <p:spPr>
          <a:xfrm>
            <a:off x="1389888" y="4224528"/>
            <a:ext cx="7269480" cy="27432"/>
          </a:xfrm>
          <a:prstGeom prst="rect">
            <a:avLst/>
          </a:prstGeom>
          <a:solidFill>
            <a:srgbClr val="2C5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1389888" y="4407408"/>
            <a:ext cx="7269480" cy="2880360"/>
          </a:xfrm>
          <a:prstGeom prst="rect">
            <a:avLst/>
          </a:prstGeom>
          <a:noFill/>
        </p:spPr>
        <p:txBody>
          <a:bodyPr wrap="square" lIns="0" tIns="0" rIns="0" bIns="0" anchor="t">
            <a:noAutofit/>
          </a:bodyPr>
          <a:lstStyle/>
          <a:p>
            <a:pPr algn="l">
              <a:lnSpc>
                <a:spcPct val="112000"/>
              </a:lnSpc>
              <a:spcAft>
                <a:spcPts val="800"/>
              </a:spcAft>
            </a:pPr>
            <a:r>
              <a:rPr sz="1030" b="1" i="0">
                <a:solidFill>
                  <a:srgbClr val="A6F26B"/>
                </a:solidFill>
                <a:latin typeface="Avenir Next"/>
              </a:rPr>
              <a:t>•  </a:t>
            </a:r>
            <a:r>
              <a:rPr sz="1030" b="1" i="0">
                <a:solidFill>
                  <a:srgbClr val="F4FFFA"/>
                </a:solidFill>
                <a:latin typeface="Avenir Next"/>
              </a:rPr>
              <a:t>Pump ON only 2%</a:t>
            </a:r>
            <a:r>
              <a:rPr sz="1030" b="0" i="0">
                <a:solidFill>
                  <a:srgbClr val="F4FFFA"/>
                </a:solidFill>
                <a:latin typeface="Avenir Next"/>
              </a:rPr>
              <a:t> of records — a pump-state predictor would be dominated by “off”.</a:t>
            </a:r>
          </a:p>
          <a:p>
            <a:pPr algn="l">
              <a:lnSpc>
                <a:spcPct val="112000"/>
              </a:lnSpc>
              <a:spcAft>
                <a:spcPts val="800"/>
              </a:spcAft>
            </a:pPr>
            <a:r>
              <a:rPr sz="1030" b="1" i="0">
                <a:solidFill>
                  <a:srgbClr val="A6F26B"/>
                </a:solidFill>
                <a:latin typeface="Avenir Next"/>
              </a:rPr>
              <a:t>•  </a:t>
            </a:r>
            <a:r>
              <a:rPr sz="1030" b="1" i="0">
                <a:solidFill>
                  <a:srgbClr val="F4FFFA"/>
                </a:solidFill>
                <a:latin typeface="Avenir Next"/>
              </a:rPr>
              <a:t>Three soil types</a:t>
            </a:r>
            <a:r>
              <a:rPr sz="1030" b="0" i="0">
                <a:solidFill>
                  <a:srgbClr val="F4FFFA"/>
                </a:solidFill>
                <a:latin typeface="Avenir Next"/>
              </a:rPr>
              <a:t> split 48.6% grey sand, 44.4% red sand, 7.0% normal; moisture and water level differ.</a:t>
            </a:r>
          </a:p>
          <a:p>
            <a:pPr algn="l">
              <a:lnSpc>
                <a:spcPct val="112000"/>
              </a:lnSpc>
              <a:spcAft>
                <a:spcPts val="800"/>
              </a:spcAft>
            </a:pPr>
            <a:r>
              <a:rPr sz="1030" b="1" i="0">
                <a:solidFill>
                  <a:srgbClr val="A6F26B"/>
                </a:solidFill>
                <a:latin typeface="Avenir Next"/>
              </a:rPr>
              <a:t>•  </a:t>
            </a:r>
            <a:r>
              <a:rPr sz="1030" b="1" i="0">
                <a:solidFill>
                  <a:srgbClr val="F4FFFA"/>
                </a:solidFill>
                <a:latin typeface="Avenir Next"/>
              </a:rPr>
              <a:t>Real fault labels</a:t>
            </a:r>
            <a:r>
              <a:rPr sz="1030" b="0" i="0">
                <a:solidFill>
                  <a:srgbClr val="F4FFFA"/>
                </a:solidFill>
                <a:latin typeface="Avenir Next"/>
              </a:rPr>
              <a:t> support anomaly checks and trust-engine evaluation.</a:t>
            </a:r>
          </a:p>
          <a:p>
            <a:pPr algn="l">
              <a:lnSpc>
                <a:spcPct val="112000"/>
              </a:lnSpc>
              <a:spcAft>
                <a:spcPts val="800"/>
              </a:spcAft>
            </a:pPr>
            <a:r>
              <a:rPr sz="1030" b="1" i="0">
                <a:solidFill>
                  <a:srgbClr val="A6F26B"/>
                </a:solidFill>
                <a:latin typeface="Avenir Next"/>
              </a:rPr>
              <a:t>•  </a:t>
            </a:r>
            <a:r>
              <a:rPr sz="1030" b="1" i="0">
                <a:solidFill>
                  <a:srgbClr val="F4FFFA"/>
                </a:solidFill>
                <a:latin typeface="Avenir Next"/>
              </a:rPr>
              <a:t>Used for</a:t>
            </a:r>
            <a:r>
              <a:rPr sz="1030" b="0" i="0">
                <a:solidFill>
                  <a:srgbClr val="F4FFFA"/>
                </a:solidFill>
                <a:latin typeface="Avenir Next"/>
              </a:rPr>
              <a:t> trust features, irrigation labels and forecast sanity checks.</a:t>
            </a:r>
          </a:p>
        </p:txBody>
      </p:sp>
      <p:sp>
        <p:nvSpPr>
          <p:cNvPr id="19" name="TextBox 18"/>
          <p:cNvSpPr txBox="1"/>
          <p:nvPr/>
        </p:nvSpPr>
        <p:spPr>
          <a:xfrm>
            <a:off x="1389888" y="7635240"/>
            <a:ext cx="7269480" cy="274320"/>
          </a:xfrm>
          <a:prstGeom prst="rect">
            <a:avLst/>
          </a:prstGeom>
          <a:noFill/>
        </p:spPr>
        <p:txBody>
          <a:bodyPr wrap="square" lIns="18288" tIns="18288" rIns="18288" bIns="18288" anchor="t">
            <a:noAutofit/>
          </a:bodyPr>
          <a:lstStyle/>
          <a:p>
            <a:pPr algn="l">
              <a:lnSpc>
                <a:spcPct val="105000"/>
              </a:lnSpc>
              <a:spcAft>
                <a:spcPts val="0"/>
              </a:spcAft>
            </a:pPr>
            <a:r>
              <a:rPr sz="860" b="0" i="0">
                <a:solidFill>
                  <a:srgbClr val="7CA091"/>
                </a:solidFill>
                <a:latin typeface="Avenir Next"/>
              </a:rPr>
              <a:t>Measured hardware dataset  ·  IEEE DataPort 10.21227/tt8w-qh19</a:t>
            </a:r>
          </a:p>
        </p:txBody>
      </p:sp>
      <p:pic>
        <p:nvPicPr>
          <p:cNvPr id="20" name="Picture 19" descr="AquaIntel dataset dashboard with soil, water, flow and pump charts"/>
          <p:cNvPicPr>
            <a:picLocks noChangeAspect="1"/>
          </p:cNvPicPr>
          <p:nvPr/>
        </p:nvPicPr>
        <p:blipFill>
          <a:blip r:embed="rId6"/>
          <a:stretch>
            <a:fillRect/>
          </a:stretch>
        </p:blipFill>
        <p:spPr>
          <a:xfrm>
            <a:off x="9418320" y="2743200"/>
            <a:ext cx="7589520" cy="5641848"/>
          </a:xfrm>
          <a:prstGeom prst="rect">
            <a:avLst/>
          </a:prstGeom>
        </p:spPr>
      </p:pic>
      <p:sp>
        <p:nvSpPr>
          <p:cNvPr id="21" name="TextBox 20"/>
          <p:cNvSpPr txBox="1"/>
          <p:nvPr/>
        </p:nvSpPr>
        <p:spPr>
          <a:xfrm>
            <a:off x="9464040" y="8485632"/>
            <a:ext cx="7498079" cy="237744"/>
          </a:xfrm>
          <a:prstGeom prst="rect">
            <a:avLst/>
          </a:prstGeom>
          <a:noFill/>
        </p:spPr>
        <p:txBody>
          <a:bodyPr wrap="square" lIns="18288" tIns="18288" rIns="18288" bIns="18288" anchor="t">
            <a:noAutofit/>
          </a:bodyPr>
          <a:lstStyle/>
          <a:p>
            <a:pPr algn="l">
              <a:lnSpc>
                <a:spcPct val="105000"/>
              </a:lnSpc>
              <a:spcAft>
                <a:spcPts val="0"/>
              </a:spcAft>
            </a:pPr>
            <a:r>
              <a:rPr sz="819" b="0" i="0">
                <a:solidFill>
                  <a:srgbClr val="7CA091"/>
                </a:solidFill>
                <a:latin typeface="Avenir Next"/>
              </a:rPr>
              <a:t>Charts generated from the AquaIntel dataset.</a:t>
            </a:r>
          </a:p>
        </p:txBody>
      </p:sp>
      <p:sp>
        <p:nvSpPr>
          <p:cNvPr id="22" name="TextBox 21"/>
          <p:cNvSpPr txBox="1"/>
          <p:nvPr/>
        </p:nvSpPr>
        <p:spPr>
          <a:xfrm>
            <a:off x="4983480" y="9619488"/>
            <a:ext cx="5852160" cy="228600"/>
          </a:xfrm>
          <a:prstGeom prst="rect">
            <a:avLst/>
          </a:prstGeom>
          <a:noFill/>
        </p:spPr>
        <p:txBody>
          <a:bodyPr wrap="square" lIns="0" tIns="0" rIns="0" bIns="0" anchor="t">
            <a:noAutofit/>
          </a:bodyPr>
          <a:lstStyle/>
          <a:p>
            <a:pPr algn="l">
              <a:lnSpc>
                <a:spcPct val="105000"/>
              </a:lnSpc>
              <a:spcAft>
                <a:spcPts val="0"/>
              </a:spcAft>
            </a:pPr>
            <a:r>
              <a:rPr sz="819" b="0" i="0">
                <a:solidFill>
                  <a:srgbClr val="7CA091"/>
                </a:solidFill>
                <a:latin typeface="Avenir Next"/>
              </a:rPr>
              <a:t>TrustFarm  ·  INNOVA 2026  ·  ICBT</a:t>
            </a:r>
          </a:p>
        </p:txBody>
      </p:sp>
      <p:sp>
        <p:nvSpPr>
          <p:cNvPr id="23" name="TextBox 22"/>
          <p:cNvSpPr txBox="1"/>
          <p:nvPr/>
        </p:nvSpPr>
        <p:spPr>
          <a:xfrm>
            <a:off x="11018520" y="9619488"/>
            <a:ext cx="1234440" cy="228600"/>
          </a:xfrm>
          <a:prstGeom prst="rect">
            <a:avLst/>
          </a:prstGeom>
          <a:noFill/>
        </p:spPr>
        <p:txBody>
          <a:bodyPr wrap="square" lIns="0" tIns="0" rIns="0" bIns="0" anchor="t">
            <a:noAutofit/>
          </a:bodyPr>
          <a:lstStyle/>
          <a:p>
            <a:pPr algn="r">
              <a:lnSpc>
                <a:spcPct val="105000"/>
              </a:lnSpc>
              <a:spcAft>
                <a:spcPts val="0"/>
              </a:spcAft>
            </a:pPr>
            <a:r>
              <a:rPr sz="819" b="0" i="0">
                <a:solidFill>
                  <a:srgbClr val="7CA091"/>
                </a:solidFill>
                <a:latin typeface="Avenir Next"/>
              </a:rPr>
              <a:t>16 / 25</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1A1D1C"/>
        </a:solidFill>
        <a:effectLst/>
      </p:bgPr>
    </p:bg>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25192566" h="16800292">
                <a:moveTo>
                  <a:pt x="0" y="0"/>
                </a:moveTo>
                <a:lnTo>
                  <a:pt x="25192566" y="0"/>
                </a:lnTo>
                <a:lnTo>
                  <a:pt x="25192566" y="16800292"/>
                </a:lnTo>
                <a:lnTo>
                  <a:pt x="0" y="16800292"/>
                </a:lnTo>
                <a:lnTo>
                  <a:pt x="0" y="0"/>
                </a:lnTo>
                <a:close/>
              </a:path>
            </a:pathLst>
          </a:custGeom>
          <a:blipFill>
            <a:blip r:embed="rId3"/>
            <a:stretch>
              <a:fillRect/>
            </a:stretch>
          </a:blipFill>
        </p:spPr>
        <p:txBody>
          <a:bodyPr/>
          <a:lstStyle/>
          <a:p>
            <a:endParaRPr/>
          </a:p>
        </p:txBody>
      </p:sp>
      <p:sp>
        <p:nvSpPr>
          <p:cNvPr id="3" name="Freeform 3"/>
          <p:cNvSpPr/>
          <p:nvPr/>
        </p:nvSpPr>
        <p:spPr>
          <a:xfrm>
            <a:off x="12596283" y="8658721"/>
            <a:ext cx="6457129" cy="1628279"/>
          </a:xfrm>
          <a:custGeom>
            <a:avLst/>
            <a:gdLst/>
            <a:ahLst/>
            <a:cxnLst/>
            <a:rect l="l" t="t" r="r" b="b"/>
            <a:pathLst>
              <a:path w="6457129" h="1628279">
                <a:moveTo>
                  <a:pt x="0" y="0"/>
                </a:moveTo>
                <a:lnTo>
                  <a:pt x="6457129" y="0"/>
                </a:lnTo>
                <a:lnTo>
                  <a:pt x="6457129" y="1628279"/>
                </a:lnTo>
                <a:lnTo>
                  <a:pt x="0" y="1628279"/>
                </a:lnTo>
                <a:lnTo>
                  <a:pt x="0" y="0"/>
                </a:lnTo>
                <a:close/>
              </a:path>
            </a:pathLst>
          </a:custGeom>
          <a:blipFill>
            <a:blip r:embed="rId4"/>
            <a:stretch>
              <a:fillRect t="-85078" b="-85078"/>
            </a:stretch>
          </a:blipFill>
        </p:spPr>
        <p:txBody>
          <a:bodyPr/>
          <a:lstStyle/>
          <a:p>
            <a:endParaRPr/>
          </a:p>
        </p:txBody>
      </p:sp>
      <p:sp>
        <p:nvSpPr>
          <p:cNvPr id="4" name="Freeform 4"/>
          <p:cNvSpPr/>
          <p:nvPr/>
        </p:nvSpPr>
        <p:spPr>
          <a:xfrm>
            <a:off x="0" y="8072991"/>
            <a:ext cx="2839033" cy="2839033"/>
          </a:xfrm>
          <a:custGeom>
            <a:avLst/>
            <a:gdLst/>
            <a:ahLst/>
            <a:cxnLst/>
            <a:rect l="l" t="t" r="r" b="b"/>
            <a:pathLst>
              <a:path w="2839033" h="2839033">
                <a:moveTo>
                  <a:pt x="0" y="0"/>
                </a:moveTo>
                <a:lnTo>
                  <a:pt x="2839033" y="0"/>
                </a:lnTo>
                <a:lnTo>
                  <a:pt x="2839033" y="2839033"/>
                </a:lnTo>
                <a:lnTo>
                  <a:pt x="0" y="2839033"/>
                </a:lnTo>
                <a:lnTo>
                  <a:pt x="0" y="0"/>
                </a:lnTo>
                <a:close/>
              </a:path>
            </a:pathLst>
          </a:custGeom>
          <a:blipFill>
            <a:blip r:embed="rId5"/>
            <a:stretch>
              <a:fillRect/>
            </a:stretch>
          </a:blipFill>
        </p:spPr>
        <p:txBody>
          <a:bodyPr/>
          <a:lstStyle/>
          <a:p>
            <a:endParaRPr/>
          </a:p>
        </p:txBody>
      </p:sp>
      <p:sp>
        <p:nvSpPr>
          <p:cNvPr id="5" name="TextBox 4"/>
          <p:cNvSpPr txBox="1"/>
          <p:nvPr/>
        </p:nvSpPr>
        <p:spPr>
          <a:xfrm>
            <a:off x="1143000" y="841248"/>
            <a:ext cx="10972800" cy="292608"/>
          </a:xfrm>
          <a:prstGeom prst="rect">
            <a:avLst/>
          </a:prstGeom>
          <a:noFill/>
        </p:spPr>
        <p:txBody>
          <a:bodyPr wrap="square" lIns="0" tIns="0" rIns="0" bIns="0" anchor="t">
            <a:noAutofit/>
          </a:bodyPr>
          <a:lstStyle/>
          <a:p>
            <a:pPr algn="l">
              <a:lnSpc>
                <a:spcPct val="105000"/>
              </a:lnSpc>
              <a:spcAft>
                <a:spcPts val="0"/>
              </a:spcAft>
            </a:pPr>
            <a:r>
              <a:rPr sz="1000" b="1" i="0">
                <a:solidFill>
                  <a:srgbClr val="A6F26B"/>
                </a:solidFill>
                <a:latin typeface="Avenir Next"/>
              </a:rPr>
              <a:t>DATASET ANALYSIS · AGRIFIELD</a:t>
            </a:r>
          </a:p>
        </p:txBody>
      </p:sp>
      <p:sp>
        <p:nvSpPr>
          <p:cNvPr id="6" name="TextBox 5"/>
          <p:cNvSpPr txBox="1"/>
          <p:nvPr/>
        </p:nvSpPr>
        <p:spPr>
          <a:xfrm>
            <a:off x="1097280" y="1124712"/>
            <a:ext cx="13075920" cy="676656"/>
          </a:xfrm>
          <a:prstGeom prst="rect">
            <a:avLst/>
          </a:prstGeom>
          <a:noFill/>
        </p:spPr>
        <p:txBody>
          <a:bodyPr wrap="square" lIns="0" tIns="0" rIns="0" bIns="0" anchor="t">
            <a:noAutofit/>
          </a:bodyPr>
          <a:lstStyle/>
          <a:p>
            <a:pPr algn="l">
              <a:lnSpc>
                <a:spcPct val="98000"/>
              </a:lnSpc>
              <a:spcAft>
                <a:spcPts val="0"/>
              </a:spcAft>
            </a:pPr>
            <a:r>
              <a:rPr sz="3300" b="1" i="0">
                <a:solidFill>
                  <a:srgbClr val="F4FFFA"/>
                </a:solidFill>
                <a:latin typeface="Avenir Next"/>
              </a:rPr>
              <a:t>Useful features, dangerous accuracy.</a:t>
            </a:r>
          </a:p>
        </p:txBody>
      </p:sp>
      <p:sp>
        <p:nvSpPr>
          <p:cNvPr id="7" name="TextBox 6"/>
          <p:cNvSpPr txBox="1"/>
          <p:nvPr/>
        </p:nvSpPr>
        <p:spPr>
          <a:xfrm>
            <a:off x="1143000" y="1865376"/>
            <a:ext cx="13258800" cy="502920"/>
          </a:xfrm>
          <a:prstGeom prst="rect">
            <a:avLst/>
          </a:prstGeom>
          <a:noFill/>
        </p:spPr>
        <p:txBody>
          <a:bodyPr wrap="square" lIns="0" tIns="0" rIns="0" bIns="0" anchor="t">
            <a:noAutofit/>
          </a:bodyPr>
          <a:lstStyle/>
          <a:p>
            <a:pPr algn="l">
              <a:lnSpc>
                <a:spcPct val="110000"/>
              </a:lnSpc>
              <a:spcAft>
                <a:spcPts val="0"/>
              </a:spcAft>
            </a:pPr>
            <a:r>
              <a:rPr sz="1400" b="0" i="0">
                <a:solidFill>
                  <a:srgbClr val="ADC9BE"/>
                </a:solidFill>
                <a:latin typeface="Avenir Next"/>
              </a:rPr>
              <a:t>The irrigation labels are heavily imbalanced — so accuracy alone is misleading.</a:t>
            </a:r>
          </a:p>
        </p:txBody>
      </p:sp>
      <p:sp>
        <p:nvSpPr>
          <p:cNvPr id="8" name="Rectangle 7"/>
          <p:cNvSpPr/>
          <p:nvPr/>
        </p:nvSpPr>
        <p:spPr>
          <a:xfrm>
            <a:off x="1143000" y="2542032"/>
            <a:ext cx="1143000" cy="41148"/>
          </a:xfrm>
          <a:prstGeom prst="rect">
            <a:avLst/>
          </a:prstGeom>
          <a:solidFill>
            <a:srgbClr val="A6F2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ounded Rectangle 8"/>
          <p:cNvSpPr/>
          <p:nvPr/>
        </p:nvSpPr>
        <p:spPr>
          <a:xfrm>
            <a:off x="14127480" y="1143000"/>
            <a:ext cx="3017520" cy="347472"/>
          </a:xfrm>
          <a:prstGeom prst="roundRect">
            <a:avLst>
              <a:gd name="adj" fmla="val 50000"/>
            </a:avLst>
          </a:prstGeom>
          <a:solidFill>
            <a:srgbClr val="0A221B"/>
          </a:solidFill>
          <a:ln w="8890">
            <a:solidFill>
              <a:srgbClr val="A6F26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14164055" y="1161288"/>
            <a:ext cx="2944368" cy="310896"/>
          </a:xfrm>
          <a:prstGeom prst="rect">
            <a:avLst/>
          </a:prstGeom>
          <a:noFill/>
        </p:spPr>
        <p:txBody>
          <a:bodyPr wrap="square" lIns="9144" tIns="0" rIns="9144" bIns="0" anchor="ctr">
            <a:noAutofit/>
          </a:bodyPr>
          <a:lstStyle/>
          <a:p>
            <a:pPr algn="ctr">
              <a:lnSpc>
                <a:spcPct val="105000"/>
              </a:lnSpc>
              <a:spcAft>
                <a:spcPts val="0"/>
              </a:spcAft>
            </a:pPr>
            <a:r>
              <a:rPr sz="819" b="1" i="0">
                <a:solidFill>
                  <a:srgbClr val="A6F26B"/>
                </a:solidFill>
                <a:latin typeface="Avenir Next"/>
              </a:rPr>
              <a:t>SYNTHETIC / SIMULATED</a:t>
            </a:r>
          </a:p>
        </p:txBody>
      </p:sp>
      <p:sp>
        <p:nvSpPr>
          <p:cNvPr id="11" name="Rounded Rectangle 10"/>
          <p:cNvSpPr/>
          <p:nvPr/>
        </p:nvSpPr>
        <p:spPr>
          <a:xfrm>
            <a:off x="1143000" y="2743200"/>
            <a:ext cx="8183879" cy="5440680"/>
          </a:xfrm>
          <a:prstGeom prst="roundRect">
            <a:avLst>
              <a:gd name="adj" fmla="val 8000"/>
            </a:avLst>
          </a:prstGeom>
          <a:solidFill>
            <a:srgbClr val="071813"/>
          </a:solidFill>
          <a:ln w="10160">
            <a:solidFill>
              <a:srgbClr val="2C5A4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1389888" y="2926080"/>
            <a:ext cx="7406640" cy="274320"/>
          </a:xfrm>
          <a:prstGeom prst="rect">
            <a:avLst/>
          </a:prstGeom>
          <a:noFill/>
        </p:spPr>
        <p:txBody>
          <a:bodyPr wrap="square" lIns="18288" tIns="18288" rIns="18288" bIns="18288" anchor="t">
            <a:noAutofit/>
          </a:bodyPr>
          <a:lstStyle/>
          <a:p>
            <a:pPr algn="l">
              <a:lnSpc>
                <a:spcPct val="105000"/>
              </a:lnSpc>
              <a:spcAft>
                <a:spcPts val="0"/>
              </a:spcAft>
            </a:pPr>
            <a:r>
              <a:rPr sz="950" b="1" i="0">
                <a:solidFill>
                  <a:srgbClr val="59D7F0"/>
                </a:solidFill>
                <a:latin typeface="Avenir Next"/>
              </a:rPr>
              <a:t>LABEL DISTRIBUTION</a:t>
            </a:r>
          </a:p>
        </p:txBody>
      </p:sp>
      <p:sp>
        <p:nvSpPr>
          <p:cNvPr id="13" name="TextBox 12"/>
          <p:cNvSpPr txBox="1"/>
          <p:nvPr/>
        </p:nvSpPr>
        <p:spPr>
          <a:xfrm>
            <a:off x="1389888" y="3273552"/>
            <a:ext cx="3657600" cy="566928"/>
          </a:xfrm>
          <a:prstGeom prst="rect">
            <a:avLst/>
          </a:prstGeom>
          <a:noFill/>
        </p:spPr>
        <p:txBody>
          <a:bodyPr wrap="square" lIns="18288" tIns="18288" rIns="18288" bIns="18288" anchor="t">
            <a:noAutofit/>
          </a:bodyPr>
          <a:lstStyle/>
          <a:p>
            <a:pPr algn="l">
              <a:lnSpc>
                <a:spcPct val="90000"/>
              </a:lnSpc>
              <a:spcAft>
                <a:spcPts val="0"/>
              </a:spcAft>
            </a:pPr>
            <a:r>
              <a:rPr sz="2900" b="1" i="0">
                <a:solidFill>
                  <a:srgbClr val="F4FFFA"/>
                </a:solidFill>
                <a:latin typeface="Avenir Next"/>
              </a:rPr>
              <a:t>14,854</a:t>
            </a:r>
          </a:p>
        </p:txBody>
      </p:sp>
      <p:sp>
        <p:nvSpPr>
          <p:cNvPr id="14" name="TextBox 13"/>
          <p:cNvSpPr txBox="1"/>
          <p:nvPr/>
        </p:nvSpPr>
        <p:spPr>
          <a:xfrm>
            <a:off x="1389888" y="3803904"/>
            <a:ext cx="3657600" cy="256032"/>
          </a:xfrm>
          <a:prstGeom prst="rect">
            <a:avLst/>
          </a:prstGeom>
          <a:noFill/>
        </p:spPr>
        <p:txBody>
          <a:bodyPr wrap="square" lIns="18288" tIns="18288" rIns="18288" bIns="18288" anchor="t">
            <a:noAutofit/>
          </a:bodyPr>
          <a:lstStyle/>
          <a:p>
            <a:pPr algn="l">
              <a:lnSpc>
                <a:spcPct val="105000"/>
              </a:lnSpc>
              <a:spcAft>
                <a:spcPts val="0"/>
              </a:spcAft>
            </a:pPr>
            <a:r>
              <a:rPr sz="919" b="0" i="0">
                <a:solidFill>
                  <a:srgbClr val="ADC9BE"/>
                </a:solidFill>
                <a:latin typeface="Avenir Next"/>
              </a:rPr>
              <a:t>“No irrigation”</a:t>
            </a:r>
          </a:p>
        </p:txBody>
      </p:sp>
      <p:sp>
        <p:nvSpPr>
          <p:cNvPr id="15" name="TextBox 14"/>
          <p:cNvSpPr txBox="1"/>
          <p:nvPr/>
        </p:nvSpPr>
        <p:spPr>
          <a:xfrm>
            <a:off x="5166360" y="3273552"/>
            <a:ext cx="3657600" cy="566928"/>
          </a:xfrm>
          <a:prstGeom prst="rect">
            <a:avLst/>
          </a:prstGeom>
          <a:noFill/>
        </p:spPr>
        <p:txBody>
          <a:bodyPr wrap="square" lIns="18288" tIns="18288" rIns="18288" bIns="18288" anchor="t">
            <a:noAutofit/>
          </a:bodyPr>
          <a:lstStyle/>
          <a:p>
            <a:pPr algn="l">
              <a:lnSpc>
                <a:spcPct val="90000"/>
              </a:lnSpc>
              <a:spcAft>
                <a:spcPts val="0"/>
              </a:spcAft>
            </a:pPr>
            <a:r>
              <a:rPr sz="2900" b="1" i="0">
                <a:solidFill>
                  <a:srgbClr val="59D7F0"/>
                </a:solidFill>
                <a:latin typeface="Avenir Next"/>
              </a:rPr>
              <a:t>139</a:t>
            </a:r>
          </a:p>
        </p:txBody>
      </p:sp>
      <p:sp>
        <p:nvSpPr>
          <p:cNvPr id="16" name="TextBox 15"/>
          <p:cNvSpPr txBox="1"/>
          <p:nvPr/>
        </p:nvSpPr>
        <p:spPr>
          <a:xfrm>
            <a:off x="5166360" y="3803904"/>
            <a:ext cx="3840480" cy="256032"/>
          </a:xfrm>
          <a:prstGeom prst="rect">
            <a:avLst/>
          </a:prstGeom>
          <a:noFill/>
        </p:spPr>
        <p:txBody>
          <a:bodyPr wrap="square" lIns="18288" tIns="18288" rIns="18288" bIns="18288" anchor="t">
            <a:noAutofit/>
          </a:bodyPr>
          <a:lstStyle/>
          <a:p>
            <a:pPr algn="l">
              <a:lnSpc>
                <a:spcPct val="105000"/>
              </a:lnSpc>
              <a:spcAft>
                <a:spcPts val="0"/>
              </a:spcAft>
            </a:pPr>
            <a:r>
              <a:rPr sz="919" b="0" i="0">
                <a:solidFill>
                  <a:srgbClr val="ADC9BE"/>
                </a:solidFill>
                <a:latin typeface="Avenir Next"/>
              </a:rPr>
              <a:t>“Irrigate 800 ml”</a:t>
            </a:r>
          </a:p>
        </p:txBody>
      </p:sp>
      <p:sp>
        <p:nvSpPr>
          <p:cNvPr id="17" name="Rectangle 16"/>
          <p:cNvSpPr/>
          <p:nvPr/>
        </p:nvSpPr>
        <p:spPr>
          <a:xfrm>
            <a:off x="1389888" y="4224528"/>
            <a:ext cx="7498079" cy="27432"/>
          </a:xfrm>
          <a:prstGeom prst="rect">
            <a:avLst/>
          </a:prstGeom>
          <a:solidFill>
            <a:srgbClr val="2C5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1389888" y="4407408"/>
            <a:ext cx="7498079" cy="2743200"/>
          </a:xfrm>
          <a:prstGeom prst="rect">
            <a:avLst/>
          </a:prstGeom>
          <a:noFill/>
        </p:spPr>
        <p:txBody>
          <a:bodyPr wrap="square" lIns="0" tIns="0" rIns="0" bIns="0" anchor="t">
            <a:noAutofit/>
          </a:bodyPr>
          <a:lstStyle/>
          <a:p>
            <a:pPr algn="l">
              <a:lnSpc>
                <a:spcPct val="112000"/>
              </a:lnSpc>
              <a:spcAft>
                <a:spcPts val="800"/>
              </a:spcAft>
            </a:pPr>
            <a:r>
              <a:rPr sz="1030" b="1" i="0">
                <a:solidFill>
                  <a:srgbClr val="A6F26B"/>
                </a:solidFill>
                <a:latin typeface="Avenir Next"/>
              </a:rPr>
              <a:t>•  </a:t>
            </a:r>
            <a:r>
              <a:rPr sz="1030" b="1" i="0">
                <a:solidFill>
                  <a:srgbClr val="F4FFFA"/>
                </a:solidFill>
                <a:latin typeface="Avenir Next"/>
              </a:rPr>
              <a:t>Rare positive class</a:t>
            </a:r>
            <a:r>
              <a:rPr sz="1030" b="0" i="0">
                <a:solidFill>
                  <a:srgbClr val="F4FFFA"/>
                </a:solidFill>
                <a:latin typeface="Avenir Next"/>
              </a:rPr>
              <a:t> means recall and F1 matter more than headline accuracy.</a:t>
            </a:r>
          </a:p>
          <a:p>
            <a:pPr algn="l">
              <a:lnSpc>
                <a:spcPct val="112000"/>
              </a:lnSpc>
              <a:spcAft>
                <a:spcPts val="800"/>
              </a:spcAft>
            </a:pPr>
            <a:r>
              <a:rPr sz="1030" b="1" i="0">
                <a:solidFill>
                  <a:srgbClr val="A6F26B"/>
                </a:solidFill>
                <a:latin typeface="Avenir Next"/>
              </a:rPr>
              <a:t>•  </a:t>
            </a:r>
            <a:r>
              <a:rPr sz="1030" b="1" i="0">
                <a:solidFill>
                  <a:srgbClr val="F4FFFA"/>
                </a:solidFill>
                <a:latin typeface="Avenir Next"/>
              </a:rPr>
              <a:t>pH mean 6.45</a:t>
            </a:r>
            <a:r>
              <a:rPr sz="1030" b="0" i="0">
                <a:solidFill>
                  <a:srgbClr val="F4FFFA"/>
                </a:solidFill>
                <a:latin typeface="Avenir Next"/>
              </a:rPr>
              <a:t> and mean daily rain 11.3 mm — useful context, not a local calibration.</a:t>
            </a:r>
          </a:p>
          <a:p>
            <a:pPr algn="l">
              <a:lnSpc>
                <a:spcPct val="112000"/>
              </a:lnSpc>
              <a:spcAft>
                <a:spcPts val="800"/>
              </a:spcAft>
            </a:pPr>
            <a:r>
              <a:rPr sz="1030" b="1" i="0">
                <a:solidFill>
                  <a:srgbClr val="A6F26B"/>
                </a:solidFill>
                <a:latin typeface="Avenir Next"/>
              </a:rPr>
              <a:t>•  </a:t>
            </a:r>
            <a:r>
              <a:rPr sz="1030" b="1" i="0">
                <a:solidFill>
                  <a:srgbClr val="F4FFFA"/>
                </a:solidFill>
                <a:latin typeface="Avenir Next"/>
              </a:rPr>
              <a:t>Crop, district and weather</a:t>
            </a:r>
            <a:r>
              <a:rPr sz="1030" b="0" i="0">
                <a:solidFill>
                  <a:srgbClr val="F4FFFA"/>
                </a:solidFill>
                <a:latin typeface="Avenir Next"/>
              </a:rPr>
              <a:t> features support classification and crop-aware rules.</a:t>
            </a:r>
          </a:p>
          <a:p>
            <a:pPr algn="l">
              <a:lnSpc>
                <a:spcPct val="112000"/>
              </a:lnSpc>
              <a:spcAft>
                <a:spcPts val="800"/>
              </a:spcAft>
            </a:pPr>
            <a:r>
              <a:rPr sz="1030" b="1" i="0">
                <a:solidFill>
                  <a:srgbClr val="A6F26B"/>
                </a:solidFill>
                <a:latin typeface="Avenir Next"/>
              </a:rPr>
              <a:t>•  </a:t>
            </a:r>
            <a:r>
              <a:rPr sz="1030" b="1" i="0">
                <a:solidFill>
                  <a:srgbClr val="F4FFFA"/>
                </a:solidFill>
                <a:latin typeface="Avenir Next"/>
              </a:rPr>
              <a:t>Synthetic / simulated</a:t>
            </a:r>
            <a:r>
              <a:rPr sz="1030" b="0" i="0">
                <a:solidFill>
                  <a:srgbClr val="F4FFFA"/>
                </a:solidFill>
                <a:latin typeface="Avenir Next"/>
              </a:rPr>
              <a:t> data: use it to design the pipeline, not to claim field accuracy.</a:t>
            </a:r>
          </a:p>
        </p:txBody>
      </p:sp>
      <p:sp>
        <p:nvSpPr>
          <p:cNvPr id="19" name="TextBox 18"/>
          <p:cNvSpPr txBox="1"/>
          <p:nvPr/>
        </p:nvSpPr>
        <p:spPr>
          <a:xfrm>
            <a:off x="1389888" y="7635240"/>
            <a:ext cx="7498079" cy="274320"/>
          </a:xfrm>
          <a:prstGeom prst="rect">
            <a:avLst/>
          </a:prstGeom>
          <a:noFill/>
        </p:spPr>
        <p:txBody>
          <a:bodyPr wrap="square" lIns="18288" tIns="18288" rIns="18288" bIns="18288" anchor="t">
            <a:noAutofit/>
          </a:bodyPr>
          <a:lstStyle/>
          <a:p>
            <a:pPr algn="l">
              <a:lnSpc>
                <a:spcPct val="105000"/>
              </a:lnSpc>
              <a:spcAft>
                <a:spcPts val="0"/>
              </a:spcAft>
            </a:pPr>
            <a:r>
              <a:rPr sz="860" b="0" i="0">
                <a:solidFill>
                  <a:srgbClr val="7CA091"/>
                </a:solidFill>
                <a:latin typeface="Avenir Next"/>
              </a:rPr>
              <a:t>AgriField-Manipur  ·  IEEE DataPort 10.21227/kbpa-7d35</a:t>
            </a:r>
          </a:p>
        </p:txBody>
      </p:sp>
      <p:pic>
        <p:nvPicPr>
          <p:cNvPr id="20" name="Picture 19" descr="AgriField-Manipur dataset dashboard with crop, soil and rainfall charts"/>
          <p:cNvPicPr>
            <a:picLocks noChangeAspect="1"/>
          </p:cNvPicPr>
          <p:nvPr/>
        </p:nvPicPr>
        <p:blipFill>
          <a:blip r:embed="rId6"/>
          <a:stretch>
            <a:fillRect/>
          </a:stretch>
        </p:blipFill>
        <p:spPr>
          <a:xfrm>
            <a:off x="9829800" y="2743200"/>
            <a:ext cx="7132320" cy="5705856"/>
          </a:xfrm>
          <a:prstGeom prst="rect">
            <a:avLst/>
          </a:prstGeom>
        </p:spPr>
      </p:pic>
      <p:sp>
        <p:nvSpPr>
          <p:cNvPr id="21" name="TextBox 20"/>
          <p:cNvSpPr txBox="1"/>
          <p:nvPr/>
        </p:nvSpPr>
        <p:spPr>
          <a:xfrm>
            <a:off x="9875520" y="8522208"/>
            <a:ext cx="7040880" cy="237744"/>
          </a:xfrm>
          <a:prstGeom prst="rect">
            <a:avLst/>
          </a:prstGeom>
          <a:noFill/>
        </p:spPr>
        <p:txBody>
          <a:bodyPr wrap="square" lIns="18288" tIns="18288" rIns="18288" bIns="18288" anchor="t">
            <a:noAutofit/>
          </a:bodyPr>
          <a:lstStyle/>
          <a:p>
            <a:pPr algn="l">
              <a:lnSpc>
                <a:spcPct val="105000"/>
              </a:lnSpc>
              <a:spcAft>
                <a:spcPts val="0"/>
              </a:spcAft>
            </a:pPr>
            <a:r>
              <a:rPr sz="819" b="0" i="0">
                <a:solidFill>
                  <a:srgbClr val="7CA091"/>
                </a:solidFill>
                <a:latin typeface="Avenir Next"/>
              </a:rPr>
              <a:t>Charts generated from the AgriField-Manipur dataset.</a:t>
            </a:r>
          </a:p>
        </p:txBody>
      </p:sp>
      <p:sp>
        <p:nvSpPr>
          <p:cNvPr id="22" name="TextBox 21"/>
          <p:cNvSpPr txBox="1"/>
          <p:nvPr/>
        </p:nvSpPr>
        <p:spPr>
          <a:xfrm>
            <a:off x="4983480" y="9619488"/>
            <a:ext cx="5852160" cy="228600"/>
          </a:xfrm>
          <a:prstGeom prst="rect">
            <a:avLst/>
          </a:prstGeom>
          <a:noFill/>
        </p:spPr>
        <p:txBody>
          <a:bodyPr wrap="square" lIns="0" tIns="0" rIns="0" bIns="0" anchor="t">
            <a:noAutofit/>
          </a:bodyPr>
          <a:lstStyle/>
          <a:p>
            <a:pPr algn="l">
              <a:lnSpc>
                <a:spcPct val="105000"/>
              </a:lnSpc>
              <a:spcAft>
                <a:spcPts val="0"/>
              </a:spcAft>
            </a:pPr>
            <a:r>
              <a:rPr sz="819" b="0" i="0">
                <a:solidFill>
                  <a:srgbClr val="7CA091"/>
                </a:solidFill>
                <a:latin typeface="Avenir Next"/>
              </a:rPr>
              <a:t>TrustFarm  ·  INNOVA 2026  ·  ICBT</a:t>
            </a:r>
          </a:p>
        </p:txBody>
      </p:sp>
      <p:sp>
        <p:nvSpPr>
          <p:cNvPr id="23" name="TextBox 22"/>
          <p:cNvSpPr txBox="1"/>
          <p:nvPr/>
        </p:nvSpPr>
        <p:spPr>
          <a:xfrm>
            <a:off x="11018520" y="9619488"/>
            <a:ext cx="1234440" cy="228600"/>
          </a:xfrm>
          <a:prstGeom prst="rect">
            <a:avLst/>
          </a:prstGeom>
          <a:noFill/>
        </p:spPr>
        <p:txBody>
          <a:bodyPr wrap="square" lIns="0" tIns="0" rIns="0" bIns="0" anchor="t">
            <a:noAutofit/>
          </a:bodyPr>
          <a:lstStyle/>
          <a:p>
            <a:pPr algn="r">
              <a:lnSpc>
                <a:spcPct val="105000"/>
              </a:lnSpc>
              <a:spcAft>
                <a:spcPts val="0"/>
              </a:spcAft>
            </a:pPr>
            <a:r>
              <a:rPr sz="819" b="0" i="0">
                <a:solidFill>
                  <a:srgbClr val="7CA091"/>
                </a:solidFill>
                <a:latin typeface="Avenir Next"/>
              </a:rPr>
              <a:t>17 / 25</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rgbClr val="1A1D1C"/>
        </a:solidFill>
        <a:effectLst/>
      </p:bgPr>
    </p:bg>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25192566" h="16800292">
                <a:moveTo>
                  <a:pt x="0" y="0"/>
                </a:moveTo>
                <a:lnTo>
                  <a:pt x="25192566" y="0"/>
                </a:lnTo>
                <a:lnTo>
                  <a:pt x="25192566" y="16800292"/>
                </a:lnTo>
                <a:lnTo>
                  <a:pt x="0" y="16800292"/>
                </a:lnTo>
                <a:lnTo>
                  <a:pt x="0" y="0"/>
                </a:lnTo>
                <a:close/>
              </a:path>
            </a:pathLst>
          </a:custGeom>
          <a:blipFill>
            <a:blip r:embed="rId3"/>
            <a:stretch>
              <a:fillRect/>
            </a:stretch>
          </a:blipFill>
        </p:spPr>
        <p:txBody>
          <a:bodyPr/>
          <a:lstStyle/>
          <a:p>
            <a:endParaRPr/>
          </a:p>
        </p:txBody>
      </p:sp>
      <p:sp>
        <p:nvSpPr>
          <p:cNvPr id="3" name="Freeform 3"/>
          <p:cNvSpPr/>
          <p:nvPr/>
        </p:nvSpPr>
        <p:spPr>
          <a:xfrm>
            <a:off x="12596283" y="8658721"/>
            <a:ext cx="6457129" cy="1628279"/>
          </a:xfrm>
          <a:custGeom>
            <a:avLst/>
            <a:gdLst/>
            <a:ahLst/>
            <a:cxnLst/>
            <a:rect l="l" t="t" r="r" b="b"/>
            <a:pathLst>
              <a:path w="6457129" h="1628279">
                <a:moveTo>
                  <a:pt x="0" y="0"/>
                </a:moveTo>
                <a:lnTo>
                  <a:pt x="6457129" y="0"/>
                </a:lnTo>
                <a:lnTo>
                  <a:pt x="6457129" y="1628279"/>
                </a:lnTo>
                <a:lnTo>
                  <a:pt x="0" y="1628279"/>
                </a:lnTo>
                <a:lnTo>
                  <a:pt x="0" y="0"/>
                </a:lnTo>
                <a:close/>
              </a:path>
            </a:pathLst>
          </a:custGeom>
          <a:blipFill>
            <a:blip r:embed="rId4"/>
            <a:stretch>
              <a:fillRect t="-85078" b="-85078"/>
            </a:stretch>
          </a:blipFill>
        </p:spPr>
        <p:txBody>
          <a:bodyPr/>
          <a:lstStyle/>
          <a:p>
            <a:endParaRPr/>
          </a:p>
        </p:txBody>
      </p:sp>
      <p:sp>
        <p:nvSpPr>
          <p:cNvPr id="4" name="Freeform 4"/>
          <p:cNvSpPr/>
          <p:nvPr/>
        </p:nvSpPr>
        <p:spPr>
          <a:xfrm>
            <a:off x="0" y="8072991"/>
            <a:ext cx="2839033" cy="2839033"/>
          </a:xfrm>
          <a:custGeom>
            <a:avLst/>
            <a:gdLst/>
            <a:ahLst/>
            <a:cxnLst/>
            <a:rect l="l" t="t" r="r" b="b"/>
            <a:pathLst>
              <a:path w="2839033" h="2839033">
                <a:moveTo>
                  <a:pt x="0" y="0"/>
                </a:moveTo>
                <a:lnTo>
                  <a:pt x="2839033" y="0"/>
                </a:lnTo>
                <a:lnTo>
                  <a:pt x="2839033" y="2839033"/>
                </a:lnTo>
                <a:lnTo>
                  <a:pt x="0" y="2839033"/>
                </a:lnTo>
                <a:lnTo>
                  <a:pt x="0" y="0"/>
                </a:lnTo>
                <a:close/>
              </a:path>
            </a:pathLst>
          </a:custGeom>
          <a:blipFill>
            <a:blip r:embed="rId5"/>
            <a:stretch>
              <a:fillRect/>
            </a:stretch>
          </a:blipFill>
        </p:spPr>
        <p:txBody>
          <a:bodyPr/>
          <a:lstStyle/>
          <a:p>
            <a:endParaRPr/>
          </a:p>
        </p:txBody>
      </p:sp>
      <p:sp>
        <p:nvSpPr>
          <p:cNvPr id="5" name="TextBox 4"/>
          <p:cNvSpPr txBox="1"/>
          <p:nvPr/>
        </p:nvSpPr>
        <p:spPr>
          <a:xfrm>
            <a:off x="1143000" y="841248"/>
            <a:ext cx="10972800" cy="292608"/>
          </a:xfrm>
          <a:prstGeom prst="rect">
            <a:avLst/>
          </a:prstGeom>
          <a:noFill/>
        </p:spPr>
        <p:txBody>
          <a:bodyPr wrap="square" lIns="0" tIns="0" rIns="0" bIns="0" anchor="t">
            <a:noAutofit/>
          </a:bodyPr>
          <a:lstStyle/>
          <a:p>
            <a:pPr algn="l">
              <a:lnSpc>
                <a:spcPct val="105000"/>
              </a:lnSpc>
              <a:spcAft>
                <a:spcPts val="0"/>
              </a:spcAft>
            </a:pPr>
            <a:r>
              <a:rPr sz="1000" b="1" i="0">
                <a:solidFill>
                  <a:srgbClr val="A6F26B"/>
                </a:solidFill>
                <a:latin typeface="Avenir Next"/>
              </a:rPr>
              <a:t>DATASET ANALYSIS · ENERGY + IOT</a:t>
            </a:r>
          </a:p>
        </p:txBody>
      </p:sp>
      <p:sp>
        <p:nvSpPr>
          <p:cNvPr id="6" name="TextBox 5"/>
          <p:cNvSpPr txBox="1"/>
          <p:nvPr/>
        </p:nvSpPr>
        <p:spPr>
          <a:xfrm>
            <a:off x="1097280" y="1124712"/>
            <a:ext cx="13075920" cy="676656"/>
          </a:xfrm>
          <a:prstGeom prst="rect">
            <a:avLst/>
          </a:prstGeom>
          <a:noFill/>
        </p:spPr>
        <p:txBody>
          <a:bodyPr wrap="square" lIns="0" tIns="0" rIns="0" bIns="0" anchor="t">
            <a:noAutofit/>
          </a:bodyPr>
          <a:lstStyle/>
          <a:p>
            <a:pPr algn="l">
              <a:lnSpc>
                <a:spcPct val="98000"/>
              </a:lnSpc>
              <a:spcAft>
                <a:spcPts val="0"/>
              </a:spcAft>
            </a:pPr>
            <a:r>
              <a:rPr sz="3300" b="1" i="0">
                <a:solidFill>
                  <a:srgbClr val="F4FFFA"/>
                </a:solidFill>
                <a:latin typeface="Avenir Next"/>
              </a:rPr>
              <a:t>Two synthetic datasets, two design inputs.</a:t>
            </a:r>
          </a:p>
        </p:txBody>
      </p:sp>
      <p:sp>
        <p:nvSpPr>
          <p:cNvPr id="7" name="TextBox 6"/>
          <p:cNvSpPr txBox="1"/>
          <p:nvPr/>
        </p:nvSpPr>
        <p:spPr>
          <a:xfrm>
            <a:off x="1143000" y="1865376"/>
            <a:ext cx="13258800" cy="502920"/>
          </a:xfrm>
          <a:prstGeom prst="rect">
            <a:avLst/>
          </a:prstGeom>
          <a:noFill/>
        </p:spPr>
        <p:txBody>
          <a:bodyPr wrap="square" lIns="0" tIns="0" rIns="0" bIns="0" anchor="t">
            <a:noAutofit/>
          </a:bodyPr>
          <a:lstStyle/>
          <a:p>
            <a:pPr algn="l">
              <a:lnSpc>
                <a:spcPct val="110000"/>
              </a:lnSpc>
              <a:spcAft>
                <a:spcPts val="0"/>
              </a:spcAft>
            </a:pPr>
            <a:r>
              <a:rPr sz="1400" b="0" i="0">
                <a:solidFill>
                  <a:srgbClr val="ADC9BE"/>
                </a:solidFill>
                <a:latin typeface="Avenir Next"/>
              </a:rPr>
              <a:t>Biogas gives an energy scenario; Semantic-Aware IoT gives a resilience benchmark.</a:t>
            </a:r>
          </a:p>
        </p:txBody>
      </p:sp>
      <p:sp>
        <p:nvSpPr>
          <p:cNvPr id="8" name="Rectangle 7"/>
          <p:cNvSpPr/>
          <p:nvPr/>
        </p:nvSpPr>
        <p:spPr>
          <a:xfrm>
            <a:off x="1143000" y="2542032"/>
            <a:ext cx="1143000" cy="41148"/>
          </a:xfrm>
          <a:prstGeom prst="rect">
            <a:avLst/>
          </a:prstGeom>
          <a:solidFill>
            <a:srgbClr val="A6F2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ounded Rectangle 8"/>
          <p:cNvSpPr/>
          <p:nvPr/>
        </p:nvSpPr>
        <p:spPr>
          <a:xfrm>
            <a:off x="14127480" y="1143000"/>
            <a:ext cx="3017520" cy="347472"/>
          </a:xfrm>
          <a:prstGeom prst="roundRect">
            <a:avLst>
              <a:gd name="adj" fmla="val 50000"/>
            </a:avLst>
          </a:prstGeom>
          <a:solidFill>
            <a:srgbClr val="0A221B"/>
          </a:solidFill>
          <a:ln w="8890">
            <a:solidFill>
              <a:srgbClr val="A6F26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14164055" y="1161288"/>
            <a:ext cx="2944368" cy="310896"/>
          </a:xfrm>
          <a:prstGeom prst="rect">
            <a:avLst/>
          </a:prstGeom>
          <a:noFill/>
        </p:spPr>
        <p:txBody>
          <a:bodyPr wrap="square" lIns="9144" tIns="0" rIns="9144" bIns="0" anchor="ctr">
            <a:noAutofit/>
          </a:bodyPr>
          <a:lstStyle/>
          <a:p>
            <a:pPr algn="ctr">
              <a:lnSpc>
                <a:spcPct val="105000"/>
              </a:lnSpc>
              <a:spcAft>
                <a:spcPts val="0"/>
              </a:spcAft>
            </a:pPr>
            <a:r>
              <a:rPr sz="819" b="1" i="0">
                <a:solidFill>
                  <a:srgbClr val="A6F26B"/>
                </a:solidFill>
                <a:latin typeface="Avenir Next"/>
              </a:rPr>
              <a:t>SYNTHETIC / SIMULATED</a:t>
            </a:r>
          </a:p>
        </p:txBody>
      </p:sp>
      <p:sp>
        <p:nvSpPr>
          <p:cNvPr id="11" name="Rounded Rectangle 10"/>
          <p:cNvSpPr/>
          <p:nvPr/>
        </p:nvSpPr>
        <p:spPr>
          <a:xfrm>
            <a:off x="1143000" y="2743200"/>
            <a:ext cx="8321040" cy="2331720"/>
          </a:xfrm>
          <a:prstGeom prst="roundRect">
            <a:avLst>
              <a:gd name="adj" fmla="val 8000"/>
            </a:avLst>
          </a:prstGeom>
          <a:solidFill>
            <a:srgbClr val="071813"/>
          </a:solidFill>
          <a:ln w="10160">
            <a:solidFill>
              <a:srgbClr val="2C5A4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1389888" y="2926080"/>
            <a:ext cx="7589520" cy="256032"/>
          </a:xfrm>
          <a:prstGeom prst="rect">
            <a:avLst/>
          </a:prstGeom>
          <a:noFill/>
        </p:spPr>
        <p:txBody>
          <a:bodyPr wrap="square" lIns="18288" tIns="18288" rIns="18288" bIns="18288" anchor="t">
            <a:noAutofit/>
          </a:bodyPr>
          <a:lstStyle/>
          <a:p>
            <a:pPr algn="l">
              <a:lnSpc>
                <a:spcPct val="105000"/>
              </a:lnSpc>
              <a:spcAft>
                <a:spcPts val="0"/>
              </a:spcAft>
            </a:pPr>
            <a:r>
              <a:rPr sz="950" b="1" i="0">
                <a:solidFill>
                  <a:srgbClr val="F5C451"/>
                </a:solidFill>
                <a:latin typeface="Avenir Next"/>
              </a:rPr>
              <a:t>BIOGAS SWINE FARM</a:t>
            </a:r>
          </a:p>
        </p:txBody>
      </p:sp>
      <p:sp>
        <p:nvSpPr>
          <p:cNvPr id="13" name="TextBox 12"/>
          <p:cNvSpPr txBox="1"/>
          <p:nvPr/>
        </p:nvSpPr>
        <p:spPr>
          <a:xfrm>
            <a:off x="1389888" y="3246120"/>
            <a:ext cx="2331720" cy="530352"/>
          </a:xfrm>
          <a:prstGeom prst="rect">
            <a:avLst/>
          </a:prstGeom>
          <a:noFill/>
        </p:spPr>
        <p:txBody>
          <a:bodyPr wrap="square" lIns="18288" tIns="18288" rIns="18288" bIns="18288" anchor="t">
            <a:noAutofit/>
          </a:bodyPr>
          <a:lstStyle/>
          <a:p>
            <a:pPr algn="l">
              <a:lnSpc>
                <a:spcPct val="90000"/>
              </a:lnSpc>
              <a:spcAft>
                <a:spcPts val="0"/>
              </a:spcAft>
            </a:pPr>
            <a:r>
              <a:rPr sz="2700" b="1" i="0">
                <a:solidFill>
                  <a:srgbClr val="F4FFFA"/>
                </a:solidFill>
                <a:latin typeface="Avenir Next"/>
              </a:rPr>
              <a:t>6,281</a:t>
            </a:r>
          </a:p>
        </p:txBody>
      </p:sp>
      <p:sp>
        <p:nvSpPr>
          <p:cNvPr id="14" name="TextBox 13"/>
          <p:cNvSpPr txBox="1"/>
          <p:nvPr/>
        </p:nvSpPr>
        <p:spPr>
          <a:xfrm>
            <a:off x="3822191" y="3246120"/>
            <a:ext cx="2331720" cy="530352"/>
          </a:xfrm>
          <a:prstGeom prst="rect">
            <a:avLst/>
          </a:prstGeom>
          <a:noFill/>
        </p:spPr>
        <p:txBody>
          <a:bodyPr wrap="square" lIns="18288" tIns="18288" rIns="18288" bIns="18288" anchor="t">
            <a:noAutofit/>
          </a:bodyPr>
          <a:lstStyle/>
          <a:p>
            <a:pPr algn="l">
              <a:lnSpc>
                <a:spcPct val="90000"/>
              </a:lnSpc>
              <a:spcAft>
                <a:spcPts val="0"/>
              </a:spcAft>
            </a:pPr>
            <a:r>
              <a:rPr sz="2700" b="1" i="0">
                <a:solidFill>
                  <a:srgbClr val="F5C451"/>
                </a:solidFill>
                <a:latin typeface="Avenir Next"/>
              </a:rPr>
              <a:t>6,269</a:t>
            </a:r>
          </a:p>
        </p:txBody>
      </p:sp>
      <p:sp>
        <p:nvSpPr>
          <p:cNvPr id="15" name="TextBox 14"/>
          <p:cNvSpPr txBox="1"/>
          <p:nvPr/>
        </p:nvSpPr>
        <p:spPr>
          <a:xfrm>
            <a:off x="1389888" y="3767328"/>
            <a:ext cx="2331720" cy="219456"/>
          </a:xfrm>
          <a:prstGeom prst="rect">
            <a:avLst/>
          </a:prstGeom>
          <a:noFill/>
        </p:spPr>
        <p:txBody>
          <a:bodyPr wrap="square" lIns="18288" tIns="18288" rIns="18288" bIns="18288" anchor="t">
            <a:noAutofit/>
          </a:bodyPr>
          <a:lstStyle/>
          <a:p>
            <a:pPr algn="l">
              <a:lnSpc>
                <a:spcPct val="105000"/>
              </a:lnSpc>
              <a:spcAft>
                <a:spcPts val="0"/>
              </a:spcAft>
            </a:pPr>
            <a:r>
              <a:rPr sz="880" b="0" i="0">
                <a:solidFill>
                  <a:srgbClr val="ADC9BE"/>
                </a:solidFill>
                <a:latin typeface="Avenir Next"/>
              </a:rPr>
              <a:t>L/day base</a:t>
            </a:r>
          </a:p>
        </p:txBody>
      </p:sp>
      <p:sp>
        <p:nvSpPr>
          <p:cNvPr id="16" name="TextBox 15"/>
          <p:cNvSpPr txBox="1"/>
          <p:nvPr/>
        </p:nvSpPr>
        <p:spPr>
          <a:xfrm>
            <a:off x="3822191" y="3767328"/>
            <a:ext cx="2331720" cy="219456"/>
          </a:xfrm>
          <a:prstGeom prst="rect">
            <a:avLst/>
          </a:prstGeom>
          <a:noFill/>
        </p:spPr>
        <p:txBody>
          <a:bodyPr wrap="square" lIns="18288" tIns="18288" rIns="18288" bIns="18288" anchor="t">
            <a:noAutofit/>
          </a:bodyPr>
          <a:lstStyle/>
          <a:p>
            <a:pPr algn="l">
              <a:lnSpc>
                <a:spcPct val="105000"/>
              </a:lnSpc>
              <a:spcAft>
                <a:spcPts val="0"/>
              </a:spcAft>
            </a:pPr>
            <a:r>
              <a:rPr sz="880" b="0" i="0">
                <a:solidFill>
                  <a:srgbClr val="ADC9BE"/>
                </a:solidFill>
                <a:latin typeface="Avenir Next"/>
              </a:rPr>
              <a:t>L/day lag model</a:t>
            </a:r>
          </a:p>
        </p:txBody>
      </p:sp>
      <p:sp>
        <p:nvSpPr>
          <p:cNvPr id="17" name="TextBox 16"/>
          <p:cNvSpPr txBox="1"/>
          <p:nvPr/>
        </p:nvSpPr>
        <p:spPr>
          <a:xfrm>
            <a:off x="1389888" y="4133087"/>
            <a:ext cx="7406640" cy="731520"/>
          </a:xfrm>
          <a:prstGeom prst="rect">
            <a:avLst/>
          </a:prstGeom>
          <a:noFill/>
        </p:spPr>
        <p:txBody>
          <a:bodyPr wrap="square" lIns="18288" tIns="18288" rIns="18288" bIns="18288" anchor="t">
            <a:noAutofit/>
          </a:bodyPr>
          <a:lstStyle/>
          <a:p>
            <a:pPr algn="l">
              <a:lnSpc>
                <a:spcPct val="108000"/>
              </a:lnSpc>
              <a:spcAft>
                <a:spcPts val="0"/>
              </a:spcAft>
            </a:pPr>
            <a:r>
              <a:rPr sz="980" b="0" i="0">
                <a:solidFill>
                  <a:srgbClr val="ADC9BE"/>
                </a:solidFill>
                <a:latin typeface="Avenir Next"/>
              </a:rPr>
              <a:t>Mean CH₄ production. Use as a scenario generator for energy-aware advice — not a yield guarantee.</a:t>
            </a:r>
          </a:p>
        </p:txBody>
      </p:sp>
      <p:sp>
        <p:nvSpPr>
          <p:cNvPr id="18" name="Rounded Rectangle 17"/>
          <p:cNvSpPr/>
          <p:nvPr/>
        </p:nvSpPr>
        <p:spPr>
          <a:xfrm>
            <a:off x="1143000" y="5285232"/>
            <a:ext cx="8321040" cy="2331720"/>
          </a:xfrm>
          <a:prstGeom prst="roundRect">
            <a:avLst>
              <a:gd name="adj" fmla="val 8000"/>
            </a:avLst>
          </a:prstGeom>
          <a:solidFill>
            <a:srgbClr val="071813"/>
          </a:solidFill>
          <a:ln w="10160">
            <a:solidFill>
              <a:srgbClr val="2C5A4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1389888" y="5468112"/>
            <a:ext cx="7589520" cy="256032"/>
          </a:xfrm>
          <a:prstGeom prst="rect">
            <a:avLst/>
          </a:prstGeom>
          <a:noFill/>
        </p:spPr>
        <p:txBody>
          <a:bodyPr wrap="square" lIns="18288" tIns="18288" rIns="18288" bIns="18288" anchor="t">
            <a:noAutofit/>
          </a:bodyPr>
          <a:lstStyle/>
          <a:p>
            <a:pPr algn="l">
              <a:lnSpc>
                <a:spcPct val="105000"/>
              </a:lnSpc>
              <a:spcAft>
                <a:spcPts val="0"/>
              </a:spcAft>
            </a:pPr>
            <a:r>
              <a:rPr sz="950" b="1" i="0">
                <a:solidFill>
                  <a:srgbClr val="59D7F0"/>
                </a:solidFill>
                <a:latin typeface="Avenir Next"/>
              </a:rPr>
              <a:t>SEMANTIC-AWARE IoT</a:t>
            </a:r>
          </a:p>
        </p:txBody>
      </p:sp>
      <p:sp>
        <p:nvSpPr>
          <p:cNvPr id="20" name="TextBox 19"/>
          <p:cNvSpPr txBox="1"/>
          <p:nvPr/>
        </p:nvSpPr>
        <p:spPr>
          <a:xfrm>
            <a:off x="1389888" y="5779008"/>
            <a:ext cx="2331720" cy="512064"/>
          </a:xfrm>
          <a:prstGeom prst="rect">
            <a:avLst/>
          </a:prstGeom>
          <a:noFill/>
        </p:spPr>
        <p:txBody>
          <a:bodyPr wrap="square" lIns="18288" tIns="18288" rIns="18288" bIns="18288" anchor="t">
            <a:noAutofit/>
          </a:bodyPr>
          <a:lstStyle/>
          <a:p>
            <a:pPr algn="l">
              <a:lnSpc>
                <a:spcPct val="90000"/>
              </a:lnSpc>
              <a:spcAft>
                <a:spcPts val="0"/>
              </a:spcAft>
            </a:pPr>
            <a:r>
              <a:rPr sz="2700" b="1" i="0">
                <a:solidFill>
                  <a:srgbClr val="F4FFFA"/>
                </a:solidFill>
                <a:latin typeface="Avenir Next"/>
              </a:rPr>
              <a:t>60k</a:t>
            </a:r>
          </a:p>
        </p:txBody>
      </p:sp>
      <p:sp>
        <p:nvSpPr>
          <p:cNvPr id="21" name="TextBox 20"/>
          <p:cNvSpPr txBox="1"/>
          <p:nvPr/>
        </p:nvSpPr>
        <p:spPr>
          <a:xfrm>
            <a:off x="3749039" y="5779008"/>
            <a:ext cx="2606040" cy="512064"/>
          </a:xfrm>
          <a:prstGeom prst="rect">
            <a:avLst/>
          </a:prstGeom>
          <a:noFill/>
        </p:spPr>
        <p:txBody>
          <a:bodyPr wrap="square" lIns="18288" tIns="18288" rIns="18288" bIns="18288" anchor="t">
            <a:noAutofit/>
          </a:bodyPr>
          <a:lstStyle/>
          <a:p>
            <a:pPr algn="l">
              <a:lnSpc>
                <a:spcPct val="90000"/>
              </a:lnSpc>
              <a:spcAft>
                <a:spcPts val="0"/>
              </a:spcAft>
            </a:pPr>
            <a:r>
              <a:rPr sz="2700" b="1" i="0">
                <a:solidFill>
                  <a:srgbClr val="59D7F0"/>
                </a:solidFill>
                <a:latin typeface="Avenir Next"/>
              </a:rPr>
              <a:t>90.1%</a:t>
            </a:r>
          </a:p>
        </p:txBody>
      </p:sp>
      <p:sp>
        <p:nvSpPr>
          <p:cNvPr id="22" name="TextBox 21"/>
          <p:cNvSpPr txBox="1"/>
          <p:nvPr/>
        </p:nvSpPr>
        <p:spPr>
          <a:xfrm>
            <a:off x="6446520" y="5779008"/>
            <a:ext cx="2606040" cy="512064"/>
          </a:xfrm>
          <a:prstGeom prst="rect">
            <a:avLst/>
          </a:prstGeom>
          <a:noFill/>
        </p:spPr>
        <p:txBody>
          <a:bodyPr wrap="square" lIns="18288" tIns="18288" rIns="18288" bIns="18288" anchor="t">
            <a:noAutofit/>
          </a:bodyPr>
          <a:lstStyle/>
          <a:p>
            <a:pPr algn="l">
              <a:lnSpc>
                <a:spcPct val="90000"/>
              </a:lnSpc>
              <a:spcAft>
                <a:spcPts val="0"/>
              </a:spcAft>
            </a:pPr>
            <a:r>
              <a:rPr sz="2700" b="1" i="0">
                <a:solidFill>
                  <a:srgbClr val="A6F26B"/>
                </a:solidFill>
                <a:latin typeface="Avenir Next"/>
              </a:rPr>
              <a:t>55 ms</a:t>
            </a:r>
          </a:p>
        </p:txBody>
      </p:sp>
      <p:sp>
        <p:nvSpPr>
          <p:cNvPr id="23" name="TextBox 22"/>
          <p:cNvSpPr txBox="1"/>
          <p:nvPr/>
        </p:nvSpPr>
        <p:spPr>
          <a:xfrm>
            <a:off x="1389888" y="6291072"/>
            <a:ext cx="2331720" cy="219456"/>
          </a:xfrm>
          <a:prstGeom prst="rect">
            <a:avLst/>
          </a:prstGeom>
          <a:noFill/>
        </p:spPr>
        <p:txBody>
          <a:bodyPr wrap="square" lIns="18288" tIns="18288" rIns="18288" bIns="18288" anchor="t">
            <a:noAutofit/>
          </a:bodyPr>
          <a:lstStyle/>
          <a:p>
            <a:pPr algn="l">
              <a:lnSpc>
                <a:spcPct val="105000"/>
              </a:lnSpc>
              <a:spcAft>
                <a:spcPts val="0"/>
              </a:spcAft>
            </a:pPr>
            <a:r>
              <a:rPr sz="880" b="0" i="0">
                <a:solidFill>
                  <a:srgbClr val="ADC9BE"/>
                </a:solidFill>
                <a:latin typeface="Avenir Next"/>
              </a:rPr>
              <a:t>records</a:t>
            </a:r>
          </a:p>
        </p:txBody>
      </p:sp>
      <p:sp>
        <p:nvSpPr>
          <p:cNvPr id="24" name="TextBox 23"/>
          <p:cNvSpPr txBox="1"/>
          <p:nvPr/>
        </p:nvSpPr>
        <p:spPr>
          <a:xfrm>
            <a:off x="3749039" y="6291072"/>
            <a:ext cx="2606040" cy="219456"/>
          </a:xfrm>
          <a:prstGeom prst="rect">
            <a:avLst/>
          </a:prstGeom>
          <a:noFill/>
        </p:spPr>
        <p:txBody>
          <a:bodyPr wrap="square" lIns="18288" tIns="18288" rIns="18288" bIns="18288" anchor="t">
            <a:noAutofit/>
          </a:bodyPr>
          <a:lstStyle/>
          <a:p>
            <a:pPr algn="l">
              <a:lnSpc>
                <a:spcPct val="105000"/>
              </a:lnSpc>
              <a:spcAft>
                <a:spcPts val="0"/>
              </a:spcAft>
            </a:pPr>
            <a:r>
              <a:rPr sz="880" b="0" i="0">
                <a:solidFill>
                  <a:srgbClr val="ADC9BE"/>
                </a:solidFill>
                <a:latin typeface="Avenir Next"/>
              </a:rPr>
              <a:t>no migration</a:t>
            </a:r>
          </a:p>
        </p:txBody>
      </p:sp>
      <p:sp>
        <p:nvSpPr>
          <p:cNvPr id="25" name="TextBox 24"/>
          <p:cNvSpPr txBox="1"/>
          <p:nvPr/>
        </p:nvSpPr>
        <p:spPr>
          <a:xfrm>
            <a:off x="6446520" y="6291072"/>
            <a:ext cx="2606040" cy="219456"/>
          </a:xfrm>
          <a:prstGeom prst="rect">
            <a:avLst/>
          </a:prstGeom>
          <a:noFill/>
        </p:spPr>
        <p:txBody>
          <a:bodyPr wrap="square" lIns="18288" tIns="18288" rIns="18288" bIns="18288" anchor="t">
            <a:noAutofit/>
          </a:bodyPr>
          <a:lstStyle/>
          <a:p>
            <a:pPr algn="l">
              <a:lnSpc>
                <a:spcPct val="105000"/>
              </a:lnSpc>
              <a:spcAft>
                <a:spcPts val="0"/>
              </a:spcAft>
            </a:pPr>
            <a:r>
              <a:rPr sz="880" b="0" i="0">
                <a:solidFill>
                  <a:srgbClr val="ADC9BE"/>
                </a:solidFill>
                <a:latin typeface="Avenir Next"/>
              </a:rPr>
              <a:t>mean latency</a:t>
            </a:r>
          </a:p>
        </p:txBody>
      </p:sp>
      <p:sp>
        <p:nvSpPr>
          <p:cNvPr id="26" name="TextBox 25"/>
          <p:cNvSpPr txBox="1"/>
          <p:nvPr/>
        </p:nvSpPr>
        <p:spPr>
          <a:xfrm>
            <a:off x="1389888" y="6629400"/>
            <a:ext cx="7406640" cy="685800"/>
          </a:xfrm>
          <a:prstGeom prst="rect">
            <a:avLst/>
          </a:prstGeom>
          <a:noFill/>
        </p:spPr>
        <p:txBody>
          <a:bodyPr wrap="square" lIns="18288" tIns="18288" rIns="18288" bIns="18288" anchor="t">
            <a:noAutofit/>
          </a:bodyPr>
          <a:lstStyle/>
          <a:p>
            <a:pPr algn="l">
              <a:lnSpc>
                <a:spcPct val="108000"/>
              </a:lnSpc>
              <a:spcAft>
                <a:spcPts val="0"/>
              </a:spcAft>
            </a:pPr>
            <a:r>
              <a:rPr sz="980" b="0" i="0">
                <a:solidFill>
                  <a:srgbClr val="ADC9BE"/>
                </a:solidFill>
                <a:latin typeface="Avenir Next"/>
              </a:rPr>
              <a:t>Network-resilience benchmark: most records stay on the current node; latency is bounded.</a:t>
            </a:r>
          </a:p>
        </p:txBody>
      </p:sp>
      <p:pic>
        <p:nvPicPr>
          <p:cNvPr id="27" name="Picture 26" descr="Biogas dataset dashboard with methane, inflow and substrate charts"/>
          <p:cNvPicPr>
            <a:picLocks noChangeAspect="1"/>
          </p:cNvPicPr>
          <p:nvPr/>
        </p:nvPicPr>
        <p:blipFill>
          <a:blip r:embed="rId6"/>
          <a:stretch>
            <a:fillRect/>
          </a:stretch>
        </p:blipFill>
        <p:spPr>
          <a:xfrm>
            <a:off x="9875520" y="2743200"/>
            <a:ext cx="7040880" cy="5751576"/>
          </a:xfrm>
          <a:prstGeom prst="rect">
            <a:avLst/>
          </a:prstGeom>
        </p:spPr>
      </p:pic>
      <p:sp>
        <p:nvSpPr>
          <p:cNvPr id="28" name="TextBox 27"/>
          <p:cNvSpPr txBox="1"/>
          <p:nvPr/>
        </p:nvSpPr>
        <p:spPr>
          <a:xfrm>
            <a:off x="9921240" y="8558784"/>
            <a:ext cx="6949440" cy="237744"/>
          </a:xfrm>
          <a:prstGeom prst="rect">
            <a:avLst/>
          </a:prstGeom>
          <a:noFill/>
        </p:spPr>
        <p:txBody>
          <a:bodyPr wrap="square" lIns="18288" tIns="18288" rIns="18288" bIns="18288" anchor="t">
            <a:noAutofit/>
          </a:bodyPr>
          <a:lstStyle/>
          <a:p>
            <a:pPr algn="l">
              <a:lnSpc>
                <a:spcPct val="105000"/>
              </a:lnSpc>
              <a:spcAft>
                <a:spcPts val="0"/>
              </a:spcAft>
            </a:pPr>
            <a:r>
              <a:rPr sz="819" b="0" i="0">
                <a:solidFill>
                  <a:srgbClr val="7CA091"/>
                </a:solidFill>
                <a:latin typeface="Avenir Next"/>
              </a:rPr>
              <a:t>Biogas charts: synthetic dataset 10.21227/jd39-y840.</a:t>
            </a:r>
          </a:p>
        </p:txBody>
      </p:sp>
      <p:sp>
        <p:nvSpPr>
          <p:cNvPr id="29" name="TextBox 28"/>
          <p:cNvSpPr txBox="1"/>
          <p:nvPr/>
        </p:nvSpPr>
        <p:spPr>
          <a:xfrm>
            <a:off x="4983480" y="9619488"/>
            <a:ext cx="5852160" cy="228600"/>
          </a:xfrm>
          <a:prstGeom prst="rect">
            <a:avLst/>
          </a:prstGeom>
          <a:noFill/>
        </p:spPr>
        <p:txBody>
          <a:bodyPr wrap="square" lIns="0" tIns="0" rIns="0" bIns="0" anchor="t">
            <a:noAutofit/>
          </a:bodyPr>
          <a:lstStyle/>
          <a:p>
            <a:pPr algn="l">
              <a:lnSpc>
                <a:spcPct val="105000"/>
              </a:lnSpc>
              <a:spcAft>
                <a:spcPts val="0"/>
              </a:spcAft>
            </a:pPr>
            <a:r>
              <a:rPr sz="819" b="0" i="0">
                <a:solidFill>
                  <a:srgbClr val="7CA091"/>
                </a:solidFill>
                <a:latin typeface="Avenir Next"/>
              </a:rPr>
              <a:t>TrustFarm  ·  INNOVA 2026  ·  ICBT</a:t>
            </a:r>
          </a:p>
        </p:txBody>
      </p:sp>
      <p:sp>
        <p:nvSpPr>
          <p:cNvPr id="30" name="TextBox 29"/>
          <p:cNvSpPr txBox="1"/>
          <p:nvPr/>
        </p:nvSpPr>
        <p:spPr>
          <a:xfrm>
            <a:off x="11018520" y="9619488"/>
            <a:ext cx="1234440" cy="228600"/>
          </a:xfrm>
          <a:prstGeom prst="rect">
            <a:avLst/>
          </a:prstGeom>
          <a:noFill/>
        </p:spPr>
        <p:txBody>
          <a:bodyPr wrap="square" lIns="0" tIns="0" rIns="0" bIns="0" anchor="t">
            <a:noAutofit/>
          </a:bodyPr>
          <a:lstStyle/>
          <a:p>
            <a:pPr algn="r">
              <a:lnSpc>
                <a:spcPct val="105000"/>
              </a:lnSpc>
              <a:spcAft>
                <a:spcPts val="0"/>
              </a:spcAft>
            </a:pPr>
            <a:r>
              <a:rPr sz="819" b="0" i="0">
                <a:solidFill>
                  <a:srgbClr val="7CA091"/>
                </a:solidFill>
                <a:latin typeface="Avenir Next"/>
              </a:rPr>
              <a:t>18 / 25</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rgbClr val="1A1D1C"/>
        </a:solidFill>
        <a:effectLst/>
      </p:bgPr>
    </p:bg>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25192566" h="16800292">
                <a:moveTo>
                  <a:pt x="0" y="0"/>
                </a:moveTo>
                <a:lnTo>
                  <a:pt x="25192566" y="0"/>
                </a:lnTo>
                <a:lnTo>
                  <a:pt x="25192566" y="16800292"/>
                </a:lnTo>
                <a:lnTo>
                  <a:pt x="0" y="16800292"/>
                </a:lnTo>
                <a:lnTo>
                  <a:pt x="0" y="0"/>
                </a:lnTo>
                <a:close/>
              </a:path>
            </a:pathLst>
          </a:custGeom>
          <a:blipFill>
            <a:blip r:embed="rId3"/>
            <a:stretch>
              <a:fillRect/>
            </a:stretch>
          </a:blipFill>
        </p:spPr>
        <p:txBody>
          <a:bodyPr/>
          <a:lstStyle/>
          <a:p>
            <a:endParaRPr/>
          </a:p>
        </p:txBody>
      </p:sp>
      <p:sp>
        <p:nvSpPr>
          <p:cNvPr id="3" name="Freeform 3"/>
          <p:cNvSpPr/>
          <p:nvPr/>
        </p:nvSpPr>
        <p:spPr>
          <a:xfrm>
            <a:off x="12596283" y="8658721"/>
            <a:ext cx="6457129" cy="1628279"/>
          </a:xfrm>
          <a:custGeom>
            <a:avLst/>
            <a:gdLst/>
            <a:ahLst/>
            <a:cxnLst/>
            <a:rect l="l" t="t" r="r" b="b"/>
            <a:pathLst>
              <a:path w="6457129" h="1628279">
                <a:moveTo>
                  <a:pt x="0" y="0"/>
                </a:moveTo>
                <a:lnTo>
                  <a:pt x="6457129" y="0"/>
                </a:lnTo>
                <a:lnTo>
                  <a:pt x="6457129" y="1628279"/>
                </a:lnTo>
                <a:lnTo>
                  <a:pt x="0" y="1628279"/>
                </a:lnTo>
                <a:lnTo>
                  <a:pt x="0" y="0"/>
                </a:lnTo>
                <a:close/>
              </a:path>
            </a:pathLst>
          </a:custGeom>
          <a:blipFill>
            <a:blip r:embed="rId4"/>
            <a:stretch>
              <a:fillRect t="-85078" b="-85078"/>
            </a:stretch>
          </a:blipFill>
        </p:spPr>
        <p:txBody>
          <a:bodyPr/>
          <a:lstStyle/>
          <a:p>
            <a:endParaRPr/>
          </a:p>
        </p:txBody>
      </p:sp>
      <p:sp>
        <p:nvSpPr>
          <p:cNvPr id="4" name="Freeform 4"/>
          <p:cNvSpPr/>
          <p:nvPr/>
        </p:nvSpPr>
        <p:spPr>
          <a:xfrm>
            <a:off x="0" y="8072991"/>
            <a:ext cx="2839033" cy="2839033"/>
          </a:xfrm>
          <a:custGeom>
            <a:avLst/>
            <a:gdLst/>
            <a:ahLst/>
            <a:cxnLst/>
            <a:rect l="l" t="t" r="r" b="b"/>
            <a:pathLst>
              <a:path w="2839033" h="2839033">
                <a:moveTo>
                  <a:pt x="0" y="0"/>
                </a:moveTo>
                <a:lnTo>
                  <a:pt x="2839033" y="0"/>
                </a:lnTo>
                <a:lnTo>
                  <a:pt x="2839033" y="2839033"/>
                </a:lnTo>
                <a:lnTo>
                  <a:pt x="0" y="2839033"/>
                </a:lnTo>
                <a:lnTo>
                  <a:pt x="0" y="0"/>
                </a:lnTo>
                <a:close/>
              </a:path>
            </a:pathLst>
          </a:custGeom>
          <a:blipFill>
            <a:blip r:embed="rId5"/>
            <a:stretch>
              <a:fillRect/>
            </a:stretch>
          </a:blipFill>
        </p:spPr>
        <p:txBody>
          <a:bodyPr/>
          <a:lstStyle/>
          <a:p>
            <a:endParaRPr/>
          </a:p>
        </p:txBody>
      </p:sp>
      <p:sp>
        <p:nvSpPr>
          <p:cNvPr id="5" name="TextBox 4"/>
          <p:cNvSpPr txBox="1"/>
          <p:nvPr/>
        </p:nvSpPr>
        <p:spPr>
          <a:xfrm>
            <a:off x="1143000" y="841248"/>
            <a:ext cx="10972800" cy="292608"/>
          </a:xfrm>
          <a:prstGeom prst="rect">
            <a:avLst/>
          </a:prstGeom>
          <a:noFill/>
        </p:spPr>
        <p:txBody>
          <a:bodyPr wrap="square" lIns="0" tIns="0" rIns="0" bIns="0" anchor="t">
            <a:noAutofit/>
          </a:bodyPr>
          <a:lstStyle/>
          <a:p>
            <a:pPr algn="l">
              <a:lnSpc>
                <a:spcPct val="105000"/>
              </a:lnSpc>
              <a:spcAft>
                <a:spcPts val="0"/>
              </a:spcAft>
            </a:pPr>
            <a:r>
              <a:rPr sz="1000" b="1" i="0">
                <a:solidFill>
                  <a:srgbClr val="A6F26B"/>
                </a:solidFill>
                <a:latin typeface="Avenir Next"/>
              </a:rPr>
              <a:t>MODELLING</a:t>
            </a:r>
          </a:p>
        </p:txBody>
      </p:sp>
      <p:sp>
        <p:nvSpPr>
          <p:cNvPr id="6" name="TextBox 5"/>
          <p:cNvSpPr txBox="1"/>
          <p:nvPr/>
        </p:nvSpPr>
        <p:spPr>
          <a:xfrm>
            <a:off x="1097280" y="1124712"/>
            <a:ext cx="13075920" cy="676656"/>
          </a:xfrm>
          <a:prstGeom prst="rect">
            <a:avLst/>
          </a:prstGeom>
          <a:noFill/>
        </p:spPr>
        <p:txBody>
          <a:bodyPr wrap="square" lIns="0" tIns="0" rIns="0" bIns="0" anchor="t">
            <a:noAutofit/>
          </a:bodyPr>
          <a:lstStyle/>
          <a:p>
            <a:pPr algn="l">
              <a:lnSpc>
                <a:spcPct val="98000"/>
              </a:lnSpc>
              <a:spcAft>
                <a:spcPts val="0"/>
              </a:spcAft>
            </a:pPr>
            <a:r>
              <a:rPr sz="3300" b="1" i="0">
                <a:solidFill>
                  <a:srgbClr val="F4FFFA"/>
                </a:solidFill>
                <a:latin typeface="Avenir Next"/>
              </a:rPr>
              <a:t>A small, auditable pipeline.</a:t>
            </a:r>
          </a:p>
        </p:txBody>
      </p:sp>
      <p:sp>
        <p:nvSpPr>
          <p:cNvPr id="7" name="TextBox 6"/>
          <p:cNvSpPr txBox="1"/>
          <p:nvPr/>
        </p:nvSpPr>
        <p:spPr>
          <a:xfrm>
            <a:off x="1143000" y="1865376"/>
            <a:ext cx="13258800" cy="502920"/>
          </a:xfrm>
          <a:prstGeom prst="rect">
            <a:avLst/>
          </a:prstGeom>
          <a:noFill/>
        </p:spPr>
        <p:txBody>
          <a:bodyPr wrap="square" lIns="0" tIns="0" rIns="0" bIns="0" anchor="t">
            <a:noAutofit/>
          </a:bodyPr>
          <a:lstStyle/>
          <a:p>
            <a:pPr algn="l">
              <a:lnSpc>
                <a:spcPct val="110000"/>
              </a:lnSpc>
              <a:spcAft>
                <a:spcPts val="0"/>
              </a:spcAft>
            </a:pPr>
            <a:r>
              <a:rPr sz="1400" b="0" i="0">
                <a:solidFill>
                  <a:srgbClr val="ADC9BE"/>
                </a:solidFill>
                <a:latin typeface="Avenir Next"/>
              </a:rPr>
              <a:t>Cleaning, features, time-ordered split, training and evaluation — all in the repository.</a:t>
            </a:r>
          </a:p>
        </p:txBody>
      </p:sp>
      <p:sp>
        <p:nvSpPr>
          <p:cNvPr id="8" name="Rectangle 7"/>
          <p:cNvSpPr/>
          <p:nvPr/>
        </p:nvSpPr>
        <p:spPr>
          <a:xfrm>
            <a:off x="1143000" y="2542032"/>
            <a:ext cx="1143000" cy="41148"/>
          </a:xfrm>
          <a:prstGeom prst="rect">
            <a:avLst/>
          </a:prstGeom>
          <a:solidFill>
            <a:srgbClr val="A6F2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ounded Rectangle 8"/>
          <p:cNvSpPr/>
          <p:nvPr/>
        </p:nvSpPr>
        <p:spPr>
          <a:xfrm>
            <a:off x="14127480" y="1143000"/>
            <a:ext cx="3017520" cy="347472"/>
          </a:xfrm>
          <a:prstGeom prst="roundRect">
            <a:avLst>
              <a:gd name="adj" fmla="val 50000"/>
            </a:avLst>
          </a:prstGeom>
          <a:solidFill>
            <a:srgbClr val="0A221B"/>
          </a:solidFill>
          <a:ln w="8890">
            <a:solidFill>
              <a:srgbClr val="A6F26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14164055" y="1161288"/>
            <a:ext cx="2944368" cy="310896"/>
          </a:xfrm>
          <a:prstGeom prst="rect">
            <a:avLst/>
          </a:prstGeom>
          <a:noFill/>
        </p:spPr>
        <p:txBody>
          <a:bodyPr wrap="square" lIns="9144" tIns="0" rIns="9144" bIns="0" anchor="ctr">
            <a:noAutofit/>
          </a:bodyPr>
          <a:lstStyle/>
          <a:p>
            <a:pPr algn="ctr">
              <a:lnSpc>
                <a:spcPct val="105000"/>
              </a:lnSpc>
              <a:spcAft>
                <a:spcPts val="0"/>
              </a:spcAft>
            </a:pPr>
            <a:r>
              <a:rPr sz="819" b="1" i="0">
                <a:solidFill>
                  <a:srgbClr val="A6F26B"/>
                </a:solidFill>
                <a:latin typeface="Avenir Next"/>
              </a:rPr>
              <a:t>IMPLEMENTED</a:t>
            </a:r>
          </a:p>
        </p:txBody>
      </p:sp>
      <p:sp>
        <p:nvSpPr>
          <p:cNvPr id="11" name="Rounded Rectangle 10"/>
          <p:cNvSpPr/>
          <p:nvPr/>
        </p:nvSpPr>
        <p:spPr>
          <a:xfrm>
            <a:off x="1143000" y="2834640"/>
            <a:ext cx="2907792" cy="1005840"/>
          </a:xfrm>
          <a:prstGeom prst="roundRect">
            <a:avLst>
              <a:gd name="adj" fmla="val 8000"/>
            </a:avLst>
          </a:prstGeom>
          <a:solidFill>
            <a:srgbClr val="071813"/>
          </a:solidFill>
          <a:ln w="10160">
            <a:solidFill>
              <a:srgbClr val="A6F26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1289304" y="2980944"/>
            <a:ext cx="2606040" cy="256032"/>
          </a:xfrm>
          <a:prstGeom prst="rect">
            <a:avLst/>
          </a:prstGeom>
          <a:noFill/>
        </p:spPr>
        <p:txBody>
          <a:bodyPr wrap="square" lIns="18288" tIns="18288" rIns="18288" bIns="18288" anchor="t">
            <a:noAutofit/>
          </a:bodyPr>
          <a:lstStyle/>
          <a:p>
            <a:pPr algn="l">
              <a:lnSpc>
                <a:spcPct val="105000"/>
              </a:lnSpc>
              <a:spcAft>
                <a:spcPts val="0"/>
              </a:spcAft>
            </a:pPr>
            <a:r>
              <a:rPr sz="1130" b="1" i="0">
                <a:solidFill>
                  <a:srgbClr val="A6F26B"/>
                </a:solidFill>
                <a:latin typeface="Avenir Next"/>
              </a:rPr>
              <a:t>CLEAN</a:t>
            </a:r>
          </a:p>
        </p:txBody>
      </p:sp>
      <p:sp>
        <p:nvSpPr>
          <p:cNvPr id="13" name="TextBox 12"/>
          <p:cNvSpPr txBox="1"/>
          <p:nvPr/>
        </p:nvSpPr>
        <p:spPr>
          <a:xfrm>
            <a:off x="1289304" y="3310128"/>
            <a:ext cx="2606040" cy="438912"/>
          </a:xfrm>
          <a:prstGeom prst="rect">
            <a:avLst/>
          </a:prstGeom>
          <a:noFill/>
        </p:spPr>
        <p:txBody>
          <a:bodyPr wrap="square" lIns="18288" tIns="18288" rIns="18288" bIns="18288" anchor="t">
            <a:noAutofit/>
          </a:bodyPr>
          <a:lstStyle/>
          <a:p>
            <a:pPr algn="l">
              <a:lnSpc>
                <a:spcPct val="105000"/>
              </a:lnSpc>
              <a:spcAft>
                <a:spcPts val="0"/>
              </a:spcAft>
            </a:pPr>
            <a:r>
              <a:rPr sz="850" b="0" i="0">
                <a:solidFill>
                  <a:srgbClr val="ADC9BE"/>
                </a:solidFill>
                <a:latin typeface="Avenir Next"/>
              </a:rPr>
              <a:t>range · missing
stale · ordering</a:t>
            </a:r>
          </a:p>
        </p:txBody>
      </p:sp>
      <p:sp>
        <p:nvSpPr>
          <p:cNvPr id="14" name="Right Arrow 13"/>
          <p:cNvSpPr/>
          <p:nvPr/>
        </p:nvSpPr>
        <p:spPr>
          <a:xfrm>
            <a:off x="4069080" y="3273552"/>
            <a:ext cx="219456" cy="201168"/>
          </a:xfrm>
          <a:prstGeom prst="rightArrow">
            <a:avLst/>
          </a:prstGeom>
          <a:solidFill>
            <a:srgbClr val="A6F2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Rounded Rectangle 14"/>
          <p:cNvSpPr/>
          <p:nvPr/>
        </p:nvSpPr>
        <p:spPr>
          <a:xfrm>
            <a:off x="4361688" y="2834640"/>
            <a:ext cx="2907792" cy="1005840"/>
          </a:xfrm>
          <a:prstGeom prst="roundRect">
            <a:avLst>
              <a:gd name="adj" fmla="val 8000"/>
            </a:avLst>
          </a:prstGeom>
          <a:solidFill>
            <a:srgbClr val="071813"/>
          </a:solidFill>
          <a:ln w="10160">
            <a:solidFill>
              <a:srgbClr val="A6F26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4507992" y="2980944"/>
            <a:ext cx="2606040" cy="256032"/>
          </a:xfrm>
          <a:prstGeom prst="rect">
            <a:avLst/>
          </a:prstGeom>
          <a:noFill/>
        </p:spPr>
        <p:txBody>
          <a:bodyPr wrap="square" lIns="18288" tIns="18288" rIns="18288" bIns="18288" anchor="t">
            <a:noAutofit/>
          </a:bodyPr>
          <a:lstStyle/>
          <a:p>
            <a:pPr algn="l">
              <a:lnSpc>
                <a:spcPct val="105000"/>
              </a:lnSpc>
              <a:spcAft>
                <a:spcPts val="0"/>
              </a:spcAft>
            </a:pPr>
            <a:r>
              <a:rPr sz="1130" b="1" i="0">
                <a:solidFill>
                  <a:srgbClr val="A6F26B"/>
                </a:solidFill>
                <a:latin typeface="Avenir Next"/>
              </a:rPr>
              <a:t>FEATURES</a:t>
            </a:r>
          </a:p>
        </p:txBody>
      </p:sp>
      <p:sp>
        <p:nvSpPr>
          <p:cNvPr id="17" name="TextBox 16"/>
          <p:cNvSpPr txBox="1"/>
          <p:nvPr/>
        </p:nvSpPr>
        <p:spPr>
          <a:xfrm>
            <a:off x="4507992" y="3310128"/>
            <a:ext cx="2606040" cy="438912"/>
          </a:xfrm>
          <a:prstGeom prst="rect">
            <a:avLst/>
          </a:prstGeom>
          <a:noFill/>
        </p:spPr>
        <p:txBody>
          <a:bodyPr wrap="square" lIns="18288" tIns="18288" rIns="18288" bIns="18288" anchor="t">
            <a:noAutofit/>
          </a:bodyPr>
          <a:lstStyle/>
          <a:p>
            <a:pPr algn="l">
              <a:lnSpc>
                <a:spcPct val="105000"/>
              </a:lnSpc>
              <a:spcAft>
                <a:spcPts val="0"/>
              </a:spcAft>
            </a:pPr>
            <a:r>
              <a:rPr sz="850" b="0" i="0">
                <a:solidFill>
                  <a:srgbClr val="ADC9BE"/>
                </a:solidFill>
                <a:latin typeface="Avenir Next"/>
              </a:rPr>
              <a:t>soil deltas · rain
hour-of-day</a:t>
            </a:r>
          </a:p>
        </p:txBody>
      </p:sp>
      <p:sp>
        <p:nvSpPr>
          <p:cNvPr id="18" name="Right Arrow 17"/>
          <p:cNvSpPr/>
          <p:nvPr/>
        </p:nvSpPr>
        <p:spPr>
          <a:xfrm>
            <a:off x="7287768" y="3273552"/>
            <a:ext cx="219456" cy="201168"/>
          </a:xfrm>
          <a:prstGeom prst="rightArrow">
            <a:avLst/>
          </a:prstGeom>
          <a:solidFill>
            <a:srgbClr val="A6F2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Rounded Rectangle 18"/>
          <p:cNvSpPr/>
          <p:nvPr/>
        </p:nvSpPr>
        <p:spPr>
          <a:xfrm>
            <a:off x="7580375" y="2834640"/>
            <a:ext cx="2907792" cy="1005840"/>
          </a:xfrm>
          <a:prstGeom prst="roundRect">
            <a:avLst>
              <a:gd name="adj" fmla="val 8000"/>
            </a:avLst>
          </a:prstGeom>
          <a:solidFill>
            <a:srgbClr val="071813"/>
          </a:solidFill>
          <a:ln w="10160">
            <a:solidFill>
              <a:srgbClr val="A6F26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7726679" y="2980944"/>
            <a:ext cx="2606040" cy="256032"/>
          </a:xfrm>
          <a:prstGeom prst="rect">
            <a:avLst/>
          </a:prstGeom>
          <a:noFill/>
        </p:spPr>
        <p:txBody>
          <a:bodyPr wrap="square" lIns="18288" tIns="18288" rIns="18288" bIns="18288" anchor="t">
            <a:noAutofit/>
          </a:bodyPr>
          <a:lstStyle/>
          <a:p>
            <a:pPr algn="l">
              <a:lnSpc>
                <a:spcPct val="105000"/>
              </a:lnSpc>
              <a:spcAft>
                <a:spcPts val="0"/>
              </a:spcAft>
            </a:pPr>
            <a:r>
              <a:rPr sz="1130" b="1" i="0">
                <a:solidFill>
                  <a:srgbClr val="A6F26B"/>
                </a:solidFill>
                <a:latin typeface="Avenir Next"/>
              </a:rPr>
              <a:t>SPLIT</a:t>
            </a:r>
          </a:p>
        </p:txBody>
      </p:sp>
      <p:sp>
        <p:nvSpPr>
          <p:cNvPr id="21" name="TextBox 20"/>
          <p:cNvSpPr txBox="1"/>
          <p:nvPr/>
        </p:nvSpPr>
        <p:spPr>
          <a:xfrm>
            <a:off x="7726679" y="3310128"/>
            <a:ext cx="2606040" cy="438912"/>
          </a:xfrm>
          <a:prstGeom prst="rect">
            <a:avLst/>
          </a:prstGeom>
          <a:noFill/>
        </p:spPr>
        <p:txBody>
          <a:bodyPr wrap="square" lIns="18288" tIns="18288" rIns="18288" bIns="18288" anchor="t">
            <a:noAutofit/>
          </a:bodyPr>
          <a:lstStyle/>
          <a:p>
            <a:pPr algn="l">
              <a:lnSpc>
                <a:spcPct val="105000"/>
              </a:lnSpc>
              <a:spcAft>
                <a:spcPts val="0"/>
              </a:spcAft>
            </a:pPr>
            <a:r>
              <a:rPr sz="850" b="0" i="0">
                <a:solidFill>
                  <a:srgbClr val="ADC9BE"/>
                </a:solidFill>
                <a:latin typeface="Avenir Next"/>
              </a:rPr>
              <a:t>time-ordered
train / test</a:t>
            </a:r>
          </a:p>
        </p:txBody>
      </p:sp>
      <p:sp>
        <p:nvSpPr>
          <p:cNvPr id="22" name="Right Arrow 21"/>
          <p:cNvSpPr/>
          <p:nvPr/>
        </p:nvSpPr>
        <p:spPr>
          <a:xfrm>
            <a:off x="10506455" y="3273552"/>
            <a:ext cx="219456" cy="201168"/>
          </a:xfrm>
          <a:prstGeom prst="rightArrow">
            <a:avLst/>
          </a:prstGeom>
          <a:solidFill>
            <a:srgbClr val="A6F2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Rounded Rectangle 22"/>
          <p:cNvSpPr/>
          <p:nvPr/>
        </p:nvSpPr>
        <p:spPr>
          <a:xfrm>
            <a:off x="10799064" y="2834640"/>
            <a:ext cx="2907792" cy="1005840"/>
          </a:xfrm>
          <a:prstGeom prst="roundRect">
            <a:avLst>
              <a:gd name="adj" fmla="val 8000"/>
            </a:avLst>
          </a:prstGeom>
          <a:solidFill>
            <a:srgbClr val="071813"/>
          </a:solidFill>
          <a:ln w="10160">
            <a:solidFill>
              <a:srgbClr val="A6F26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10945368" y="2980944"/>
            <a:ext cx="2606040" cy="256032"/>
          </a:xfrm>
          <a:prstGeom prst="rect">
            <a:avLst/>
          </a:prstGeom>
          <a:noFill/>
        </p:spPr>
        <p:txBody>
          <a:bodyPr wrap="square" lIns="18288" tIns="18288" rIns="18288" bIns="18288" anchor="t">
            <a:noAutofit/>
          </a:bodyPr>
          <a:lstStyle/>
          <a:p>
            <a:pPr algn="l">
              <a:lnSpc>
                <a:spcPct val="105000"/>
              </a:lnSpc>
              <a:spcAft>
                <a:spcPts val="0"/>
              </a:spcAft>
            </a:pPr>
            <a:r>
              <a:rPr sz="1130" b="1" i="0">
                <a:solidFill>
                  <a:srgbClr val="A6F26B"/>
                </a:solidFill>
                <a:latin typeface="Avenir Next"/>
              </a:rPr>
              <a:t>TRAIN</a:t>
            </a:r>
          </a:p>
        </p:txBody>
      </p:sp>
      <p:sp>
        <p:nvSpPr>
          <p:cNvPr id="25" name="TextBox 24"/>
          <p:cNvSpPr txBox="1"/>
          <p:nvPr/>
        </p:nvSpPr>
        <p:spPr>
          <a:xfrm>
            <a:off x="10945368" y="3310128"/>
            <a:ext cx="2606040" cy="438912"/>
          </a:xfrm>
          <a:prstGeom prst="rect">
            <a:avLst/>
          </a:prstGeom>
          <a:noFill/>
        </p:spPr>
        <p:txBody>
          <a:bodyPr wrap="square" lIns="18288" tIns="18288" rIns="18288" bIns="18288" anchor="t">
            <a:noAutofit/>
          </a:bodyPr>
          <a:lstStyle/>
          <a:p>
            <a:pPr algn="l">
              <a:lnSpc>
                <a:spcPct val="105000"/>
              </a:lnSpc>
              <a:spcAft>
                <a:spcPts val="0"/>
              </a:spcAft>
            </a:pPr>
            <a:r>
              <a:rPr sz="850" b="0" i="0">
                <a:solidFill>
                  <a:srgbClr val="ADC9BE"/>
                </a:solidFill>
                <a:latin typeface="Avenir Next"/>
              </a:rPr>
              <a:t>forecast · need
anomaly</a:t>
            </a:r>
          </a:p>
        </p:txBody>
      </p:sp>
      <p:sp>
        <p:nvSpPr>
          <p:cNvPr id="26" name="Right Arrow 25"/>
          <p:cNvSpPr/>
          <p:nvPr/>
        </p:nvSpPr>
        <p:spPr>
          <a:xfrm>
            <a:off x="13725144" y="3273552"/>
            <a:ext cx="219456" cy="201168"/>
          </a:xfrm>
          <a:prstGeom prst="rightArrow">
            <a:avLst/>
          </a:prstGeom>
          <a:solidFill>
            <a:srgbClr val="A6F2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Rounded Rectangle 26"/>
          <p:cNvSpPr/>
          <p:nvPr/>
        </p:nvSpPr>
        <p:spPr>
          <a:xfrm>
            <a:off x="14017752" y="2834640"/>
            <a:ext cx="2907792" cy="1005840"/>
          </a:xfrm>
          <a:prstGeom prst="roundRect">
            <a:avLst>
              <a:gd name="adj" fmla="val 8000"/>
            </a:avLst>
          </a:prstGeom>
          <a:solidFill>
            <a:srgbClr val="071813"/>
          </a:solidFill>
          <a:ln w="10160">
            <a:solidFill>
              <a:srgbClr val="A6F26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TextBox 27"/>
          <p:cNvSpPr txBox="1"/>
          <p:nvPr/>
        </p:nvSpPr>
        <p:spPr>
          <a:xfrm>
            <a:off x="14164056" y="2980944"/>
            <a:ext cx="2606040" cy="256032"/>
          </a:xfrm>
          <a:prstGeom prst="rect">
            <a:avLst/>
          </a:prstGeom>
          <a:noFill/>
        </p:spPr>
        <p:txBody>
          <a:bodyPr wrap="square" lIns="18288" tIns="18288" rIns="18288" bIns="18288" anchor="t">
            <a:noAutofit/>
          </a:bodyPr>
          <a:lstStyle/>
          <a:p>
            <a:pPr algn="l">
              <a:lnSpc>
                <a:spcPct val="105000"/>
              </a:lnSpc>
              <a:spcAft>
                <a:spcPts val="0"/>
              </a:spcAft>
            </a:pPr>
            <a:r>
              <a:rPr sz="1130" b="1" i="0">
                <a:solidFill>
                  <a:srgbClr val="A6F26B"/>
                </a:solidFill>
                <a:latin typeface="Avenir Next"/>
              </a:rPr>
              <a:t>EVALUATE</a:t>
            </a:r>
          </a:p>
        </p:txBody>
      </p:sp>
      <p:sp>
        <p:nvSpPr>
          <p:cNvPr id="29" name="TextBox 28"/>
          <p:cNvSpPr txBox="1"/>
          <p:nvPr/>
        </p:nvSpPr>
        <p:spPr>
          <a:xfrm>
            <a:off x="14164056" y="3310128"/>
            <a:ext cx="2606040" cy="438912"/>
          </a:xfrm>
          <a:prstGeom prst="rect">
            <a:avLst/>
          </a:prstGeom>
          <a:noFill/>
        </p:spPr>
        <p:txBody>
          <a:bodyPr wrap="square" lIns="18288" tIns="18288" rIns="18288" bIns="18288" anchor="t">
            <a:noAutofit/>
          </a:bodyPr>
          <a:lstStyle/>
          <a:p>
            <a:pPr algn="l">
              <a:lnSpc>
                <a:spcPct val="105000"/>
              </a:lnSpc>
              <a:spcAft>
                <a:spcPts val="0"/>
              </a:spcAft>
            </a:pPr>
            <a:r>
              <a:rPr sz="850" b="0" i="0">
                <a:solidFill>
                  <a:srgbClr val="ADC9BE"/>
                </a:solidFill>
                <a:latin typeface="Avenir Next"/>
              </a:rPr>
              <a:t>MAE / RMSE
precision / recall</a:t>
            </a:r>
          </a:p>
        </p:txBody>
      </p:sp>
      <p:sp>
        <p:nvSpPr>
          <p:cNvPr id="30" name="Rounded Rectangle 29"/>
          <p:cNvSpPr/>
          <p:nvPr/>
        </p:nvSpPr>
        <p:spPr>
          <a:xfrm>
            <a:off x="1143000" y="4224528"/>
            <a:ext cx="7726679" cy="2057400"/>
          </a:xfrm>
          <a:prstGeom prst="roundRect">
            <a:avLst>
              <a:gd name="adj" fmla="val 8000"/>
            </a:avLst>
          </a:prstGeom>
          <a:solidFill>
            <a:srgbClr val="0A221B"/>
          </a:solidFill>
          <a:ln w="10160">
            <a:solidFill>
              <a:srgbClr val="2C5A4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TextBox 30"/>
          <p:cNvSpPr txBox="1"/>
          <p:nvPr/>
        </p:nvSpPr>
        <p:spPr>
          <a:xfrm>
            <a:off x="1371600" y="4407408"/>
            <a:ext cx="7223760" cy="274320"/>
          </a:xfrm>
          <a:prstGeom prst="rect">
            <a:avLst/>
          </a:prstGeom>
          <a:noFill/>
        </p:spPr>
        <p:txBody>
          <a:bodyPr wrap="square" lIns="18288" tIns="18288" rIns="18288" bIns="18288" anchor="t">
            <a:noAutofit/>
          </a:bodyPr>
          <a:lstStyle/>
          <a:p>
            <a:pPr algn="l">
              <a:lnSpc>
                <a:spcPct val="105000"/>
              </a:lnSpc>
              <a:spcAft>
                <a:spcPts val="0"/>
              </a:spcAft>
            </a:pPr>
            <a:r>
              <a:rPr sz="950" b="1" i="0">
                <a:solidFill>
                  <a:srgbClr val="F5C451"/>
                </a:solidFill>
                <a:latin typeface="Avenir Next"/>
              </a:rPr>
              <a:t>FORECAST</a:t>
            </a:r>
          </a:p>
        </p:txBody>
      </p:sp>
      <p:sp>
        <p:nvSpPr>
          <p:cNvPr id="32" name="TextBox 31"/>
          <p:cNvSpPr txBox="1"/>
          <p:nvPr/>
        </p:nvSpPr>
        <p:spPr>
          <a:xfrm>
            <a:off x="1371600" y="4718304"/>
            <a:ext cx="7223760" cy="310896"/>
          </a:xfrm>
          <a:prstGeom prst="rect">
            <a:avLst/>
          </a:prstGeom>
          <a:noFill/>
        </p:spPr>
        <p:txBody>
          <a:bodyPr wrap="square" lIns="18288" tIns="18288" rIns="18288" bIns="18288" anchor="t">
            <a:noAutofit/>
          </a:bodyPr>
          <a:lstStyle/>
          <a:p>
            <a:pPr algn="l">
              <a:lnSpc>
                <a:spcPct val="105000"/>
              </a:lnSpc>
              <a:spcAft>
                <a:spcPts val="0"/>
              </a:spcAft>
            </a:pPr>
            <a:r>
              <a:rPr sz="1320" b="1" i="0">
                <a:solidFill>
                  <a:srgbClr val="F4FFFA"/>
                </a:solidFill>
                <a:latin typeface="Avenir Next"/>
              </a:rPr>
              <a:t>GradientBoostingRegressor</a:t>
            </a:r>
          </a:p>
        </p:txBody>
      </p:sp>
      <p:sp>
        <p:nvSpPr>
          <p:cNvPr id="33" name="TextBox 32"/>
          <p:cNvSpPr txBox="1"/>
          <p:nvPr/>
        </p:nvSpPr>
        <p:spPr>
          <a:xfrm>
            <a:off x="1371600" y="5102352"/>
            <a:ext cx="7223760" cy="1005840"/>
          </a:xfrm>
          <a:prstGeom prst="rect">
            <a:avLst/>
          </a:prstGeom>
          <a:noFill/>
        </p:spPr>
        <p:txBody>
          <a:bodyPr wrap="square" lIns="18288" tIns="18288" rIns="18288" bIns="18288" anchor="t">
            <a:noAutofit/>
          </a:bodyPr>
          <a:lstStyle/>
          <a:p>
            <a:pPr algn="l">
              <a:lnSpc>
                <a:spcPct val="110000"/>
              </a:lnSpc>
              <a:spcAft>
                <a:spcPts val="0"/>
              </a:spcAft>
            </a:pPr>
            <a:r>
              <a:rPr sz="980" b="0" i="0">
                <a:solidFill>
                  <a:srgbClr val="ADC9BE"/>
                </a:solidFill>
                <a:latin typeface="Avenir Next"/>
              </a:rPr>
              <a:t>10 features · 36-step horizon · persistence baseline · MAE and RMSE on a held-out time block.</a:t>
            </a:r>
          </a:p>
        </p:txBody>
      </p:sp>
      <p:sp>
        <p:nvSpPr>
          <p:cNvPr id="34" name="Rounded Rectangle 33"/>
          <p:cNvSpPr/>
          <p:nvPr/>
        </p:nvSpPr>
        <p:spPr>
          <a:xfrm>
            <a:off x="9098280" y="4224528"/>
            <a:ext cx="7909560" cy="2057400"/>
          </a:xfrm>
          <a:prstGeom prst="roundRect">
            <a:avLst>
              <a:gd name="adj" fmla="val 8000"/>
            </a:avLst>
          </a:prstGeom>
          <a:solidFill>
            <a:srgbClr val="0A221B"/>
          </a:solidFill>
          <a:ln w="10160">
            <a:solidFill>
              <a:srgbClr val="2C5A4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TextBox 34"/>
          <p:cNvSpPr txBox="1"/>
          <p:nvPr/>
        </p:nvSpPr>
        <p:spPr>
          <a:xfrm>
            <a:off x="9326880" y="4407408"/>
            <a:ext cx="7406640" cy="274320"/>
          </a:xfrm>
          <a:prstGeom prst="rect">
            <a:avLst/>
          </a:prstGeom>
          <a:noFill/>
        </p:spPr>
        <p:txBody>
          <a:bodyPr wrap="square" lIns="18288" tIns="18288" rIns="18288" bIns="18288" anchor="t">
            <a:noAutofit/>
          </a:bodyPr>
          <a:lstStyle/>
          <a:p>
            <a:pPr algn="l">
              <a:lnSpc>
                <a:spcPct val="105000"/>
              </a:lnSpc>
              <a:spcAft>
                <a:spcPts val="0"/>
              </a:spcAft>
            </a:pPr>
            <a:r>
              <a:rPr sz="950" b="1" i="0">
                <a:solidFill>
                  <a:srgbClr val="59D7F0"/>
                </a:solidFill>
                <a:latin typeface="Avenir Next"/>
              </a:rPr>
              <a:t>NEED + ANOMALY</a:t>
            </a:r>
          </a:p>
        </p:txBody>
      </p:sp>
      <p:sp>
        <p:nvSpPr>
          <p:cNvPr id="36" name="TextBox 35"/>
          <p:cNvSpPr txBox="1"/>
          <p:nvPr/>
        </p:nvSpPr>
        <p:spPr>
          <a:xfrm>
            <a:off x="9326880" y="4718304"/>
            <a:ext cx="7406640" cy="310896"/>
          </a:xfrm>
          <a:prstGeom prst="rect">
            <a:avLst/>
          </a:prstGeom>
          <a:noFill/>
        </p:spPr>
        <p:txBody>
          <a:bodyPr wrap="square" lIns="18288" tIns="18288" rIns="18288" bIns="18288" anchor="t">
            <a:noAutofit/>
          </a:bodyPr>
          <a:lstStyle/>
          <a:p>
            <a:pPr algn="l">
              <a:lnSpc>
                <a:spcPct val="105000"/>
              </a:lnSpc>
              <a:spcAft>
                <a:spcPts val="0"/>
              </a:spcAft>
            </a:pPr>
            <a:r>
              <a:rPr sz="1320" b="1" i="0">
                <a:solidFill>
                  <a:srgbClr val="F4FFFA"/>
                </a:solidFill>
                <a:latin typeface="Avenir Next"/>
              </a:rPr>
              <a:t>RandomForest + IsolationForest</a:t>
            </a:r>
          </a:p>
        </p:txBody>
      </p:sp>
      <p:sp>
        <p:nvSpPr>
          <p:cNvPr id="37" name="TextBox 36"/>
          <p:cNvSpPr txBox="1"/>
          <p:nvPr/>
        </p:nvSpPr>
        <p:spPr>
          <a:xfrm>
            <a:off x="9326880" y="5102352"/>
            <a:ext cx="7406640" cy="1005840"/>
          </a:xfrm>
          <a:prstGeom prst="rect">
            <a:avLst/>
          </a:prstGeom>
          <a:noFill/>
        </p:spPr>
        <p:txBody>
          <a:bodyPr wrap="square" lIns="18288" tIns="18288" rIns="18288" bIns="18288" anchor="t">
            <a:noAutofit/>
          </a:bodyPr>
          <a:lstStyle/>
          <a:p>
            <a:pPr algn="l">
              <a:lnSpc>
                <a:spcPct val="110000"/>
              </a:lnSpc>
              <a:spcAft>
                <a:spcPts val="0"/>
              </a:spcAft>
            </a:pPr>
            <a:r>
              <a:rPr sz="980" b="0" i="0">
                <a:solidFill>
                  <a:srgbClr val="ADC9BE"/>
                </a:solidFill>
                <a:latin typeface="Avenir Next"/>
              </a:rPr>
              <a:t>Balanced class weights for Low / Medium / High. Isolation Forest is trained on normal sensor behaviour only.</a:t>
            </a:r>
          </a:p>
        </p:txBody>
      </p:sp>
      <p:sp>
        <p:nvSpPr>
          <p:cNvPr id="38" name="Rounded Rectangle 37"/>
          <p:cNvSpPr/>
          <p:nvPr/>
        </p:nvSpPr>
        <p:spPr>
          <a:xfrm>
            <a:off x="1143000" y="6565392"/>
            <a:ext cx="15864840" cy="804672"/>
          </a:xfrm>
          <a:prstGeom prst="roundRect">
            <a:avLst>
              <a:gd name="adj" fmla="val 8000"/>
            </a:avLst>
          </a:prstGeom>
          <a:solidFill>
            <a:srgbClr val="102C23"/>
          </a:solidFill>
          <a:ln w="10160">
            <a:solidFill>
              <a:srgbClr val="59D7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9" name="TextBox 38"/>
          <p:cNvSpPr txBox="1"/>
          <p:nvPr/>
        </p:nvSpPr>
        <p:spPr>
          <a:xfrm>
            <a:off x="1417320" y="6711696"/>
            <a:ext cx="15316200" cy="475488"/>
          </a:xfrm>
          <a:prstGeom prst="rect">
            <a:avLst/>
          </a:prstGeom>
          <a:noFill/>
        </p:spPr>
        <p:txBody>
          <a:bodyPr wrap="square" lIns="18288" tIns="18288" rIns="18288" bIns="18288" anchor="t">
            <a:noAutofit/>
          </a:bodyPr>
          <a:lstStyle/>
          <a:p>
            <a:pPr algn="l">
              <a:lnSpc>
                <a:spcPct val="105000"/>
              </a:lnSpc>
              <a:spcAft>
                <a:spcPts val="0"/>
              </a:spcAft>
            </a:pPr>
            <a:r>
              <a:rPr sz="1100" b="1" i="0">
                <a:solidFill>
                  <a:srgbClr val="F4FFFA"/>
                </a:solidFill>
                <a:latin typeface="Avenir Next"/>
              </a:rPr>
              <a:t>No future leakage: the split is chronological. Missing values are limited-interpolated and forward-filled before feature construction.</a:t>
            </a:r>
          </a:p>
        </p:txBody>
      </p:sp>
      <p:sp>
        <p:nvSpPr>
          <p:cNvPr id="40" name="TextBox 39"/>
          <p:cNvSpPr txBox="1"/>
          <p:nvPr/>
        </p:nvSpPr>
        <p:spPr>
          <a:xfrm>
            <a:off x="1143000" y="7589520"/>
            <a:ext cx="15910559" cy="256032"/>
          </a:xfrm>
          <a:prstGeom prst="rect">
            <a:avLst/>
          </a:prstGeom>
          <a:noFill/>
        </p:spPr>
        <p:txBody>
          <a:bodyPr wrap="square" lIns="18288" tIns="18288" rIns="18288" bIns="18288" anchor="t">
            <a:noAutofit/>
          </a:bodyPr>
          <a:lstStyle/>
          <a:p>
            <a:pPr algn="l">
              <a:lnSpc>
                <a:spcPct val="105000"/>
              </a:lnSpc>
              <a:spcAft>
                <a:spcPts val="0"/>
              </a:spcAft>
            </a:pPr>
            <a:r>
              <a:rPr sz="860" b="0" i="0">
                <a:solidFill>
                  <a:srgbClr val="7CA091"/>
                </a:solidFill>
                <a:latin typeface="Avenir Next"/>
              </a:rPr>
              <a:t>Training code: ai_service/train.py  ·  Serving: ai_service/app/main.py</a:t>
            </a:r>
          </a:p>
        </p:txBody>
      </p:sp>
      <p:sp>
        <p:nvSpPr>
          <p:cNvPr id="41" name="TextBox 40"/>
          <p:cNvSpPr txBox="1"/>
          <p:nvPr/>
        </p:nvSpPr>
        <p:spPr>
          <a:xfrm>
            <a:off x="4983480" y="9619488"/>
            <a:ext cx="5852160" cy="228600"/>
          </a:xfrm>
          <a:prstGeom prst="rect">
            <a:avLst/>
          </a:prstGeom>
          <a:noFill/>
        </p:spPr>
        <p:txBody>
          <a:bodyPr wrap="square" lIns="0" tIns="0" rIns="0" bIns="0" anchor="t">
            <a:noAutofit/>
          </a:bodyPr>
          <a:lstStyle/>
          <a:p>
            <a:pPr algn="l">
              <a:lnSpc>
                <a:spcPct val="105000"/>
              </a:lnSpc>
              <a:spcAft>
                <a:spcPts val="0"/>
              </a:spcAft>
            </a:pPr>
            <a:r>
              <a:rPr sz="819" b="0" i="0">
                <a:solidFill>
                  <a:srgbClr val="7CA091"/>
                </a:solidFill>
                <a:latin typeface="Avenir Next"/>
              </a:rPr>
              <a:t>TrustFarm  ·  INNOVA 2026  ·  ICBT</a:t>
            </a:r>
          </a:p>
        </p:txBody>
      </p:sp>
      <p:sp>
        <p:nvSpPr>
          <p:cNvPr id="42" name="TextBox 41"/>
          <p:cNvSpPr txBox="1"/>
          <p:nvPr/>
        </p:nvSpPr>
        <p:spPr>
          <a:xfrm>
            <a:off x="11018520" y="9619488"/>
            <a:ext cx="1234440" cy="228600"/>
          </a:xfrm>
          <a:prstGeom prst="rect">
            <a:avLst/>
          </a:prstGeom>
          <a:noFill/>
        </p:spPr>
        <p:txBody>
          <a:bodyPr wrap="square" lIns="0" tIns="0" rIns="0" bIns="0" anchor="t">
            <a:noAutofit/>
          </a:bodyPr>
          <a:lstStyle/>
          <a:p>
            <a:pPr algn="r">
              <a:lnSpc>
                <a:spcPct val="105000"/>
              </a:lnSpc>
              <a:spcAft>
                <a:spcPts val="0"/>
              </a:spcAft>
            </a:pPr>
            <a:r>
              <a:rPr sz="819" b="0" i="0">
                <a:solidFill>
                  <a:srgbClr val="7CA091"/>
                </a:solidFill>
                <a:latin typeface="Avenir Next"/>
              </a:rPr>
              <a:t>19 / 25</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rgbClr val="1A1D1C"/>
        </a:solidFill>
        <a:effectLst/>
      </p:bgPr>
    </p:bg>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25192566" h="16800292">
                <a:moveTo>
                  <a:pt x="0" y="0"/>
                </a:moveTo>
                <a:lnTo>
                  <a:pt x="25192566" y="0"/>
                </a:lnTo>
                <a:lnTo>
                  <a:pt x="25192566" y="16800292"/>
                </a:lnTo>
                <a:lnTo>
                  <a:pt x="0" y="16800292"/>
                </a:lnTo>
                <a:lnTo>
                  <a:pt x="0" y="0"/>
                </a:lnTo>
                <a:close/>
              </a:path>
            </a:pathLst>
          </a:custGeom>
          <a:blipFill>
            <a:blip r:embed="rId3"/>
            <a:stretch>
              <a:fillRect/>
            </a:stretch>
          </a:blipFill>
        </p:spPr>
        <p:txBody>
          <a:bodyPr/>
          <a:lstStyle/>
          <a:p>
            <a:endParaRPr/>
          </a:p>
        </p:txBody>
      </p:sp>
      <p:sp>
        <p:nvSpPr>
          <p:cNvPr id="3" name="Freeform 3"/>
          <p:cNvSpPr/>
          <p:nvPr/>
        </p:nvSpPr>
        <p:spPr>
          <a:xfrm>
            <a:off x="12596283" y="8658721"/>
            <a:ext cx="6457129" cy="1628279"/>
          </a:xfrm>
          <a:custGeom>
            <a:avLst/>
            <a:gdLst/>
            <a:ahLst/>
            <a:cxnLst/>
            <a:rect l="l" t="t" r="r" b="b"/>
            <a:pathLst>
              <a:path w="6457129" h="1628279">
                <a:moveTo>
                  <a:pt x="0" y="0"/>
                </a:moveTo>
                <a:lnTo>
                  <a:pt x="6457129" y="0"/>
                </a:lnTo>
                <a:lnTo>
                  <a:pt x="6457129" y="1628279"/>
                </a:lnTo>
                <a:lnTo>
                  <a:pt x="0" y="1628279"/>
                </a:lnTo>
                <a:lnTo>
                  <a:pt x="0" y="0"/>
                </a:lnTo>
                <a:close/>
              </a:path>
            </a:pathLst>
          </a:custGeom>
          <a:blipFill>
            <a:blip r:embed="rId4"/>
            <a:stretch>
              <a:fillRect t="-85078" b="-85078"/>
            </a:stretch>
          </a:blipFill>
        </p:spPr>
        <p:txBody>
          <a:bodyPr/>
          <a:lstStyle/>
          <a:p>
            <a:endParaRPr/>
          </a:p>
        </p:txBody>
      </p:sp>
      <p:sp>
        <p:nvSpPr>
          <p:cNvPr id="4" name="Freeform 4"/>
          <p:cNvSpPr/>
          <p:nvPr/>
        </p:nvSpPr>
        <p:spPr>
          <a:xfrm>
            <a:off x="0" y="8072991"/>
            <a:ext cx="2839033" cy="2839033"/>
          </a:xfrm>
          <a:custGeom>
            <a:avLst/>
            <a:gdLst/>
            <a:ahLst/>
            <a:cxnLst/>
            <a:rect l="l" t="t" r="r" b="b"/>
            <a:pathLst>
              <a:path w="2839033" h="2839033">
                <a:moveTo>
                  <a:pt x="0" y="0"/>
                </a:moveTo>
                <a:lnTo>
                  <a:pt x="2839033" y="0"/>
                </a:lnTo>
                <a:lnTo>
                  <a:pt x="2839033" y="2839033"/>
                </a:lnTo>
                <a:lnTo>
                  <a:pt x="0" y="2839033"/>
                </a:lnTo>
                <a:lnTo>
                  <a:pt x="0" y="0"/>
                </a:lnTo>
                <a:close/>
              </a:path>
            </a:pathLst>
          </a:custGeom>
          <a:blipFill>
            <a:blip r:embed="rId5"/>
            <a:stretch>
              <a:fillRect/>
            </a:stretch>
          </a:blipFill>
        </p:spPr>
        <p:txBody>
          <a:bodyPr/>
          <a:lstStyle/>
          <a:p>
            <a:endParaRPr/>
          </a:p>
        </p:txBody>
      </p:sp>
      <p:sp>
        <p:nvSpPr>
          <p:cNvPr id="5" name="TextBox 4"/>
          <p:cNvSpPr txBox="1"/>
          <p:nvPr/>
        </p:nvSpPr>
        <p:spPr>
          <a:xfrm>
            <a:off x="1143000" y="841248"/>
            <a:ext cx="10972800" cy="292608"/>
          </a:xfrm>
          <a:prstGeom prst="rect">
            <a:avLst/>
          </a:prstGeom>
          <a:noFill/>
        </p:spPr>
        <p:txBody>
          <a:bodyPr wrap="square" lIns="0" tIns="0" rIns="0" bIns="0" anchor="t">
            <a:noAutofit/>
          </a:bodyPr>
          <a:lstStyle/>
          <a:p>
            <a:pPr algn="l">
              <a:lnSpc>
                <a:spcPct val="105000"/>
              </a:lnSpc>
              <a:spcAft>
                <a:spcPts val="0"/>
              </a:spcAft>
            </a:pPr>
            <a:r>
              <a:rPr sz="1000" b="1" i="0">
                <a:solidFill>
                  <a:srgbClr val="A6F26B"/>
                </a:solidFill>
                <a:latin typeface="Avenir Next"/>
              </a:rPr>
              <a:t>RESULTS</a:t>
            </a:r>
          </a:p>
        </p:txBody>
      </p:sp>
      <p:sp>
        <p:nvSpPr>
          <p:cNvPr id="6" name="TextBox 5"/>
          <p:cNvSpPr txBox="1"/>
          <p:nvPr/>
        </p:nvSpPr>
        <p:spPr>
          <a:xfrm>
            <a:off x="1097280" y="1124712"/>
            <a:ext cx="13075920" cy="676656"/>
          </a:xfrm>
          <a:prstGeom prst="rect">
            <a:avLst/>
          </a:prstGeom>
          <a:noFill/>
        </p:spPr>
        <p:txBody>
          <a:bodyPr wrap="square" lIns="0" tIns="0" rIns="0" bIns="0" anchor="t">
            <a:noAutofit/>
          </a:bodyPr>
          <a:lstStyle/>
          <a:p>
            <a:pPr algn="l">
              <a:lnSpc>
                <a:spcPct val="98000"/>
              </a:lnSpc>
              <a:spcAft>
                <a:spcPts val="0"/>
              </a:spcAft>
            </a:pPr>
            <a:r>
              <a:rPr sz="3300" b="1" i="0">
                <a:solidFill>
                  <a:srgbClr val="F4FFFA"/>
                </a:solidFill>
                <a:latin typeface="Avenir Next"/>
              </a:rPr>
              <a:t>What the numbers actually show.</a:t>
            </a:r>
          </a:p>
        </p:txBody>
      </p:sp>
      <p:sp>
        <p:nvSpPr>
          <p:cNvPr id="7" name="TextBox 6"/>
          <p:cNvSpPr txBox="1"/>
          <p:nvPr/>
        </p:nvSpPr>
        <p:spPr>
          <a:xfrm>
            <a:off x="1143000" y="1865376"/>
            <a:ext cx="13258800" cy="502920"/>
          </a:xfrm>
          <a:prstGeom prst="rect">
            <a:avLst/>
          </a:prstGeom>
          <a:noFill/>
        </p:spPr>
        <p:txBody>
          <a:bodyPr wrap="square" lIns="0" tIns="0" rIns="0" bIns="0" anchor="t">
            <a:noAutofit/>
          </a:bodyPr>
          <a:lstStyle/>
          <a:p>
            <a:pPr algn="l">
              <a:lnSpc>
                <a:spcPct val="110000"/>
              </a:lnSpc>
              <a:spcAft>
                <a:spcPts val="0"/>
              </a:spcAft>
            </a:pPr>
            <a:r>
              <a:rPr sz="1400" b="0" i="0">
                <a:solidFill>
                  <a:srgbClr val="ADC9BE"/>
                </a:solidFill>
                <a:latin typeface="Avenir Next"/>
              </a:rPr>
              <a:t>Forecast error improves; fault detection is still below the target.</a:t>
            </a:r>
          </a:p>
        </p:txBody>
      </p:sp>
      <p:sp>
        <p:nvSpPr>
          <p:cNvPr id="8" name="Rectangle 7"/>
          <p:cNvSpPr/>
          <p:nvPr/>
        </p:nvSpPr>
        <p:spPr>
          <a:xfrm>
            <a:off x="1143000" y="2542032"/>
            <a:ext cx="1143000" cy="41148"/>
          </a:xfrm>
          <a:prstGeom prst="rect">
            <a:avLst/>
          </a:prstGeom>
          <a:solidFill>
            <a:srgbClr val="A6F2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ounded Rectangle 8"/>
          <p:cNvSpPr/>
          <p:nvPr/>
        </p:nvSpPr>
        <p:spPr>
          <a:xfrm>
            <a:off x="14127480" y="1143000"/>
            <a:ext cx="3017520" cy="347472"/>
          </a:xfrm>
          <a:prstGeom prst="roundRect">
            <a:avLst>
              <a:gd name="adj" fmla="val 50000"/>
            </a:avLst>
          </a:prstGeom>
          <a:solidFill>
            <a:srgbClr val="0A221B"/>
          </a:solidFill>
          <a:ln w="8890">
            <a:solidFill>
              <a:srgbClr val="A6F26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14164055" y="1161288"/>
            <a:ext cx="2944368" cy="310896"/>
          </a:xfrm>
          <a:prstGeom prst="rect">
            <a:avLst/>
          </a:prstGeom>
          <a:noFill/>
        </p:spPr>
        <p:txBody>
          <a:bodyPr wrap="square" lIns="9144" tIns="0" rIns="9144" bIns="0" anchor="ctr">
            <a:noAutofit/>
          </a:bodyPr>
          <a:lstStyle/>
          <a:p>
            <a:pPr algn="ctr">
              <a:lnSpc>
                <a:spcPct val="105000"/>
              </a:lnSpc>
              <a:spcAft>
                <a:spcPts val="0"/>
              </a:spcAft>
            </a:pPr>
            <a:r>
              <a:rPr sz="819" b="1" i="0">
                <a:solidFill>
                  <a:srgbClr val="A6F26B"/>
                </a:solidFill>
                <a:latin typeface="Avenir Next"/>
              </a:rPr>
              <a:t>SYNTHETIC HOLDOUT</a:t>
            </a:r>
          </a:p>
        </p:txBody>
      </p:sp>
      <p:sp>
        <p:nvSpPr>
          <p:cNvPr id="11" name="Rounded Rectangle 10"/>
          <p:cNvSpPr/>
          <p:nvPr/>
        </p:nvSpPr>
        <p:spPr>
          <a:xfrm>
            <a:off x="1143000" y="2743200"/>
            <a:ext cx="9189720" cy="5074920"/>
          </a:xfrm>
          <a:prstGeom prst="roundRect">
            <a:avLst>
              <a:gd name="adj" fmla="val 8000"/>
            </a:avLst>
          </a:prstGeom>
          <a:solidFill>
            <a:srgbClr val="071813"/>
          </a:solidFill>
          <a:ln w="10160">
            <a:solidFill>
              <a:srgbClr val="2C5A4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1389888" y="2926080"/>
            <a:ext cx="8595360" cy="274320"/>
          </a:xfrm>
          <a:prstGeom prst="rect">
            <a:avLst/>
          </a:prstGeom>
          <a:noFill/>
        </p:spPr>
        <p:txBody>
          <a:bodyPr wrap="square" lIns="18288" tIns="18288" rIns="18288" bIns="18288" anchor="t">
            <a:noAutofit/>
          </a:bodyPr>
          <a:lstStyle/>
          <a:p>
            <a:pPr algn="l">
              <a:lnSpc>
                <a:spcPct val="105000"/>
              </a:lnSpc>
              <a:spcAft>
                <a:spcPts val="0"/>
              </a:spcAft>
            </a:pPr>
            <a:r>
              <a:rPr sz="950" b="1" i="0">
                <a:solidFill>
                  <a:srgbClr val="A6F26B"/>
                </a:solidFill>
                <a:latin typeface="Avenir Next"/>
              </a:rPr>
              <a:t>FORECAST ERROR  ·  LOWER IS BETTER</a:t>
            </a:r>
          </a:p>
        </p:txBody>
      </p:sp>
      <p:sp>
        <p:nvSpPr>
          <p:cNvPr id="13" name="Rounded Rectangle 12"/>
          <p:cNvSpPr/>
          <p:nvPr/>
        </p:nvSpPr>
        <p:spPr>
          <a:xfrm>
            <a:off x="2011680" y="5404469"/>
            <a:ext cx="621792" cy="740298"/>
          </a:xfrm>
          <a:prstGeom prst="roundRect">
            <a:avLst>
              <a:gd name="adj" fmla="val 3000"/>
            </a:avLst>
          </a:prstGeom>
          <a:solidFill>
            <a:srgbClr val="7CA091"/>
          </a:solidFill>
          <a:ln w="2540">
            <a:solidFill>
              <a:srgbClr val="7CA09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1865376" y="5111861"/>
            <a:ext cx="914400" cy="237744"/>
          </a:xfrm>
          <a:prstGeom prst="rect">
            <a:avLst/>
          </a:prstGeom>
          <a:noFill/>
        </p:spPr>
        <p:txBody>
          <a:bodyPr wrap="square" lIns="18288" tIns="18288" rIns="18288" bIns="18288" anchor="t">
            <a:noAutofit/>
          </a:bodyPr>
          <a:lstStyle/>
          <a:p>
            <a:pPr algn="ctr">
              <a:lnSpc>
                <a:spcPct val="105000"/>
              </a:lnSpc>
              <a:spcAft>
                <a:spcPts val="0"/>
              </a:spcAft>
            </a:pPr>
            <a:r>
              <a:rPr sz="900" b="1" i="0">
                <a:solidFill>
                  <a:srgbClr val="F4FFFA"/>
                </a:solidFill>
                <a:latin typeface="Avenir Next"/>
              </a:rPr>
              <a:t>1.056</a:t>
            </a:r>
          </a:p>
        </p:txBody>
      </p:sp>
      <p:sp>
        <p:nvSpPr>
          <p:cNvPr id="15" name="Rounded Rectangle 14"/>
          <p:cNvSpPr/>
          <p:nvPr/>
        </p:nvSpPr>
        <p:spPr>
          <a:xfrm>
            <a:off x="2770632" y="5791443"/>
            <a:ext cx="621792" cy="353324"/>
          </a:xfrm>
          <a:prstGeom prst="roundRect">
            <a:avLst>
              <a:gd name="adj" fmla="val 3000"/>
            </a:avLst>
          </a:prstGeom>
          <a:solidFill>
            <a:srgbClr val="A6F26B"/>
          </a:solidFill>
          <a:ln w="2540">
            <a:solidFill>
              <a:srgbClr val="A6F26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2624327" y="5498835"/>
            <a:ext cx="914400" cy="237744"/>
          </a:xfrm>
          <a:prstGeom prst="rect">
            <a:avLst/>
          </a:prstGeom>
          <a:noFill/>
        </p:spPr>
        <p:txBody>
          <a:bodyPr wrap="square" lIns="18288" tIns="18288" rIns="18288" bIns="18288" anchor="t">
            <a:noAutofit/>
          </a:bodyPr>
          <a:lstStyle/>
          <a:p>
            <a:pPr algn="ctr">
              <a:lnSpc>
                <a:spcPct val="105000"/>
              </a:lnSpc>
              <a:spcAft>
                <a:spcPts val="0"/>
              </a:spcAft>
            </a:pPr>
            <a:r>
              <a:rPr sz="900" b="1" i="0">
                <a:solidFill>
                  <a:srgbClr val="F4FFFA"/>
                </a:solidFill>
                <a:latin typeface="Avenir Next"/>
              </a:rPr>
              <a:t>0.504</a:t>
            </a:r>
          </a:p>
        </p:txBody>
      </p:sp>
      <p:sp>
        <p:nvSpPr>
          <p:cNvPr id="17" name="Rounded Rectangle 16"/>
          <p:cNvSpPr/>
          <p:nvPr/>
        </p:nvSpPr>
        <p:spPr>
          <a:xfrm>
            <a:off x="5138928" y="4144700"/>
            <a:ext cx="621792" cy="2000067"/>
          </a:xfrm>
          <a:prstGeom prst="roundRect">
            <a:avLst>
              <a:gd name="adj" fmla="val 3000"/>
            </a:avLst>
          </a:prstGeom>
          <a:solidFill>
            <a:srgbClr val="7CA091"/>
          </a:solidFill>
          <a:ln w="2540">
            <a:solidFill>
              <a:srgbClr val="7CA09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4992624" y="3852092"/>
            <a:ext cx="914400" cy="237744"/>
          </a:xfrm>
          <a:prstGeom prst="rect">
            <a:avLst/>
          </a:prstGeom>
          <a:noFill/>
        </p:spPr>
        <p:txBody>
          <a:bodyPr wrap="square" lIns="18288" tIns="18288" rIns="18288" bIns="18288" anchor="t">
            <a:noAutofit/>
          </a:bodyPr>
          <a:lstStyle/>
          <a:p>
            <a:pPr algn="ctr">
              <a:lnSpc>
                <a:spcPct val="105000"/>
              </a:lnSpc>
              <a:spcAft>
                <a:spcPts val="0"/>
              </a:spcAft>
            </a:pPr>
            <a:r>
              <a:rPr sz="900" b="1" i="0">
                <a:solidFill>
                  <a:srgbClr val="F4FFFA"/>
                </a:solidFill>
                <a:latin typeface="Avenir Next"/>
              </a:rPr>
              <a:t>2.853</a:t>
            </a:r>
          </a:p>
        </p:txBody>
      </p:sp>
      <p:sp>
        <p:nvSpPr>
          <p:cNvPr id="19" name="Rounded Rectangle 18"/>
          <p:cNvSpPr/>
          <p:nvPr/>
        </p:nvSpPr>
        <p:spPr>
          <a:xfrm>
            <a:off x="5897880" y="5333664"/>
            <a:ext cx="621792" cy="811103"/>
          </a:xfrm>
          <a:prstGeom prst="roundRect">
            <a:avLst>
              <a:gd name="adj" fmla="val 3000"/>
            </a:avLst>
          </a:prstGeom>
          <a:solidFill>
            <a:srgbClr val="A6F26B"/>
          </a:solidFill>
          <a:ln w="2540">
            <a:solidFill>
              <a:srgbClr val="A6F26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5751576" y="5041056"/>
            <a:ext cx="914400" cy="237744"/>
          </a:xfrm>
          <a:prstGeom prst="rect">
            <a:avLst/>
          </a:prstGeom>
          <a:noFill/>
        </p:spPr>
        <p:txBody>
          <a:bodyPr wrap="square" lIns="18288" tIns="18288" rIns="18288" bIns="18288" anchor="t">
            <a:noAutofit/>
          </a:bodyPr>
          <a:lstStyle/>
          <a:p>
            <a:pPr algn="ctr">
              <a:lnSpc>
                <a:spcPct val="105000"/>
              </a:lnSpc>
              <a:spcAft>
                <a:spcPts val="0"/>
              </a:spcAft>
            </a:pPr>
            <a:r>
              <a:rPr sz="900" b="1" i="0">
                <a:solidFill>
                  <a:srgbClr val="F4FFFA"/>
                </a:solidFill>
                <a:latin typeface="Avenir Next"/>
              </a:rPr>
              <a:t>1.157</a:t>
            </a:r>
          </a:p>
        </p:txBody>
      </p:sp>
      <p:sp>
        <p:nvSpPr>
          <p:cNvPr id="21" name="Rectangle 20"/>
          <p:cNvSpPr/>
          <p:nvPr/>
        </p:nvSpPr>
        <p:spPr>
          <a:xfrm>
            <a:off x="1417320" y="6163055"/>
            <a:ext cx="8183879" cy="27432"/>
          </a:xfrm>
          <a:prstGeom prst="rect">
            <a:avLst/>
          </a:prstGeom>
          <a:solidFill>
            <a:srgbClr val="2C5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2011680" y="6272783"/>
            <a:ext cx="1417320" cy="237744"/>
          </a:xfrm>
          <a:prstGeom prst="rect">
            <a:avLst/>
          </a:prstGeom>
          <a:noFill/>
        </p:spPr>
        <p:txBody>
          <a:bodyPr wrap="square" lIns="18288" tIns="18288" rIns="18288" bIns="18288" anchor="t">
            <a:noAutofit/>
          </a:bodyPr>
          <a:lstStyle/>
          <a:p>
            <a:pPr algn="l">
              <a:lnSpc>
                <a:spcPct val="105000"/>
              </a:lnSpc>
              <a:spcAft>
                <a:spcPts val="0"/>
              </a:spcAft>
            </a:pPr>
            <a:r>
              <a:rPr sz="919" b="1" i="0">
                <a:solidFill>
                  <a:srgbClr val="ADC9BE"/>
                </a:solidFill>
                <a:latin typeface="Avenir Next"/>
              </a:rPr>
              <a:t>MAE</a:t>
            </a:r>
          </a:p>
        </p:txBody>
      </p:sp>
      <p:sp>
        <p:nvSpPr>
          <p:cNvPr id="23" name="TextBox 22"/>
          <p:cNvSpPr txBox="1"/>
          <p:nvPr/>
        </p:nvSpPr>
        <p:spPr>
          <a:xfrm>
            <a:off x="5138928" y="6272783"/>
            <a:ext cx="1417320" cy="237744"/>
          </a:xfrm>
          <a:prstGeom prst="rect">
            <a:avLst/>
          </a:prstGeom>
          <a:noFill/>
        </p:spPr>
        <p:txBody>
          <a:bodyPr wrap="square" lIns="18288" tIns="18288" rIns="18288" bIns="18288" anchor="t">
            <a:noAutofit/>
          </a:bodyPr>
          <a:lstStyle/>
          <a:p>
            <a:pPr algn="l">
              <a:lnSpc>
                <a:spcPct val="105000"/>
              </a:lnSpc>
              <a:spcAft>
                <a:spcPts val="0"/>
              </a:spcAft>
            </a:pPr>
            <a:r>
              <a:rPr sz="919" b="1" i="0">
                <a:solidFill>
                  <a:srgbClr val="ADC9BE"/>
                </a:solidFill>
                <a:latin typeface="Avenir Next"/>
              </a:rPr>
              <a:t>RMSE</a:t>
            </a:r>
          </a:p>
        </p:txBody>
      </p:sp>
      <p:sp>
        <p:nvSpPr>
          <p:cNvPr id="24" name="TextBox 23"/>
          <p:cNvSpPr txBox="1"/>
          <p:nvPr/>
        </p:nvSpPr>
        <p:spPr>
          <a:xfrm>
            <a:off x="1865376" y="3310128"/>
            <a:ext cx="1737360" cy="228600"/>
          </a:xfrm>
          <a:prstGeom prst="rect">
            <a:avLst/>
          </a:prstGeom>
          <a:noFill/>
        </p:spPr>
        <p:txBody>
          <a:bodyPr wrap="square" lIns="18288" tIns="18288" rIns="18288" bIns="18288" anchor="t">
            <a:noAutofit/>
          </a:bodyPr>
          <a:lstStyle/>
          <a:p>
            <a:pPr algn="l">
              <a:lnSpc>
                <a:spcPct val="105000"/>
              </a:lnSpc>
              <a:spcAft>
                <a:spcPts val="0"/>
              </a:spcAft>
            </a:pPr>
            <a:r>
              <a:rPr sz="850" b="0" i="0">
                <a:solidFill>
                  <a:srgbClr val="7CA091"/>
                </a:solidFill>
                <a:latin typeface="Avenir Next"/>
              </a:rPr>
              <a:t>baseline</a:t>
            </a:r>
          </a:p>
        </p:txBody>
      </p:sp>
      <p:sp>
        <p:nvSpPr>
          <p:cNvPr id="25" name="TextBox 24"/>
          <p:cNvSpPr txBox="1"/>
          <p:nvPr/>
        </p:nvSpPr>
        <p:spPr>
          <a:xfrm>
            <a:off x="2624328" y="3310128"/>
            <a:ext cx="1737360" cy="228600"/>
          </a:xfrm>
          <a:prstGeom prst="rect">
            <a:avLst/>
          </a:prstGeom>
          <a:noFill/>
        </p:spPr>
        <p:txBody>
          <a:bodyPr wrap="square" lIns="18288" tIns="18288" rIns="18288" bIns="18288" anchor="t">
            <a:noAutofit/>
          </a:bodyPr>
          <a:lstStyle/>
          <a:p>
            <a:pPr algn="l">
              <a:lnSpc>
                <a:spcPct val="105000"/>
              </a:lnSpc>
              <a:spcAft>
                <a:spcPts val="0"/>
              </a:spcAft>
            </a:pPr>
            <a:r>
              <a:rPr sz="850" b="0" i="0">
                <a:solidFill>
                  <a:srgbClr val="A6F26B"/>
                </a:solidFill>
                <a:latin typeface="Avenir Next"/>
              </a:rPr>
              <a:t>model</a:t>
            </a:r>
          </a:p>
        </p:txBody>
      </p:sp>
      <p:sp>
        <p:nvSpPr>
          <p:cNvPr id="26" name="TextBox 25"/>
          <p:cNvSpPr txBox="1"/>
          <p:nvPr/>
        </p:nvSpPr>
        <p:spPr>
          <a:xfrm>
            <a:off x="1389888" y="6720840"/>
            <a:ext cx="8503920" cy="594360"/>
          </a:xfrm>
          <a:prstGeom prst="rect">
            <a:avLst/>
          </a:prstGeom>
          <a:noFill/>
        </p:spPr>
        <p:txBody>
          <a:bodyPr wrap="square" lIns="18288" tIns="18288" rIns="18288" bIns="18288" anchor="t">
            <a:noAutofit/>
          </a:bodyPr>
          <a:lstStyle/>
          <a:p>
            <a:pPr algn="l">
              <a:lnSpc>
                <a:spcPct val="108000"/>
              </a:lnSpc>
              <a:spcAft>
                <a:spcPts val="0"/>
              </a:spcAft>
            </a:pPr>
            <a:r>
              <a:rPr sz="980" b="0" i="0">
                <a:solidFill>
                  <a:srgbClr val="ADC9BE"/>
                </a:solidFill>
                <a:latin typeface="Avenir Next"/>
              </a:rPr>
              <a:t>MAE falls 52.3% and RMSE falls 59.5% against persistence. These are synthetic held-out results, not field measurements.</a:t>
            </a:r>
          </a:p>
        </p:txBody>
      </p:sp>
      <p:sp>
        <p:nvSpPr>
          <p:cNvPr id="27" name="Rounded Rectangle 26"/>
          <p:cNvSpPr/>
          <p:nvPr/>
        </p:nvSpPr>
        <p:spPr>
          <a:xfrm>
            <a:off x="10561320" y="2743200"/>
            <a:ext cx="2971800" cy="1517904"/>
          </a:xfrm>
          <a:prstGeom prst="roundRect">
            <a:avLst>
              <a:gd name="adj" fmla="val 8000"/>
            </a:avLst>
          </a:prstGeom>
          <a:solidFill>
            <a:srgbClr val="0A221B"/>
          </a:solidFill>
          <a:ln w="10160">
            <a:solidFill>
              <a:srgbClr val="F0B42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TextBox 27"/>
          <p:cNvSpPr txBox="1"/>
          <p:nvPr/>
        </p:nvSpPr>
        <p:spPr>
          <a:xfrm>
            <a:off x="10725912" y="2889504"/>
            <a:ext cx="2651760" cy="475488"/>
          </a:xfrm>
          <a:prstGeom prst="rect">
            <a:avLst/>
          </a:prstGeom>
          <a:noFill/>
        </p:spPr>
        <p:txBody>
          <a:bodyPr wrap="square" lIns="18288" tIns="18288" rIns="18288" bIns="18288" anchor="t">
            <a:noAutofit/>
          </a:bodyPr>
          <a:lstStyle/>
          <a:p>
            <a:pPr algn="l">
              <a:lnSpc>
                <a:spcPct val="90000"/>
              </a:lnSpc>
              <a:spcAft>
                <a:spcPts val="0"/>
              </a:spcAft>
            </a:pPr>
            <a:r>
              <a:rPr sz="2500" b="1" i="0">
                <a:solidFill>
                  <a:srgbClr val="F0B429"/>
                </a:solidFill>
                <a:latin typeface="Avenir Next"/>
              </a:rPr>
              <a:t>47.5%</a:t>
            </a:r>
          </a:p>
        </p:txBody>
      </p:sp>
      <p:sp>
        <p:nvSpPr>
          <p:cNvPr id="29" name="TextBox 28"/>
          <p:cNvSpPr txBox="1"/>
          <p:nvPr/>
        </p:nvSpPr>
        <p:spPr>
          <a:xfrm>
            <a:off x="10725912" y="3401568"/>
            <a:ext cx="2651760" cy="237744"/>
          </a:xfrm>
          <a:prstGeom prst="rect">
            <a:avLst/>
          </a:prstGeom>
          <a:noFill/>
        </p:spPr>
        <p:txBody>
          <a:bodyPr wrap="square" lIns="18288" tIns="18288" rIns="18288" bIns="18288" anchor="t">
            <a:noAutofit/>
          </a:bodyPr>
          <a:lstStyle/>
          <a:p>
            <a:pPr algn="l">
              <a:lnSpc>
                <a:spcPct val="105000"/>
              </a:lnSpc>
              <a:spcAft>
                <a:spcPts val="0"/>
              </a:spcAft>
            </a:pPr>
            <a:r>
              <a:rPr sz="860" b="0" i="0">
                <a:solidFill>
                  <a:srgbClr val="F4FFFA"/>
                </a:solidFill>
                <a:latin typeface="Avenir Next"/>
              </a:rPr>
              <a:t>sensor-fault detection</a:t>
            </a:r>
          </a:p>
        </p:txBody>
      </p:sp>
      <p:sp>
        <p:nvSpPr>
          <p:cNvPr id="30" name="TextBox 29"/>
          <p:cNvSpPr txBox="1"/>
          <p:nvPr/>
        </p:nvSpPr>
        <p:spPr>
          <a:xfrm>
            <a:off x="10725912" y="3703320"/>
            <a:ext cx="2651760" cy="384048"/>
          </a:xfrm>
          <a:prstGeom prst="rect">
            <a:avLst/>
          </a:prstGeom>
          <a:noFill/>
        </p:spPr>
        <p:txBody>
          <a:bodyPr wrap="square" lIns="18288" tIns="18288" rIns="18288" bIns="18288" anchor="t">
            <a:noAutofit/>
          </a:bodyPr>
          <a:lstStyle/>
          <a:p>
            <a:pPr algn="l">
              <a:lnSpc>
                <a:spcPct val="100000"/>
              </a:lnSpc>
              <a:spcAft>
                <a:spcPts val="0"/>
              </a:spcAft>
            </a:pPr>
            <a:r>
              <a:rPr sz="660" b="1" i="0">
                <a:solidFill>
                  <a:srgbClr val="F0B429"/>
                </a:solidFill>
                <a:latin typeface="Avenir Next"/>
              </a:rPr>
              <a:t>BELOW 90% TARGET</a:t>
            </a:r>
          </a:p>
        </p:txBody>
      </p:sp>
      <p:sp>
        <p:nvSpPr>
          <p:cNvPr id="31" name="Rounded Rectangle 30"/>
          <p:cNvSpPr/>
          <p:nvPr/>
        </p:nvSpPr>
        <p:spPr>
          <a:xfrm>
            <a:off x="13743432" y="2743200"/>
            <a:ext cx="2971800" cy="1517904"/>
          </a:xfrm>
          <a:prstGeom prst="roundRect">
            <a:avLst>
              <a:gd name="adj" fmla="val 8000"/>
            </a:avLst>
          </a:prstGeom>
          <a:solidFill>
            <a:srgbClr val="0A221B"/>
          </a:solidFill>
          <a:ln w="10160">
            <a:solidFill>
              <a:srgbClr val="A6F26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TextBox 31"/>
          <p:cNvSpPr txBox="1"/>
          <p:nvPr/>
        </p:nvSpPr>
        <p:spPr>
          <a:xfrm>
            <a:off x="13908024" y="2889504"/>
            <a:ext cx="2651760" cy="475488"/>
          </a:xfrm>
          <a:prstGeom prst="rect">
            <a:avLst/>
          </a:prstGeom>
          <a:noFill/>
        </p:spPr>
        <p:txBody>
          <a:bodyPr wrap="square" lIns="18288" tIns="18288" rIns="18288" bIns="18288" anchor="t">
            <a:noAutofit/>
          </a:bodyPr>
          <a:lstStyle/>
          <a:p>
            <a:pPr algn="l">
              <a:lnSpc>
                <a:spcPct val="90000"/>
              </a:lnSpc>
              <a:spcAft>
                <a:spcPts val="0"/>
              </a:spcAft>
            </a:pPr>
            <a:r>
              <a:rPr sz="2500" b="1" i="0">
                <a:solidFill>
                  <a:srgbClr val="A6F26B"/>
                </a:solidFill>
                <a:latin typeface="Avenir Next"/>
              </a:rPr>
              <a:t>7.5%</a:t>
            </a:r>
          </a:p>
        </p:txBody>
      </p:sp>
      <p:sp>
        <p:nvSpPr>
          <p:cNvPr id="33" name="TextBox 32"/>
          <p:cNvSpPr txBox="1"/>
          <p:nvPr/>
        </p:nvSpPr>
        <p:spPr>
          <a:xfrm>
            <a:off x="13908024" y="3401568"/>
            <a:ext cx="2651760" cy="237744"/>
          </a:xfrm>
          <a:prstGeom prst="rect">
            <a:avLst/>
          </a:prstGeom>
          <a:noFill/>
        </p:spPr>
        <p:txBody>
          <a:bodyPr wrap="square" lIns="18288" tIns="18288" rIns="18288" bIns="18288" anchor="t">
            <a:noAutofit/>
          </a:bodyPr>
          <a:lstStyle/>
          <a:p>
            <a:pPr algn="l">
              <a:lnSpc>
                <a:spcPct val="105000"/>
              </a:lnSpc>
              <a:spcAft>
                <a:spcPts val="0"/>
              </a:spcAft>
            </a:pPr>
            <a:r>
              <a:rPr sz="860" b="0" i="0">
                <a:solidFill>
                  <a:srgbClr val="F4FFFA"/>
                </a:solidFill>
                <a:latin typeface="Avenir Next"/>
              </a:rPr>
              <a:t>false-alarm rate</a:t>
            </a:r>
          </a:p>
        </p:txBody>
      </p:sp>
      <p:sp>
        <p:nvSpPr>
          <p:cNvPr id="34" name="TextBox 33"/>
          <p:cNvSpPr txBox="1"/>
          <p:nvPr/>
        </p:nvSpPr>
        <p:spPr>
          <a:xfrm>
            <a:off x="13908024" y="3703320"/>
            <a:ext cx="2651760" cy="384048"/>
          </a:xfrm>
          <a:prstGeom prst="rect">
            <a:avLst/>
          </a:prstGeom>
          <a:noFill/>
        </p:spPr>
        <p:txBody>
          <a:bodyPr wrap="square" lIns="18288" tIns="18288" rIns="18288" bIns="18288" anchor="t">
            <a:noAutofit/>
          </a:bodyPr>
          <a:lstStyle/>
          <a:p>
            <a:pPr algn="l">
              <a:lnSpc>
                <a:spcPct val="100000"/>
              </a:lnSpc>
              <a:spcAft>
                <a:spcPts val="0"/>
              </a:spcAft>
            </a:pPr>
            <a:r>
              <a:rPr sz="660" b="1" i="0">
                <a:solidFill>
                  <a:srgbClr val="A6F26B"/>
                </a:solidFill>
                <a:latin typeface="Avenir Next"/>
              </a:rPr>
              <a:t>SYNTHETIC ANOMALY TEST</a:t>
            </a:r>
          </a:p>
        </p:txBody>
      </p:sp>
      <p:sp>
        <p:nvSpPr>
          <p:cNvPr id="35" name="Rounded Rectangle 34"/>
          <p:cNvSpPr/>
          <p:nvPr/>
        </p:nvSpPr>
        <p:spPr>
          <a:xfrm>
            <a:off x="10561320" y="4462272"/>
            <a:ext cx="2971800" cy="1517904"/>
          </a:xfrm>
          <a:prstGeom prst="roundRect">
            <a:avLst>
              <a:gd name="adj" fmla="val 8000"/>
            </a:avLst>
          </a:prstGeom>
          <a:solidFill>
            <a:srgbClr val="0A221B"/>
          </a:solidFill>
          <a:ln w="10160">
            <a:solidFill>
              <a:srgbClr val="59D7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 name="TextBox 35"/>
          <p:cNvSpPr txBox="1"/>
          <p:nvPr/>
        </p:nvSpPr>
        <p:spPr>
          <a:xfrm>
            <a:off x="10725912" y="4608576"/>
            <a:ext cx="2651760" cy="475488"/>
          </a:xfrm>
          <a:prstGeom prst="rect">
            <a:avLst/>
          </a:prstGeom>
          <a:noFill/>
        </p:spPr>
        <p:txBody>
          <a:bodyPr wrap="square" lIns="18288" tIns="18288" rIns="18288" bIns="18288" anchor="t">
            <a:noAutofit/>
          </a:bodyPr>
          <a:lstStyle/>
          <a:p>
            <a:pPr algn="l">
              <a:lnSpc>
                <a:spcPct val="90000"/>
              </a:lnSpc>
              <a:spcAft>
                <a:spcPts val="0"/>
              </a:spcAft>
            </a:pPr>
            <a:r>
              <a:rPr sz="2500" b="1" i="0">
                <a:solidFill>
                  <a:srgbClr val="59D7F0"/>
                </a:solidFill>
                <a:latin typeface="Avenir Next"/>
              </a:rPr>
              <a:t>99.7%</a:t>
            </a:r>
          </a:p>
        </p:txBody>
      </p:sp>
      <p:sp>
        <p:nvSpPr>
          <p:cNvPr id="37" name="TextBox 36"/>
          <p:cNvSpPr txBox="1"/>
          <p:nvPr/>
        </p:nvSpPr>
        <p:spPr>
          <a:xfrm>
            <a:off x="10725912" y="5120640"/>
            <a:ext cx="2651760" cy="237744"/>
          </a:xfrm>
          <a:prstGeom prst="rect">
            <a:avLst/>
          </a:prstGeom>
          <a:noFill/>
        </p:spPr>
        <p:txBody>
          <a:bodyPr wrap="square" lIns="18288" tIns="18288" rIns="18288" bIns="18288" anchor="t">
            <a:noAutofit/>
          </a:bodyPr>
          <a:lstStyle/>
          <a:p>
            <a:pPr algn="l">
              <a:lnSpc>
                <a:spcPct val="105000"/>
              </a:lnSpc>
              <a:spcAft>
                <a:spcPts val="0"/>
              </a:spcAft>
            </a:pPr>
            <a:r>
              <a:rPr sz="860" b="0" i="0">
                <a:solidFill>
                  <a:srgbClr val="F4FFFA"/>
                </a:solidFill>
                <a:latin typeface="Avenir Next"/>
              </a:rPr>
              <a:t>classifier accuracy</a:t>
            </a:r>
          </a:p>
        </p:txBody>
      </p:sp>
      <p:sp>
        <p:nvSpPr>
          <p:cNvPr id="38" name="TextBox 37"/>
          <p:cNvSpPr txBox="1"/>
          <p:nvPr/>
        </p:nvSpPr>
        <p:spPr>
          <a:xfrm>
            <a:off x="10725912" y="5422392"/>
            <a:ext cx="2651760" cy="384048"/>
          </a:xfrm>
          <a:prstGeom prst="rect">
            <a:avLst/>
          </a:prstGeom>
          <a:noFill/>
        </p:spPr>
        <p:txBody>
          <a:bodyPr wrap="square" lIns="18288" tIns="18288" rIns="18288" bIns="18288" anchor="t">
            <a:noAutofit/>
          </a:bodyPr>
          <a:lstStyle/>
          <a:p>
            <a:pPr algn="l">
              <a:lnSpc>
                <a:spcPct val="100000"/>
              </a:lnSpc>
              <a:spcAft>
                <a:spcPts val="0"/>
              </a:spcAft>
            </a:pPr>
            <a:r>
              <a:rPr sz="660" b="1" i="0">
                <a:solidFill>
                  <a:srgbClr val="59D7F0"/>
                </a:solidFill>
                <a:latin typeface="Avenir Next"/>
              </a:rPr>
              <a:t>SYNTHETIC, THRESHOLD-ALIGNED</a:t>
            </a:r>
          </a:p>
        </p:txBody>
      </p:sp>
      <p:sp>
        <p:nvSpPr>
          <p:cNvPr id="39" name="Rounded Rectangle 38"/>
          <p:cNvSpPr/>
          <p:nvPr/>
        </p:nvSpPr>
        <p:spPr>
          <a:xfrm>
            <a:off x="13743432" y="4462272"/>
            <a:ext cx="2971800" cy="1517904"/>
          </a:xfrm>
          <a:prstGeom prst="roundRect">
            <a:avLst>
              <a:gd name="adj" fmla="val 8000"/>
            </a:avLst>
          </a:prstGeom>
          <a:solidFill>
            <a:srgbClr val="0A221B"/>
          </a:solidFill>
          <a:ln w="10160">
            <a:solidFill>
              <a:srgbClr val="A6F26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0" name="TextBox 39"/>
          <p:cNvSpPr txBox="1"/>
          <p:nvPr/>
        </p:nvSpPr>
        <p:spPr>
          <a:xfrm>
            <a:off x="13908024" y="4608576"/>
            <a:ext cx="2651760" cy="475488"/>
          </a:xfrm>
          <a:prstGeom prst="rect">
            <a:avLst/>
          </a:prstGeom>
          <a:noFill/>
        </p:spPr>
        <p:txBody>
          <a:bodyPr wrap="square" lIns="18288" tIns="18288" rIns="18288" bIns="18288" anchor="t">
            <a:noAutofit/>
          </a:bodyPr>
          <a:lstStyle/>
          <a:p>
            <a:pPr algn="l">
              <a:lnSpc>
                <a:spcPct val="90000"/>
              </a:lnSpc>
              <a:spcAft>
                <a:spcPts val="0"/>
              </a:spcAft>
            </a:pPr>
            <a:r>
              <a:rPr sz="2500" b="1" i="0">
                <a:solidFill>
                  <a:srgbClr val="A6F26B"/>
                </a:solidFill>
                <a:latin typeface="Avenir Next"/>
              </a:rPr>
              <a:t>3 h</a:t>
            </a:r>
          </a:p>
        </p:txBody>
      </p:sp>
      <p:sp>
        <p:nvSpPr>
          <p:cNvPr id="41" name="TextBox 40"/>
          <p:cNvSpPr txBox="1"/>
          <p:nvPr/>
        </p:nvSpPr>
        <p:spPr>
          <a:xfrm>
            <a:off x="13908024" y="5120640"/>
            <a:ext cx="2651760" cy="237744"/>
          </a:xfrm>
          <a:prstGeom prst="rect">
            <a:avLst/>
          </a:prstGeom>
          <a:noFill/>
        </p:spPr>
        <p:txBody>
          <a:bodyPr wrap="square" lIns="18288" tIns="18288" rIns="18288" bIns="18288" anchor="t">
            <a:noAutofit/>
          </a:bodyPr>
          <a:lstStyle/>
          <a:p>
            <a:pPr algn="l">
              <a:lnSpc>
                <a:spcPct val="105000"/>
              </a:lnSpc>
              <a:spcAft>
                <a:spcPts val="0"/>
              </a:spcAft>
            </a:pPr>
            <a:r>
              <a:rPr sz="860" b="0" i="0">
                <a:solidFill>
                  <a:srgbClr val="F4FFFA"/>
                </a:solidFill>
                <a:latin typeface="Avenir Next"/>
              </a:rPr>
              <a:t>forecast horizon</a:t>
            </a:r>
          </a:p>
        </p:txBody>
      </p:sp>
      <p:sp>
        <p:nvSpPr>
          <p:cNvPr id="42" name="TextBox 41"/>
          <p:cNvSpPr txBox="1"/>
          <p:nvPr/>
        </p:nvSpPr>
        <p:spPr>
          <a:xfrm>
            <a:off x="13908024" y="5422392"/>
            <a:ext cx="2651760" cy="384048"/>
          </a:xfrm>
          <a:prstGeom prst="rect">
            <a:avLst/>
          </a:prstGeom>
          <a:noFill/>
        </p:spPr>
        <p:txBody>
          <a:bodyPr wrap="square" lIns="18288" tIns="18288" rIns="18288" bIns="18288" anchor="t">
            <a:noAutofit/>
          </a:bodyPr>
          <a:lstStyle/>
          <a:p>
            <a:pPr algn="l">
              <a:lnSpc>
                <a:spcPct val="100000"/>
              </a:lnSpc>
              <a:spcAft>
                <a:spcPts val="0"/>
              </a:spcAft>
            </a:pPr>
            <a:r>
              <a:rPr sz="660" b="1" i="0">
                <a:solidFill>
                  <a:srgbClr val="A6F26B"/>
                </a:solidFill>
                <a:latin typeface="Avenir Next"/>
              </a:rPr>
              <a:t>36 × 5-MIN STEPS</a:t>
            </a:r>
          </a:p>
        </p:txBody>
      </p:sp>
      <p:sp>
        <p:nvSpPr>
          <p:cNvPr id="43" name="TextBox 42"/>
          <p:cNvSpPr txBox="1"/>
          <p:nvPr/>
        </p:nvSpPr>
        <p:spPr>
          <a:xfrm>
            <a:off x="10561320" y="6355080"/>
            <a:ext cx="6309360" cy="502920"/>
          </a:xfrm>
          <a:prstGeom prst="rect">
            <a:avLst/>
          </a:prstGeom>
          <a:noFill/>
        </p:spPr>
        <p:txBody>
          <a:bodyPr wrap="square" lIns="18288" tIns="18288" rIns="18288" bIns="18288" anchor="t">
            <a:noAutofit/>
          </a:bodyPr>
          <a:lstStyle/>
          <a:p>
            <a:pPr algn="l">
              <a:lnSpc>
                <a:spcPct val="108000"/>
              </a:lnSpc>
              <a:spcAft>
                <a:spcPts val="0"/>
              </a:spcAft>
            </a:pPr>
            <a:r>
              <a:rPr sz="880" b="0" i="0">
                <a:solidFill>
                  <a:srgbClr val="ADC9BE"/>
                </a:solidFill>
                <a:latin typeface="Avenir Next"/>
              </a:rPr>
              <a:t>The near-perfect classifier is expected: labels are threshold-derived. It is not evidence of field accuracy.</a:t>
            </a:r>
          </a:p>
        </p:txBody>
      </p:sp>
      <p:sp>
        <p:nvSpPr>
          <p:cNvPr id="44" name="Rounded Rectangle 43"/>
          <p:cNvSpPr/>
          <p:nvPr/>
        </p:nvSpPr>
        <p:spPr>
          <a:xfrm>
            <a:off x="1143000" y="7589520"/>
            <a:ext cx="15864840" cy="658368"/>
          </a:xfrm>
          <a:prstGeom prst="roundRect">
            <a:avLst>
              <a:gd name="adj" fmla="val 8000"/>
            </a:avLst>
          </a:prstGeom>
          <a:solidFill>
            <a:srgbClr val="102C23"/>
          </a:solidFill>
          <a:ln w="10160">
            <a:solidFill>
              <a:srgbClr val="F0B42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5" name="TextBox 44"/>
          <p:cNvSpPr txBox="1"/>
          <p:nvPr/>
        </p:nvSpPr>
        <p:spPr>
          <a:xfrm>
            <a:off x="1417320" y="7726679"/>
            <a:ext cx="15316200" cy="384048"/>
          </a:xfrm>
          <a:prstGeom prst="rect">
            <a:avLst/>
          </a:prstGeom>
          <a:noFill/>
        </p:spPr>
        <p:txBody>
          <a:bodyPr wrap="square" lIns="18288" tIns="18288" rIns="18288" bIns="18288" anchor="t">
            <a:noAutofit/>
          </a:bodyPr>
          <a:lstStyle/>
          <a:p>
            <a:pPr algn="l">
              <a:lnSpc>
                <a:spcPct val="105000"/>
              </a:lnSpc>
              <a:spcAft>
                <a:spcPts val="0"/>
              </a:spcAft>
            </a:pPr>
            <a:r>
              <a:rPr sz="1080" b="1" i="0">
                <a:solidFill>
                  <a:srgbClr val="F4FFFA"/>
                </a:solidFill>
                <a:latin typeface="Avenir Next"/>
              </a:rPr>
              <a:t>Do not present synthetic metrics as field performance. The next gate is a pilot with labelled sensor faults.</a:t>
            </a:r>
          </a:p>
        </p:txBody>
      </p:sp>
      <p:sp>
        <p:nvSpPr>
          <p:cNvPr id="46" name="TextBox 45"/>
          <p:cNvSpPr txBox="1"/>
          <p:nvPr/>
        </p:nvSpPr>
        <p:spPr>
          <a:xfrm>
            <a:off x="4983480" y="9619488"/>
            <a:ext cx="5852160" cy="228600"/>
          </a:xfrm>
          <a:prstGeom prst="rect">
            <a:avLst/>
          </a:prstGeom>
          <a:noFill/>
        </p:spPr>
        <p:txBody>
          <a:bodyPr wrap="square" lIns="0" tIns="0" rIns="0" bIns="0" anchor="t">
            <a:noAutofit/>
          </a:bodyPr>
          <a:lstStyle/>
          <a:p>
            <a:pPr algn="l">
              <a:lnSpc>
                <a:spcPct val="105000"/>
              </a:lnSpc>
              <a:spcAft>
                <a:spcPts val="0"/>
              </a:spcAft>
            </a:pPr>
            <a:r>
              <a:rPr sz="819" b="0" i="0">
                <a:solidFill>
                  <a:srgbClr val="7CA091"/>
                </a:solidFill>
                <a:latin typeface="Avenir Next"/>
              </a:rPr>
              <a:t>TrustFarm  ·  INNOVA 2026  ·  ICBT</a:t>
            </a:r>
          </a:p>
        </p:txBody>
      </p:sp>
      <p:sp>
        <p:nvSpPr>
          <p:cNvPr id="47" name="TextBox 46"/>
          <p:cNvSpPr txBox="1"/>
          <p:nvPr/>
        </p:nvSpPr>
        <p:spPr>
          <a:xfrm>
            <a:off x="11018520" y="9619488"/>
            <a:ext cx="1234440" cy="228600"/>
          </a:xfrm>
          <a:prstGeom prst="rect">
            <a:avLst/>
          </a:prstGeom>
          <a:noFill/>
        </p:spPr>
        <p:txBody>
          <a:bodyPr wrap="square" lIns="0" tIns="0" rIns="0" bIns="0" anchor="t">
            <a:noAutofit/>
          </a:bodyPr>
          <a:lstStyle/>
          <a:p>
            <a:pPr algn="r">
              <a:lnSpc>
                <a:spcPct val="105000"/>
              </a:lnSpc>
              <a:spcAft>
                <a:spcPts val="0"/>
              </a:spcAft>
            </a:pPr>
            <a:r>
              <a:rPr sz="819" b="0" i="0">
                <a:solidFill>
                  <a:srgbClr val="7CA091"/>
                </a:solidFill>
                <a:latin typeface="Avenir Next"/>
              </a:rPr>
              <a:t>20 / 25</a:t>
            </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rgbClr val="1A1D1C"/>
        </a:solidFill>
        <a:effectLst/>
      </p:bgPr>
    </p:bg>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25192566" h="16800292">
                <a:moveTo>
                  <a:pt x="0" y="0"/>
                </a:moveTo>
                <a:lnTo>
                  <a:pt x="25192566" y="0"/>
                </a:lnTo>
                <a:lnTo>
                  <a:pt x="25192566" y="16800292"/>
                </a:lnTo>
                <a:lnTo>
                  <a:pt x="0" y="16800292"/>
                </a:lnTo>
                <a:lnTo>
                  <a:pt x="0" y="0"/>
                </a:lnTo>
                <a:close/>
              </a:path>
            </a:pathLst>
          </a:custGeom>
          <a:blipFill>
            <a:blip r:embed="rId3"/>
            <a:stretch>
              <a:fillRect/>
            </a:stretch>
          </a:blipFill>
        </p:spPr>
        <p:txBody>
          <a:bodyPr/>
          <a:lstStyle/>
          <a:p>
            <a:endParaRPr/>
          </a:p>
        </p:txBody>
      </p:sp>
      <p:sp>
        <p:nvSpPr>
          <p:cNvPr id="3" name="Freeform 3"/>
          <p:cNvSpPr/>
          <p:nvPr/>
        </p:nvSpPr>
        <p:spPr>
          <a:xfrm>
            <a:off x="12596283" y="8658721"/>
            <a:ext cx="6457129" cy="1628279"/>
          </a:xfrm>
          <a:custGeom>
            <a:avLst/>
            <a:gdLst/>
            <a:ahLst/>
            <a:cxnLst/>
            <a:rect l="l" t="t" r="r" b="b"/>
            <a:pathLst>
              <a:path w="6457129" h="1628279">
                <a:moveTo>
                  <a:pt x="0" y="0"/>
                </a:moveTo>
                <a:lnTo>
                  <a:pt x="6457129" y="0"/>
                </a:lnTo>
                <a:lnTo>
                  <a:pt x="6457129" y="1628279"/>
                </a:lnTo>
                <a:lnTo>
                  <a:pt x="0" y="1628279"/>
                </a:lnTo>
                <a:lnTo>
                  <a:pt x="0" y="0"/>
                </a:lnTo>
                <a:close/>
              </a:path>
            </a:pathLst>
          </a:custGeom>
          <a:blipFill>
            <a:blip r:embed="rId4"/>
            <a:stretch>
              <a:fillRect t="-85078" b="-85078"/>
            </a:stretch>
          </a:blipFill>
        </p:spPr>
        <p:txBody>
          <a:bodyPr/>
          <a:lstStyle/>
          <a:p>
            <a:endParaRPr/>
          </a:p>
        </p:txBody>
      </p:sp>
      <p:sp>
        <p:nvSpPr>
          <p:cNvPr id="4" name="Freeform 4"/>
          <p:cNvSpPr/>
          <p:nvPr/>
        </p:nvSpPr>
        <p:spPr>
          <a:xfrm>
            <a:off x="0" y="8072991"/>
            <a:ext cx="2839033" cy="2839033"/>
          </a:xfrm>
          <a:custGeom>
            <a:avLst/>
            <a:gdLst/>
            <a:ahLst/>
            <a:cxnLst/>
            <a:rect l="l" t="t" r="r" b="b"/>
            <a:pathLst>
              <a:path w="2839033" h="2839033">
                <a:moveTo>
                  <a:pt x="0" y="0"/>
                </a:moveTo>
                <a:lnTo>
                  <a:pt x="2839033" y="0"/>
                </a:lnTo>
                <a:lnTo>
                  <a:pt x="2839033" y="2839033"/>
                </a:lnTo>
                <a:lnTo>
                  <a:pt x="0" y="2839033"/>
                </a:lnTo>
                <a:lnTo>
                  <a:pt x="0" y="0"/>
                </a:lnTo>
                <a:close/>
              </a:path>
            </a:pathLst>
          </a:custGeom>
          <a:blipFill>
            <a:blip r:embed="rId5"/>
            <a:stretch>
              <a:fillRect/>
            </a:stretch>
          </a:blipFill>
        </p:spPr>
        <p:txBody>
          <a:bodyPr/>
          <a:lstStyle/>
          <a:p>
            <a:endParaRPr/>
          </a:p>
        </p:txBody>
      </p:sp>
      <p:sp>
        <p:nvSpPr>
          <p:cNvPr id="5" name="TextBox 4"/>
          <p:cNvSpPr txBox="1"/>
          <p:nvPr/>
        </p:nvSpPr>
        <p:spPr>
          <a:xfrm>
            <a:off x="1143000" y="841248"/>
            <a:ext cx="10972800" cy="292608"/>
          </a:xfrm>
          <a:prstGeom prst="rect">
            <a:avLst/>
          </a:prstGeom>
          <a:noFill/>
        </p:spPr>
        <p:txBody>
          <a:bodyPr wrap="square" lIns="0" tIns="0" rIns="0" bIns="0" anchor="t">
            <a:noAutofit/>
          </a:bodyPr>
          <a:lstStyle/>
          <a:p>
            <a:pPr algn="l">
              <a:lnSpc>
                <a:spcPct val="105000"/>
              </a:lnSpc>
              <a:spcAft>
                <a:spcPts val="0"/>
              </a:spcAft>
            </a:pPr>
            <a:r>
              <a:rPr sz="1000" b="1" i="0">
                <a:solidFill>
                  <a:srgbClr val="A6F26B"/>
                </a:solidFill>
                <a:latin typeface="Avenir Next"/>
              </a:rPr>
              <a:t>SECURITY &amp; RELIABILITY</a:t>
            </a:r>
          </a:p>
        </p:txBody>
      </p:sp>
      <p:sp>
        <p:nvSpPr>
          <p:cNvPr id="6" name="TextBox 5"/>
          <p:cNvSpPr txBox="1"/>
          <p:nvPr/>
        </p:nvSpPr>
        <p:spPr>
          <a:xfrm>
            <a:off x="1097280" y="1124712"/>
            <a:ext cx="13075920" cy="676656"/>
          </a:xfrm>
          <a:prstGeom prst="rect">
            <a:avLst/>
          </a:prstGeom>
          <a:noFill/>
        </p:spPr>
        <p:txBody>
          <a:bodyPr wrap="square" lIns="0" tIns="0" rIns="0" bIns="0" anchor="t">
            <a:noAutofit/>
          </a:bodyPr>
          <a:lstStyle/>
          <a:p>
            <a:pPr algn="l">
              <a:lnSpc>
                <a:spcPct val="98000"/>
              </a:lnSpc>
              <a:spcAft>
                <a:spcPts val="0"/>
              </a:spcAft>
            </a:pPr>
            <a:r>
              <a:rPr sz="3300" b="1" i="0">
                <a:solidFill>
                  <a:srgbClr val="F4FFFA"/>
                </a:solidFill>
                <a:latin typeface="Avenir Next"/>
              </a:rPr>
              <a:t>Useful prototype. Not production-secure yet.</a:t>
            </a:r>
          </a:p>
        </p:txBody>
      </p:sp>
      <p:sp>
        <p:nvSpPr>
          <p:cNvPr id="7" name="TextBox 6"/>
          <p:cNvSpPr txBox="1"/>
          <p:nvPr/>
        </p:nvSpPr>
        <p:spPr>
          <a:xfrm>
            <a:off x="1143000" y="1865376"/>
            <a:ext cx="13258800" cy="502920"/>
          </a:xfrm>
          <a:prstGeom prst="rect">
            <a:avLst/>
          </a:prstGeom>
          <a:noFill/>
        </p:spPr>
        <p:txBody>
          <a:bodyPr wrap="square" lIns="0" tIns="0" rIns="0" bIns="0" anchor="t">
            <a:noAutofit/>
          </a:bodyPr>
          <a:lstStyle/>
          <a:p>
            <a:pPr algn="l">
              <a:lnSpc>
                <a:spcPct val="110000"/>
              </a:lnSpc>
              <a:spcAft>
                <a:spcPts val="0"/>
              </a:spcAft>
            </a:pPr>
            <a:r>
              <a:rPr sz="1400" b="0" i="0">
                <a:solidFill>
                  <a:srgbClr val="ADC9BE"/>
                </a:solidFill>
                <a:latin typeface="Avenir Next"/>
              </a:rPr>
              <a:t>The honest gaps are part of the engineering plan.</a:t>
            </a:r>
          </a:p>
        </p:txBody>
      </p:sp>
      <p:sp>
        <p:nvSpPr>
          <p:cNvPr id="8" name="Rectangle 7"/>
          <p:cNvSpPr/>
          <p:nvPr/>
        </p:nvSpPr>
        <p:spPr>
          <a:xfrm>
            <a:off x="1143000" y="2542032"/>
            <a:ext cx="1143000" cy="41148"/>
          </a:xfrm>
          <a:prstGeom prst="rect">
            <a:avLst/>
          </a:prstGeom>
          <a:solidFill>
            <a:srgbClr val="A6F2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ounded Rectangle 8"/>
          <p:cNvSpPr/>
          <p:nvPr/>
        </p:nvSpPr>
        <p:spPr>
          <a:xfrm>
            <a:off x="14127480" y="1143000"/>
            <a:ext cx="3017520" cy="347472"/>
          </a:xfrm>
          <a:prstGeom prst="roundRect">
            <a:avLst>
              <a:gd name="adj" fmla="val 50000"/>
            </a:avLst>
          </a:prstGeom>
          <a:solidFill>
            <a:srgbClr val="0A221B"/>
          </a:solidFill>
          <a:ln w="8890">
            <a:solidFill>
              <a:srgbClr val="A6F26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14164055" y="1161288"/>
            <a:ext cx="2944368" cy="310896"/>
          </a:xfrm>
          <a:prstGeom prst="rect">
            <a:avLst/>
          </a:prstGeom>
          <a:noFill/>
        </p:spPr>
        <p:txBody>
          <a:bodyPr wrap="square" lIns="9144" tIns="0" rIns="9144" bIns="0" anchor="ctr">
            <a:noAutofit/>
          </a:bodyPr>
          <a:lstStyle/>
          <a:p>
            <a:pPr algn="ctr">
              <a:lnSpc>
                <a:spcPct val="105000"/>
              </a:lnSpc>
              <a:spcAft>
                <a:spcPts val="0"/>
              </a:spcAft>
            </a:pPr>
            <a:r>
              <a:rPr sz="819" b="1" i="0">
                <a:solidFill>
                  <a:srgbClr val="A6F26B"/>
                </a:solidFill>
                <a:latin typeface="Avenir Next"/>
              </a:rPr>
              <a:t>PROTOTYPE</a:t>
            </a:r>
          </a:p>
        </p:txBody>
      </p:sp>
      <p:sp>
        <p:nvSpPr>
          <p:cNvPr id="11" name="Rounded Rectangle 10"/>
          <p:cNvSpPr/>
          <p:nvPr/>
        </p:nvSpPr>
        <p:spPr>
          <a:xfrm>
            <a:off x="1143000" y="2788920"/>
            <a:ext cx="7772400" cy="2084831"/>
          </a:xfrm>
          <a:prstGeom prst="roundRect">
            <a:avLst>
              <a:gd name="adj" fmla="val 8000"/>
            </a:avLst>
          </a:prstGeom>
          <a:solidFill>
            <a:srgbClr val="071813"/>
          </a:solidFill>
          <a:ln w="10160">
            <a:solidFill>
              <a:srgbClr val="2C5A4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1344168" y="2953512"/>
            <a:ext cx="4572000" cy="274320"/>
          </a:xfrm>
          <a:prstGeom prst="rect">
            <a:avLst/>
          </a:prstGeom>
          <a:noFill/>
        </p:spPr>
        <p:txBody>
          <a:bodyPr wrap="square" lIns="18288" tIns="18288" rIns="18288" bIns="18288" anchor="t">
            <a:noAutofit/>
          </a:bodyPr>
          <a:lstStyle/>
          <a:p>
            <a:pPr algn="l">
              <a:lnSpc>
                <a:spcPct val="105000"/>
              </a:lnSpc>
              <a:spcAft>
                <a:spcPts val="0"/>
              </a:spcAft>
            </a:pPr>
            <a:r>
              <a:rPr sz="1350" b="1" i="0">
                <a:solidFill>
                  <a:srgbClr val="F4FFFA"/>
                </a:solidFill>
                <a:latin typeface="Avenir Next"/>
              </a:rPr>
              <a:t>Identity &amp; access</a:t>
            </a:r>
          </a:p>
        </p:txBody>
      </p:sp>
      <p:sp>
        <p:nvSpPr>
          <p:cNvPr id="13" name="Rounded Rectangle 12"/>
          <p:cNvSpPr/>
          <p:nvPr/>
        </p:nvSpPr>
        <p:spPr>
          <a:xfrm>
            <a:off x="1344168" y="3319272"/>
            <a:ext cx="1417320" cy="274320"/>
          </a:xfrm>
          <a:prstGeom prst="roundRect">
            <a:avLst>
              <a:gd name="adj" fmla="val 50000"/>
            </a:avLst>
          </a:prstGeom>
          <a:solidFill>
            <a:srgbClr val="0A221B"/>
          </a:solidFill>
          <a:ln w="8890">
            <a:solidFill>
              <a:srgbClr val="A6F26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1380744" y="3337560"/>
            <a:ext cx="1344168" cy="237744"/>
          </a:xfrm>
          <a:prstGeom prst="rect">
            <a:avLst/>
          </a:prstGeom>
          <a:noFill/>
        </p:spPr>
        <p:txBody>
          <a:bodyPr wrap="square" lIns="9144" tIns="0" rIns="9144" bIns="0" anchor="ctr">
            <a:noAutofit/>
          </a:bodyPr>
          <a:lstStyle/>
          <a:p>
            <a:pPr algn="ctr">
              <a:lnSpc>
                <a:spcPct val="105000"/>
              </a:lnSpc>
              <a:spcAft>
                <a:spcPts val="0"/>
              </a:spcAft>
            </a:pPr>
            <a:r>
              <a:rPr sz="660" b="1" i="0">
                <a:solidFill>
                  <a:srgbClr val="A6F26B"/>
                </a:solidFill>
                <a:latin typeface="Avenir Next"/>
              </a:rPr>
              <a:t>IMPLEMENTED</a:t>
            </a:r>
          </a:p>
        </p:txBody>
      </p:sp>
      <p:sp>
        <p:nvSpPr>
          <p:cNvPr id="15" name="TextBox 14"/>
          <p:cNvSpPr txBox="1"/>
          <p:nvPr/>
        </p:nvSpPr>
        <p:spPr>
          <a:xfrm>
            <a:off x="1344168" y="3721608"/>
            <a:ext cx="7315200" cy="1005840"/>
          </a:xfrm>
          <a:prstGeom prst="rect">
            <a:avLst/>
          </a:prstGeom>
          <a:noFill/>
        </p:spPr>
        <p:txBody>
          <a:bodyPr wrap="square" lIns="18288" tIns="18288" rIns="18288" bIns="18288" anchor="t">
            <a:noAutofit/>
          </a:bodyPr>
          <a:lstStyle/>
          <a:p>
            <a:pPr algn="l">
              <a:lnSpc>
                <a:spcPct val="110000"/>
              </a:lnSpc>
              <a:spcAft>
                <a:spcPts val="0"/>
              </a:spcAft>
            </a:pPr>
            <a:r>
              <a:rPr sz="980" b="0" i="0">
                <a:solidFill>
                  <a:srgbClr val="ADC9BE"/>
                </a:solidFill>
                <a:latin typeface="Avenir Next"/>
              </a:rPr>
              <a:t>JWT sessions · farmer / officer / admin roles · per-device MQTT credentials.</a:t>
            </a:r>
          </a:p>
        </p:txBody>
      </p:sp>
      <p:sp>
        <p:nvSpPr>
          <p:cNvPr id="16" name="Rounded Rectangle 15"/>
          <p:cNvSpPr/>
          <p:nvPr/>
        </p:nvSpPr>
        <p:spPr>
          <a:xfrm>
            <a:off x="9116568" y="2788920"/>
            <a:ext cx="7772400" cy="2084831"/>
          </a:xfrm>
          <a:prstGeom prst="roundRect">
            <a:avLst>
              <a:gd name="adj" fmla="val 8000"/>
            </a:avLst>
          </a:prstGeom>
          <a:solidFill>
            <a:srgbClr val="071813"/>
          </a:solidFill>
          <a:ln w="10160">
            <a:solidFill>
              <a:srgbClr val="2C5A4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9317736" y="2953512"/>
            <a:ext cx="4572000" cy="274320"/>
          </a:xfrm>
          <a:prstGeom prst="rect">
            <a:avLst/>
          </a:prstGeom>
          <a:noFill/>
        </p:spPr>
        <p:txBody>
          <a:bodyPr wrap="square" lIns="18288" tIns="18288" rIns="18288" bIns="18288" anchor="t">
            <a:noAutofit/>
          </a:bodyPr>
          <a:lstStyle/>
          <a:p>
            <a:pPr algn="l">
              <a:lnSpc>
                <a:spcPct val="105000"/>
              </a:lnSpc>
              <a:spcAft>
                <a:spcPts val="0"/>
              </a:spcAft>
            </a:pPr>
            <a:r>
              <a:rPr sz="1350" b="1" i="0">
                <a:solidFill>
                  <a:srgbClr val="F4FFFA"/>
                </a:solidFill>
                <a:latin typeface="Avenir Next"/>
              </a:rPr>
              <a:t>Transport</a:t>
            </a:r>
          </a:p>
        </p:txBody>
      </p:sp>
      <p:sp>
        <p:nvSpPr>
          <p:cNvPr id="18" name="Rounded Rectangle 17"/>
          <p:cNvSpPr/>
          <p:nvPr/>
        </p:nvSpPr>
        <p:spPr>
          <a:xfrm>
            <a:off x="9317736" y="3319272"/>
            <a:ext cx="1417320" cy="274320"/>
          </a:xfrm>
          <a:prstGeom prst="roundRect">
            <a:avLst>
              <a:gd name="adj" fmla="val 50000"/>
            </a:avLst>
          </a:prstGeom>
          <a:solidFill>
            <a:srgbClr val="0A221B"/>
          </a:solidFill>
          <a:ln w="8890">
            <a:solidFill>
              <a:srgbClr val="F26B6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9354312" y="3337560"/>
            <a:ext cx="1344168" cy="237744"/>
          </a:xfrm>
          <a:prstGeom prst="rect">
            <a:avLst/>
          </a:prstGeom>
          <a:noFill/>
        </p:spPr>
        <p:txBody>
          <a:bodyPr wrap="square" lIns="9144" tIns="0" rIns="9144" bIns="0" anchor="ctr">
            <a:noAutofit/>
          </a:bodyPr>
          <a:lstStyle/>
          <a:p>
            <a:pPr algn="ctr">
              <a:lnSpc>
                <a:spcPct val="105000"/>
              </a:lnSpc>
              <a:spcAft>
                <a:spcPts val="0"/>
              </a:spcAft>
            </a:pPr>
            <a:r>
              <a:rPr sz="660" b="1" i="0">
                <a:solidFill>
                  <a:srgbClr val="F26B6B"/>
                </a:solidFill>
                <a:latin typeface="Avenir Next"/>
              </a:rPr>
              <a:t>GAP</a:t>
            </a:r>
          </a:p>
        </p:txBody>
      </p:sp>
      <p:sp>
        <p:nvSpPr>
          <p:cNvPr id="20" name="TextBox 19"/>
          <p:cNvSpPr txBox="1"/>
          <p:nvPr/>
        </p:nvSpPr>
        <p:spPr>
          <a:xfrm>
            <a:off x="9317736" y="3721608"/>
            <a:ext cx="7315200" cy="1005840"/>
          </a:xfrm>
          <a:prstGeom prst="rect">
            <a:avLst/>
          </a:prstGeom>
          <a:noFill/>
        </p:spPr>
        <p:txBody>
          <a:bodyPr wrap="square" lIns="18288" tIns="18288" rIns="18288" bIns="18288" anchor="t">
            <a:noAutofit/>
          </a:bodyPr>
          <a:lstStyle/>
          <a:p>
            <a:pPr algn="l">
              <a:lnSpc>
                <a:spcPct val="110000"/>
              </a:lnSpc>
              <a:spcAft>
                <a:spcPts val="0"/>
              </a:spcAft>
            </a:pPr>
            <a:r>
              <a:rPr sz="980" b="0" i="0">
                <a:solidFill>
                  <a:srgbClr val="ADC9BE"/>
                </a:solidFill>
                <a:latin typeface="Avenir Next"/>
              </a:rPr>
              <a:t>MQTT on 1883 with username/password · local HTTP. TLS, restricted CORS and secret rotation are required before deployment.</a:t>
            </a:r>
          </a:p>
        </p:txBody>
      </p:sp>
      <p:sp>
        <p:nvSpPr>
          <p:cNvPr id="21" name="Rounded Rectangle 20"/>
          <p:cNvSpPr/>
          <p:nvPr/>
        </p:nvSpPr>
        <p:spPr>
          <a:xfrm>
            <a:off x="1143000" y="5120640"/>
            <a:ext cx="7772400" cy="2084831"/>
          </a:xfrm>
          <a:prstGeom prst="roundRect">
            <a:avLst>
              <a:gd name="adj" fmla="val 8000"/>
            </a:avLst>
          </a:prstGeom>
          <a:solidFill>
            <a:srgbClr val="071813"/>
          </a:solidFill>
          <a:ln w="10160">
            <a:solidFill>
              <a:srgbClr val="2C5A4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1344168" y="5285231"/>
            <a:ext cx="4572000" cy="274320"/>
          </a:xfrm>
          <a:prstGeom prst="rect">
            <a:avLst/>
          </a:prstGeom>
          <a:noFill/>
        </p:spPr>
        <p:txBody>
          <a:bodyPr wrap="square" lIns="18288" tIns="18288" rIns="18288" bIns="18288" anchor="t">
            <a:noAutofit/>
          </a:bodyPr>
          <a:lstStyle/>
          <a:p>
            <a:pPr algn="l">
              <a:lnSpc>
                <a:spcPct val="105000"/>
              </a:lnSpc>
              <a:spcAft>
                <a:spcPts val="0"/>
              </a:spcAft>
            </a:pPr>
            <a:r>
              <a:rPr sz="1350" b="1" i="0">
                <a:solidFill>
                  <a:srgbClr val="F4FFFA"/>
                </a:solidFill>
                <a:latin typeface="Avenir Next"/>
              </a:rPr>
              <a:t>Field resilience</a:t>
            </a:r>
          </a:p>
        </p:txBody>
      </p:sp>
      <p:sp>
        <p:nvSpPr>
          <p:cNvPr id="23" name="Rounded Rectangle 22"/>
          <p:cNvSpPr/>
          <p:nvPr/>
        </p:nvSpPr>
        <p:spPr>
          <a:xfrm>
            <a:off x="1344168" y="5650992"/>
            <a:ext cx="1417320" cy="274320"/>
          </a:xfrm>
          <a:prstGeom prst="roundRect">
            <a:avLst>
              <a:gd name="adj" fmla="val 50000"/>
            </a:avLst>
          </a:prstGeom>
          <a:solidFill>
            <a:srgbClr val="0A221B"/>
          </a:solidFill>
          <a:ln w="8890">
            <a:solidFill>
              <a:srgbClr val="59D7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1380744" y="5669279"/>
            <a:ext cx="1344168" cy="237744"/>
          </a:xfrm>
          <a:prstGeom prst="rect">
            <a:avLst/>
          </a:prstGeom>
          <a:noFill/>
        </p:spPr>
        <p:txBody>
          <a:bodyPr wrap="square" lIns="9144" tIns="0" rIns="9144" bIns="0" anchor="ctr">
            <a:noAutofit/>
          </a:bodyPr>
          <a:lstStyle/>
          <a:p>
            <a:pPr algn="ctr">
              <a:lnSpc>
                <a:spcPct val="105000"/>
              </a:lnSpc>
              <a:spcAft>
                <a:spcPts val="0"/>
              </a:spcAft>
            </a:pPr>
            <a:r>
              <a:rPr sz="660" b="1" i="0">
                <a:solidFill>
                  <a:srgbClr val="59D7F0"/>
                </a:solidFill>
                <a:latin typeface="Avenir Next"/>
              </a:rPr>
              <a:t>IMPLEMENTED</a:t>
            </a:r>
          </a:p>
        </p:txBody>
      </p:sp>
      <p:sp>
        <p:nvSpPr>
          <p:cNvPr id="25" name="TextBox 24"/>
          <p:cNvSpPr txBox="1"/>
          <p:nvPr/>
        </p:nvSpPr>
        <p:spPr>
          <a:xfrm>
            <a:off x="1344168" y="6053327"/>
            <a:ext cx="7315200" cy="1005840"/>
          </a:xfrm>
          <a:prstGeom prst="rect">
            <a:avLst/>
          </a:prstGeom>
          <a:noFill/>
        </p:spPr>
        <p:txBody>
          <a:bodyPr wrap="square" lIns="18288" tIns="18288" rIns="18288" bIns="18288" anchor="t">
            <a:noAutofit/>
          </a:bodyPr>
          <a:lstStyle/>
          <a:p>
            <a:pPr algn="l">
              <a:lnSpc>
                <a:spcPct val="110000"/>
              </a:lnSpc>
              <a:spcAft>
                <a:spcPts val="0"/>
              </a:spcAft>
            </a:pPr>
            <a:r>
              <a:rPr sz="980" b="0" i="0">
                <a:solidFill>
                  <a:srgbClr val="ADC9BE"/>
                </a:solidFill>
                <a:latin typeface="Avenir Next"/>
              </a:rPr>
              <a:t>ESP32 ring buffer (60 messages) · stale-reading flag · app cache of the last verified state.</a:t>
            </a:r>
          </a:p>
        </p:txBody>
      </p:sp>
      <p:sp>
        <p:nvSpPr>
          <p:cNvPr id="26" name="Rounded Rectangle 25"/>
          <p:cNvSpPr/>
          <p:nvPr/>
        </p:nvSpPr>
        <p:spPr>
          <a:xfrm>
            <a:off x="9116568" y="5120640"/>
            <a:ext cx="7772400" cy="2084831"/>
          </a:xfrm>
          <a:prstGeom prst="roundRect">
            <a:avLst>
              <a:gd name="adj" fmla="val 8000"/>
            </a:avLst>
          </a:prstGeom>
          <a:solidFill>
            <a:srgbClr val="071813"/>
          </a:solidFill>
          <a:ln w="10160">
            <a:solidFill>
              <a:srgbClr val="2C5A4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TextBox 26"/>
          <p:cNvSpPr txBox="1"/>
          <p:nvPr/>
        </p:nvSpPr>
        <p:spPr>
          <a:xfrm>
            <a:off x="9317736" y="5285231"/>
            <a:ext cx="4572000" cy="274320"/>
          </a:xfrm>
          <a:prstGeom prst="rect">
            <a:avLst/>
          </a:prstGeom>
          <a:noFill/>
        </p:spPr>
        <p:txBody>
          <a:bodyPr wrap="square" lIns="18288" tIns="18288" rIns="18288" bIns="18288" anchor="t">
            <a:noAutofit/>
          </a:bodyPr>
          <a:lstStyle/>
          <a:p>
            <a:pPr algn="l">
              <a:lnSpc>
                <a:spcPct val="105000"/>
              </a:lnSpc>
              <a:spcAft>
                <a:spcPts val="0"/>
              </a:spcAft>
            </a:pPr>
            <a:r>
              <a:rPr sz="1350" b="1" i="0">
                <a:solidFill>
                  <a:srgbClr val="F4FFFA"/>
                </a:solidFill>
                <a:latin typeface="Avenir Next"/>
              </a:rPr>
              <a:t>Control boundary</a:t>
            </a:r>
          </a:p>
        </p:txBody>
      </p:sp>
      <p:sp>
        <p:nvSpPr>
          <p:cNvPr id="28" name="Rounded Rectangle 27"/>
          <p:cNvSpPr/>
          <p:nvPr/>
        </p:nvSpPr>
        <p:spPr>
          <a:xfrm>
            <a:off x="9317736" y="5650992"/>
            <a:ext cx="1417320" cy="274320"/>
          </a:xfrm>
          <a:prstGeom prst="roundRect">
            <a:avLst>
              <a:gd name="adj" fmla="val 50000"/>
            </a:avLst>
          </a:prstGeom>
          <a:solidFill>
            <a:srgbClr val="0A221B"/>
          </a:solidFill>
          <a:ln w="8890">
            <a:solidFill>
              <a:srgbClr val="F5C45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TextBox 28"/>
          <p:cNvSpPr txBox="1"/>
          <p:nvPr/>
        </p:nvSpPr>
        <p:spPr>
          <a:xfrm>
            <a:off x="9354312" y="5669279"/>
            <a:ext cx="1344168" cy="237744"/>
          </a:xfrm>
          <a:prstGeom prst="rect">
            <a:avLst/>
          </a:prstGeom>
          <a:noFill/>
        </p:spPr>
        <p:txBody>
          <a:bodyPr wrap="square" lIns="9144" tIns="0" rIns="9144" bIns="0" anchor="ctr">
            <a:noAutofit/>
          </a:bodyPr>
          <a:lstStyle/>
          <a:p>
            <a:pPr algn="ctr">
              <a:lnSpc>
                <a:spcPct val="105000"/>
              </a:lnSpc>
              <a:spcAft>
                <a:spcPts val="0"/>
              </a:spcAft>
            </a:pPr>
            <a:r>
              <a:rPr sz="660" b="1" i="0">
                <a:solidFill>
                  <a:srgbClr val="F5C451"/>
                </a:solidFill>
                <a:latin typeface="Avenir Next"/>
              </a:rPr>
              <a:t>BY DESIGN</a:t>
            </a:r>
          </a:p>
        </p:txBody>
      </p:sp>
      <p:sp>
        <p:nvSpPr>
          <p:cNvPr id="30" name="TextBox 29"/>
          <p:cNvSpPr txBox="1"/>
          <p:nvPr/>
        </p:nvSpPr>
        <p:spPr>
          <a:xfrm>
            <a:off x="9317736" y="6053327"/>
            <a:ext cx="7315200" cy="1005840"/>
          </a:xfrm>
          <a:prstGeom prst="rect">
            <a:avLst/>
          </a:prstGeom>
          <a:noFill/>
        </p:spPr>
        <p:txBody>
          <a:bodyPr wrap="square" lIns="18288" tIns="18288" rIns="18288" bIns="18288" anchor="t">
            <a:noAutofit/>
          </a:bodyPr>
          <a:lstStyle/>
          <a:p>
            <a:pPr algn="l">
              <a:lnSpc>
                <a:spcPct val="110000"/>
              </a:lnSpc>
              <a:spcAft>
                <a:spcPts val="0"/>
              </a:spcAft>
            </a:pPr>
            <a:r>
              <a:rPr sz="980" b="0" i="0">
                <a:solidFill>
                  <a:srgbClr val="ADC9BE"/>
                </a:solidFill>
                <a:latin typeface="Avenir Next"/>
              </a:rPr>
              <a:t>Advice only. The relay appears in the model, but the pipeline never actuates the pump.</a:t>
            </a:r>
          </a:p>
        </p:txBody>
      </p:sp>
      <p:sp>
        <p:nvSpPr>
          <p:cNvPr id="31" name="Rounded Rectangle 30"/>
          <p:cNvSpPr/>
          <p:nvPr/>
        </p:nvSpPr>
        <p:spPr>
          <a:xfrm>
            <a:off x="1143000" y="7452360"/>
            <a:ext cx="15864840" cy="694944"/>
          </a:xfrm>
          <a:prstGeom prst="roundRect">
            <a:avLst>
              <a:gd name="adj" fmla="val 8000"/>
            </a:avLst>
          </a:prstGeom>
          <a:solidFill>
            <a:srgbClr val="102C23"/>
          </a:solidFill>
          <a:ln w="10160">
            <a:solidFill>
              <a:srgbClr val="F26B6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TextBox 31"/>
          <p:cNvSpPr txBox="1"/>
          <p:nvPr/>
        </p:nvSpPr>
        <p:spPr>
          <a:xfrm>
            <a:off x="1417320" y="7598664"/>
            <a:ext cx="15316200" cy="402336"/>
          </a:xfrm>
          <a:prstGeom prst="rect">
            <a:avLst/>
          </a:prstGeom>
          <a:noFill/>
        </p:spPr>
        <p:txBody>
          <a:bodyPr wrap="square" lIns="18288" tIns="18288" rIns="18288" bIns="18288" anchor="t">
            <a:noAutofit/>
          </a:bodyPr>
          <a:lstStyle/>
          <a:p>
            <a:pPr algn="l">
              <a:lnSpc>
                <a:spcPct val="105000"/>
              </a:lnSpc>
              <a:spcAft>
                <a:spcPts val="0"/>
              </a:spcAft>
            </a:pPr>
            <a:r>
              <a:rPr sz="1080" b="1" i="0">
                <a:solidFill>
                  <a:srgbClr val="F4FFFA"/>
                </a:solidFill>
                <a:latin typeface="Avenir Next"/>
              </a:rPr>
              <a:t>Known gaps to say out loud: no TLS, no push notifications, no automatic pump control, voltage-based SoC only.</a:t>
            </a:r>
          </a:p>
        </p:txBody>
      </p:sp>
      <p:sp>
        <p:nvSpPr>
          <p:cNvPr id="33" name="TextBox 32"/>
          <p:cNvSpPr txBox="1"/>
          <p:nvPr/>
        </p:nvSpPr>
        <p:spPr>
          <a:xfrm>
            <a:off x="4983480" y="9619488"/>
            <a:ext cx="5852160" cy="228600"/>
          </a:xfrm>
          <a:prstGeom prst="rect">
            <a:avLst/>
          </a:prstGeom>
          <a:noFill/>
        </p:spPr>
        <p:txBody>
          <a:bodyPr wrap="square" lIns="0" tIns="0" rIns="0" bIns="0" anchor="t">
            <a:noAutofit/>
          </a:bodyPr>
          <a:lstStyle/>
          <a:p>
            <a:pPr algn="l">
              <a:lnSpc>
                <a:spcPct val="105000"/>
              </a:lnSpc>
              <a:spcAft>
                <a:spcPts val="0"/>
              </a:spcAft>
            </a:pPr>
            <a:r>
              <a:rPr sz="819" b="0" i="0">
                <a:solidFill>
                  <a:srgbClr val="7CA091"/>
                </a:solidFill>
                <a:latin typeface="Avenir Next"/>
              </a:rPr>
              <a:t>TrustFarm  ·  INNOVA 2026  ·  ICBT</a:t>
            </a:r>
          </a:p>
        </p:txBody>
      </p:sp>
      <p:sp>
        <p:nvSpPr>
          <p:cNvPr id="34" name="TextBox 33"/>
          <p:cNvSpPr txBox="1"/>
          <p:nvPr/>
        </p:nvSpPr>
        <p:spPr>
          <a:xfrm>
            <a:off x="11018520" y="9619488"/>
            <a:ext cx="1234440" cy="228600"/>
          </a:xfrm>
          <a:prstGeom prst="rect">
            <a:avLst/>
          </a:prstGeom>
          <a:noFill/>
        </p:spPr>
        <p:txBody>
          <a:bodyPr wrap="square" lIns="0" tIns="0" rIns="0" bIns="0" anchor="t">
            <a:noAutofit/>
          </a:bodyPr>
          <a:lstStyle/>
          <a:p>
            <a:pPr algn="r">
              <a:lnSpc>
                <a:spcPct val="105000"/>
              </a:lnSpc>
              <a:spcAft>
                <a:spcPts val="0"/>
              </a:spcAft>
            </a:pPr>
            <a:r>
              <a:rPr sz="819" b="0" i="0">
                <a:solidFill>
                  <a:srgbClr val="7CA091"/>
                </a:solidFill>
                <a:latin typeface="Avenir Next"/>
              </a:rPr>
              <a:t>21 / 25</a:t>
            </a: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solidFill>
          <a:srgbClr val="1A1D1C"/>
        </a:solidFill>
        <a:effectLst/>
      </p:bgPr>
    </p:bg>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25192566" h="16800292">
                <a:moveTo>
                  <a:pt x="0" y="0"/>
                </a:moveTo>
                <a:lnTo>
                  <a:pt x="25192566" y="0"/>
                </a:lnTo>
                <a:lnTo>
                  <a:pt x="25192566" y="16800292"/>
                </a:lnTo>
                <a:lnTo>
                  <a:pt x="0" y="16800292"/>
                </a:lnTo>
                <a:lnTo>
                  <a:pt x="0" y="0"/>
                </a:lnTo>
                <a:close/>
              </a:path>
            </a:pathLst>
          </a:custGeom>
          <a:blipFill>
            <a:blip r:embed="rId3"/>
            <a:stretch>
              <a:fillRect/>
            </a:stretch>
          </a:blipFill>
        </p:spPr>
        <p:txBody>
          <a:bodyPr/>
          <a:lstStyle/>
          <a:p>
            <a:endParaRPr/>
          </a:p>
        </p:txBody>
      </p:sp>
      <p:sp>
        <p:nvSpPr>
          <p:cNvPr id="3" name="Freeform 3"/>
          <p:cNvSpPr/>
          <p:nvPr/>
        </p:nvSpPr>
        <p:spPr>
          <a:xfrm>
            <a:off x="12596283" y="8658721"/>
            <a:ext cx="6457129" cy="1628279"/>
          </a:xfrm>
          <a:custGeom>
            <a:avLst/>
            <a:gdLst/>
            <a:ahLst/>
            <a:cxnLst/>
            <a:rect l="l" t="t" r="r" b="b"/>
            <a:pathLst>
              <a:path w="6457129" h="1628279">
                <a:moveTo>
                  <a:pt x="0" y="0"/>
                </a:moveTo>
                <a:lnTo>
                  <a:pt x="6457129" y="0"/>
                </a:lnTo>
                <a:lnTo>
                  <a:pt x="6457129" y="1628279"/>
                </a:lnTo>
                <a:lnTo>
                  <a:pt x="0" y="1628279"/>
                </a:lnTo>
                <a:lnTo>
                  <a:pt x="0" y="0"/>
                </a:lnTo>
                <a:close/>
              </a:path>
            </a:pathLst>
          </a:custGeom>
          <a:blipFill>
            <a:blip r:embed="rId4"/>
            <a:stretch>
              <a:fillRect t="-85078" b="-85078"/>
            </a:stretch>
          </a:blipFill>
        </p:spPr>
        <p:txBody>
          <a:bodyPr/>
          <a:lstStyle/>
          <a:p>
            <a:endParaRPr/>
          </a:p>
        </p:txBody>
      </p:sp>
      <p:sp>
        <p:nvSpPr>
          <p:cNvPr id="4" name="Freeform 4"/>
          <p:cNvSpPr/>
          <p:nvPr/>
        </p:nvSpPr>
        <p:spPr>
          <a:xfrm>
            <a:off x="0" y="8072991"/>
            <a:ext cx="2839033" cy="2839033"/>
          </a:xfrm>
          <a:custGeom>
            <a:avLst/>
            <a:gdLst/>
            <a:ahLst/>
            <a:cxnLst/>
            <a:rect l="l" t="t" r="r" b="b"/>
            <a:pathLst>
              <a:path w="2839033" h="2839033">
                <a:moveTo>
                  <a:pt x="0" y="0"/>
                </a:moveTo>
                <a:lnTo>
                  <a:pt x="2839033" y="0"/>
                </a:lnTo>
                <a:lnTo>
                  <a:pt x="2839033" y="2839033"/>
                </a:lnTo>
                <a:lnTo>
                  <a:pt x="0" y="2839033"/>
                </a:lnTo>
                <a:lnTo>
                  <a:pt x="0" y="0"/>
                </a:lnTo>
                <a:close/>
              </a:path>
            </a:pathLst>
          </a:custGeom>
          <a:blipFill>
            <a:blip r:embed="rId5"/>
            <a:stretch>
              <a:fillRect/>
            </a:stretch>
          </a:blipFill>
        </p:spPr>
        <p:txBody>
          <a:bodyPr/>
          <a:lstStyle/>
          <a:p>
            <a:endParaRPr/>
          </a:p>
        </p:txBody>
      </p:sp>
      <p:sp>
        <p:nvSpPr>
          <p:cNvPr id="5" name="TextBox 4"/>
          <p:cNvSpPr txBox="1"/>
          <p:nvPr/>
        </p:nvSpPr>
        <p:spPr>
          <a:xfrm>
            <a:off x="1143000" y="841248"/>
            <a:ext cx="10972800" cy="292608"/>
          </a:xfrm>
          <a:prstGeom prst="rect">
            <a:avLst/>
          </a:prstGeom>
          <a:noFill/>
        </p:spPr>
        <p:txBody>
          <a:bodyPr wrap="square" lIns="0" tIns="0" rIns="0" bIns="0" anchor="t">
            <a:noAutofit/>
          </a:bodyPr>
          <a:lstStyle/>
          <a:p>
            <a:pPr algn="l">
              <a:lnSpc>
                <a:spcPct val="105000"/>
              </a:lnSpc>
              <a:spcAft>
                <a:spcPts val="0"/>
              </a:spcAft>
            </a:pPr>
            <a:r>
              <a:rPr sz="1000" b="1" i="0">
                <a:solidFill>
                  <a:srgbClr val="A6F26B"/>
                </a:solidFill>
                <a:latin typeface="Avenir Next"/>
              </a:rPr>
              <a:t>VALIDATION</a:t>
            </a:r>
          </a:p>
        </p:txBody>
      </p:sp>
      <p:sp>
        <p:nvSpPr>
          <p:cNvPr id="6" name="TextBox 5"/>
          <p:cNvSpPr txBox="1"/>
          <p:nvPr/>
        </p:nvSpPr>
        <p:spPr>
          <a:xfrm>
            <a:off x="1097280" y="1124712"/>
            <a:ext cx="13075920" cy="676656"/>
          </a:xfrm>
          <a:prstGeom prst="rect">
            <a:avLst/>
          </a:prstGeom>
          <a:noFill/>
        </p:spPr>
        <p:txBody>
          <a:bodyPr wrap="square" lIns="0" tIns="0" rIns="0" bIns="0" anchor="t">
            <a:noAutofit/>
          </a:bodyPr>
          <a:lstStyle/>
          <a:p>
            <a:pPr algn="l">
              <a:lnSpc>
                <a:spcPct val="98000"/>
              </a:lnSpc>
              <a:spcAft>
                <a:spcPts val="0"/>
              </a:spcAft>
            </a:pPr>
            <a:r>
              <a:rPr sz="3300" b="1" i="0">
                <a:solidFill>
                  <a:srgbClr val="F4FFFA"/>
                </a:solidFill>
                <a:latin typeface="Avenir Next"/>
              </a:rPr>
              <a:t>Planned evidence, risks and exit criteria.</a:t>
            </a:r>
          </a:p>
        </p:txBody>
      </p:sp>
      <p:sp>
        <p:nvSpPr>
          <p:cNvPr id="7" name="TextBox 6"/>
          <p:cNvSpPr txBox="1"/>
          <p:nvPr/>
        </p:nvSpPr>
        <p:spPr>
          <a:xfrm>
            <a:off x="1143000" y="1865376"/>
            <a:ext cx="13258800" cy="502920"/>
          </a:xfrm>
          <a:prstGeom prst="rect">
            <a:avLst/>
          </a:prstGeom>
          <a:noFill/>
        </p:spPr>
        <p:txBody>
          <a:bodyPr wrap="square" lIns="0" tIns="0" rIns="0" bIns="0" anchor="t">
            <a:noAutofit/>
          </a:bodyPr>
          <a:lstStyle/>
          <a:p>
            <a:pPr algn="l">
              <a:lnSpc>
                <a:spcPct val="110000"/>
              </a:lnSpc>
              <a:spcAft>
                <a:spcPts val="0"/>
              </a:spcAft>
            </a:pPr>
            <a:r>
              <a:rPr sz="1400" b="0" i="0">
                <a:solidFill>
                  <a:srgbClr val="ADC9BE"/>
                </a:solidFill>
                <a:latin typeface="Avenir Next"/>
              </a:rPr>
              <a:t>The pilot is the next gate. No field results are claimed yet.</a:t>
            </a:r>
          </a:p>
        </p:txBody>
      </p:sp>
      <p:sp>
        <p:nvSpPr>
          <p:cNvPr id="8" name="Rectangle 7"/>
          <p:cNvSpPr/>
          <p:nvPr/>
        </p:nvSpPr>
        <p:spPr>
          <a:xfrm>
            <a:off x="1143000" y="2542032"/>
            <a:ext cx="1143000" cy="41148"/>
          </a:xfrm>
          <a:prstGeom prst="rect">
            <a:avLst/>
          </a:prstGeom>
          <a:solidFill>
            <a:srgbClr val="A6F2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ounded Rectangle 8"/>
          <p:cNvSpPr/>
          <p:nvPr/>
        </p:nvSpPr>
        <p:spPr>
          <a:xfrm>
            <a:off x="14127480" y="1143000"/>
            <a:ext cx="3017520" cy="347472"/>
          </a:xfrm>
          <a:prstGeom prst="roundRect">
            <a:avLst>
              <a:gd name="adj" fmla="val 50000"/>
            </a:avLst>
          </a:prstGeom>
          <a:solidFill>
            <a:srgbClr val="0A221B"/>
          </a:solidFill>
          <a:ln w="8890">
            <a:solidFill>
              <a:srgbClr val="A6F26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14164055" y="1161288"/>
            <a:ext cx="2944368" cy="310896"/>
          </a:xfrm>
          <a:prstGeom prst="rect">
            <a:avLst/>
          </a:prstGeom>
          <a:noFill/>
        </p:spPr>
        <p:txBody>
          <a:bodyPr wrap="square" lIns="9144" tIns="0" rIns="9144" bIns="0" anchor="ctr">
            <a:noAutofit/>
          </a:bodyPr>
          <a:lstStyle/>
          <a:p>
            <a:pPr algn="ctr">
              <a:lnSpc>
                <a:spcPct val="105000"/>
              </a:lnSpc>
              <a:spcAft>
                <a:spcPts val="0"/>
              </a:spcAft>
            </a:pPr>
            <a:r>
              <a:rPr sz="819" b="1" i="0">
                <a:solidFill>
                  <a:srgbClr val="A6F26B"/>
                </a:solidFill>
                <a:latin typeface="Avenir Next"/>
              </a:rPr>
              <a:t>TARGETS, NOT CLAIMS</a:t>
            </a:r>
          </a:p>
        </p:txBody>
      </p:sp>
      <p:sp>
        <p:nvSpPr>
          <p:cNvPr id="11" name="Rounded Rectangle 10"/>
          <p:cNvSpPr/>
          <p:nvPr/>
        </p:nvSpPr>
        <p:spPr>
          <a:xfrm>
            <a:off x="1143000" y="2743200"/>
            <a:ext cx="7818120" cy="4297680"/>
          </a:xfrm>
          <a:prstGeom prst="roundRect">
            <a:avLst>
              <a:gd name="adj" fmla="val 8000"/>
            </a:avLst>
          </a:prstGeom>
          <a:solidFill>
            <a:srgbClr val="071813"/>
          </a:solidFill>
          <a:ln w="10160">
            <a:solidFill>
              <a:srgbClr val="2C5A4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1389888" y="2926080"/>
            <a:ext cx="7223760" cy="274320"/>
          </a:xfrm>
          <a:prstGeom prst="rect">
            <a:avLst/>
          </a:prstGeom>
          <a:noFill/>
        </p:spPr>
        <p:txBody>
          <a:bodyPr wrap="square" lIns="18288" tIns="18288" rIns="18288" bIns="18288" anchor="t">
            <a:noAutofit/>
          </a:bodyPr>
          <a:lstStyle/>
          <a:p>
            <a:pPr algn="l">
              <a:lnSpc>
                <a:spcPct val="105000"/>
              </a:lnSpc>
              <a:spcAft>
                <a:spcPts val="0"/>
              </a:spcAft>
            </a:pPr>
            <a:r>
              <a:rPr sz="950" b="1" i="0">
                <a:solidFill>
                  <a:srgbClr val="A6F26B"/>
                </a:solidFill>
                <a:latin typeface="Avenir Next"/>
              </a:rPr>
              <a:t>VALIDATION LADDER</a:t>
            </a:r>
          </a:p>
        </p:txBody>
      </p:sp>
      <p:sp>
        <p:nvSpPr>
          <p:cNvPr id="13" name="Oval 12"/>
          <p:cNvSpPr/>
          <p:nvPr/>
        </p:nvSpPr>
        <p:spPr>
          <a:xfrm>
            <a:off x="1389888" y="3273552"/>
            <a:ext cx="347472" cy="347472"/>
          </a:xfrm>
          <a:prstGeom prst="ellipse">
            <a:avLst/>
          </a:prstGeom>
          <a:solidFill>
            <a:srgbClr val="102C23"/>
          </a:solidFill>
          <a:ln w="12700">
            <a:solidFill>
              <a:srgbClr val="A6F26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1389888" y="3264408"/>
            <a:ext cx="347472" cy="347472"/>
          </a:xfrm>
          <a:prstGeom prst="rect">
            <a:avLst/>
          </a:prstGeom>
          <a:noFill/>
        </p:spPr>
        <p:txBody>
          <a:bodyPr wrap="square" lIns="0" tIns="0" rIns="0" bIns="0" anchor="ctr">
            <a:noAutofit/>
          </a:bodyPr>
          <a:lstStyle/>
          <a:p>
            <a:pPr algn="ctr">
              <a:lnSpc>
                <a:spcPct val="105000"/>
              </a:lnSpc>
              <a:spcAft>
                <a:spcPts val="0"/>
              </a:spcAft>
            </a:pPr>
            <a:r>
              <a:rPr sz="850" b="1" i="0">
                <a:solidFill>
                  <a:srgbClr val="A6F26B"/>
                </a:solidFill>
                <a:latin typeface="Avenir Next"/>
              </a:rPr>
              <a:t>1</a:t>
            </a:r>
          </a:p>
        </p:txBody>
      </p:sp>
      <p:sp>
        <p:nvSpPr>
          <p:cNvPr id="15" name="TextBox 14"/>
          <p:cNvSpPr txBox="1"/>
          <p:nvPr/>
        </p:nvSpPr>
        <p:spPr>
          <a:xfrm>
            <a:off x="1874519" y="3246120"/>
            <a:ext cx="2194560" cy="237744"/>
          </a:xfrm>
          <a:prstGeom prst="rect">
            <a:avLst/>
          </a:prstGeom>
          <a:noFill/>
        </p:spPr>
        <p:txBody>
          <a:bodyPr wrap="square" lIns="18288" tIns="18288" rIns="18288" bIns="18288" anchor="t">
            <a:noAutofit/>
          </a:bodyPr>
          <a:lstStyle/>
          <a:p>
            <a:pPr algn="l">
              <a:lnSpc>
                <a:spcPct val="105000"/>
              </a:lnSpc>
              <a:spcAft>
                <a:spcPts val="0"/>
              </a:spcAft>
            </a:pPr>
            <a:r>
              <a:rPr sz="1019" b="1" i="0">
                <a:solidFill>
                  <a:srgbClr val="F4FFFA"/>
                </a:solidFill>
                <a:latin typeface="Avenir Next"/>
              </a:rPr>
              <a:t>Bench calibration</a:t>
            </a:r>
          </a:p>
        </p:txBody>
      </p:sp>
      <p:sp>
        <p:nvSpPr>
          <p:cNvPr id="16" name="TextBox 15"/>
          <p:cNvSpPr txBox="1"/>
          <p:nvPr/>
        </p:nvSpPr>
        <p:spPr>
          <a:xfrm>
            <a:off x="4069080" y="3246120"/>
            <a:ext cx="4526280" cy="237744"/>
          </a:xfrm>
          <a:prstGeom prst="rect">
            <a:avLst/>
          </a:prstGeom>
          <a:noFill/>
        </p:spPr>
        <p:txBody>
          <a:bodyPr wrap="square" lIns="18288" tIns="18288" rIns="18288" bIns="18288" anchor="t">
            <a:noAutofit/>
          </a:bodyPr>
          <a:lstStyle/>
          <a:p>
            <a:pPr algn="l">
              <a:lnSpc>
                <a:spcPct val="105000"/>
              </a:lnSpc>
              <a:spcAft>
                <a:spcPts val="0"/>
              </a:spcAft>
            </a:pPr>
            <a:r>
              <a:rPr sz="880" b="0" i="0">
                <a:solidFill>
                  <a:srgbClr val="ADC9BE"/>
                </a:solidFill>
                <a:latin typeface="Avenir Next"/>
              </a:rPr>
              <a:t>raw dry/wet, two probes per zone, repeatability</a:t>
            </a:r>
          </a:p>
        </p:txBody>
      </p:sp>
      <p:sp>
        <p:nvSpPr>
          <p:cNvPr id="17" name="Oval 16"/>
          <p:cNvSpPr/>
          <p:nvPr/>
        </p:nvSpPr>
        <p:spPr>
          <a:xfrm>
            <a:off x="1389888" y="3931920"/>
            <a:ext cx="347472" cy="347472"/>
          </a:xfrm>
          <a:prstGeom prst="ellipse">
            <a:avLst/>
          </a:prstGeom>
          <a:solidFill>
            <a:srgbClr val="102C23"/>
          </a:solidFill>
          <a:ln w="12700">
            <a:solidFill>
              <a:srgbClr val="A6F26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1389888" y="3922776"/>
            <a:ext cx="347472" cy="347472"/>
          </a:xfrm>
          <a:prstGeom prst="rect">
            <a:avLst/>
          </a:prstGeom>
          <a:noFill/>
        </p:spPr>
        <p:txBody>
          <a:bodyPr wrap="square" lIns="0" tIns="0" rIns="0" bIns="0" anchor="ctr">
            <a:noAutofit/>
          </a:bodyPr>
          <a:lstStyle/>
          <a:p>
            <a:pPr algn="ctr">
              <a:lnSpc>
                <a:spcPct val="105000"/>
              </a:lnSpc>
              <a:spcAft>
                <a:spcPts val="0"/>
              </a:spcAft>
            </a:pPr>
            <a:r>
              <a:rPr sz="850" b="1" i="0">
                <a:solidFill>
                  <a:srgbClr val="A6F26B"/>
                </a:solidFill>
                <a:latin typeface="Avenir Next"/>
              </a:rPr>
              <a:t>2</a:t>
            </a:r>
          </a:p>
        </p:txBody>
      </p:sp>
      <p:sp>
        <p:nvSpPr>
          <p:cNvPr id="19" name="TextBox 18"/>
          <p:cNvSpPr txBox="1"/>
          <p:nvPr/>
        </p:nvSpPr>
        <p:spPr>
          <a:xfrm>
            <a:off x="1874519" y="3904487"/>
            <a:ext cx="2194560" cy="237744"/>
          </a:xfrm>
          <a:prstGeom prst="rect">
            <a:avLst/>
          </a:prstGeom>
          <a:noFill/>
        </p:spPr>
        <p:txBody>
          <a:bodyPr wrap="square" lIns="18288" tIns="18288" rIns="18288" bIns="18288" anchor="t">
            <a:noAutofit/>
          </a:bodyPr>
          <a:lstStyle/>
          <a:p>
            <a:pPr algn="l">
              <a:lnSpc>
                <a:spcPct val="105000"/>
              </a:lnSpc>
              <a:spcAft>
                <a:spcPts val="0"/>
              </a:spcAft>
            </a:pPr>
            <a:r>
              <a:rPr sz="1019" b="1" i="0">
                <a:solidFill>
                  <a:srgbClr val="F4FFFA"/>
                </a:solidFill>
                <a:latin typeface="Avenir Next"/>
              </a:rPr>
              <a:t>Fault injection</a:t>
            </a:r>
          </a:p>
        </p:txBody>
      </p:sp>
      <p:sp>
        <p:nvSpPr>
          <p:cNvPr id="20" name="TextBox 19"/>
          <p:cNvSpPr txBox="1"/>
          <p:nvPr/>
        </p:nvSpPr>
        <p:spPr>
          <a:xfrm>
            <a:off x="4069080" y="3904487"/>
            <a:ext cx="4526280" cy="237744"/>
          </a:xfrm>
          <a:prstGeom prst="rect">
            <a:avLst/>
          </a:prstGeom>
          <a:noFill/>
        </p:spPr>
        <p:txBody>
          <a:bodyPr wrap="square" lIns="18288" tIns="18288" rIns="18288" bIns="18288" anchor="t">
            <a:noAutofit/>
          </a:bodyPr>
          <a:lstStyle/>
          <a:p>
            <a:pPr algn="l">
              <a:lnSpc>
                <a:spcPct val="105000"/>
              </a:lnSpc>
              <a:spcAft>
                <a:spcPts val="0"/>
              </a:spcAft>
            </a:pPr>
            <a:r>
              <a:rPr sz="880" b="0" i="0">
                <a:solidFill>
                  <a:srgbClr val="ADC9BE"/>
                </a:solidFill>
                <a:latin typeface="Avenir Next"/>
              </a:rPr>
              <a:t>stuck, spike, drift, missing, network loss</a:t>
            </a:r>
          </a:p>
        </p:txBody>
      </p:sp>
      <p:sp>
        <p:nvSpPr>
          <p:cNvPr id="21" name="Oval 20"/>
          <p:cNvSpPr/>
          <p:nvPr/>
        </p:nvSpPr>
        <p:spPr>
          <a:xfrm>
            <a:off x="1389888" y="4590288"/>
            <a:ext cx="347472" cy="347472"/>
          </a:xfrm>
          <a:prstGeom prst="ellipse">
            <a:avLst/>
          </a:prstGeom>
          <a:solidFill>
            <a:srgbClr val="102C23"/>
          </a:solidFill>
          <a:ln w="12700">
            <a:solidFill>
              <a:srgbClr val="A6F26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1389888" y="4581144"/>
            <a:ext cx="347472" cy="347472"/>
          </a:xfrm>
          <a:prstGeom prst="rect">
            <a:avLst/>
          </a:prstGeom>
          <a:noFill/>
        </p:spPr>
        <p:txBody>
          <a:bodyPr wrap="square" lIns="0" tIns="0" rIns="0" bIns="0" anchor="ctr">
            <a:noAutofit/>
          </a:bodyPr>
          <a:lstStyle/>
          <a:p>
            <a:pPr algn="ctr">
              <a:lnSpc>
                <a:spcPct val="105000"/>
              </a:lnSpc>
              <a:spcAft>
                <a:spcPts val="0"/>
              </a:spcAft>
            </a:pPr>
            <a:r>
              <a:rPr sz="850" b="1" i="0">
                <a:solidFill>
                  <a:srgbClr val="A6F26B"/>
                </a:solidFill>
                <a:latin typeface="Avenir Next"/>
              </a:rPr>
              <a:t>3</a:t>
            </a:r>
          </a:p>
        </p:txBody>
      </p:sp>
      <p:sp>
        <p:nvSpPr>
          <p:cNvPr id="23" name="TextBox 22"/>
          <p:cNvSpPr txBox="1"/>
          <p:nvPr/>
        </p:nvSpPr>
        <p:spPr>
          <a:xfrm>
            <a:off x="1874519" y="4562855"/>
            <a:ext cx="2194560" cy="237744"/>
          </a:xfrm>
          <a:prstGeom prst="rect">
            <a:avLst/>
          </a:prstGeom>
          <a:noFill/>
        </p:spPr>
        <p:txBody>
          <a:bodyPr wrap="square" lIns="18288" tIns="18288" rIns="18288" bIns="18288" anchor="t">
            <a:noAutofit/>
          </a:bodyPr>
          <a:lstStyle/>
          <a:p>
            <a:pPr algn="l">
              <a:lnSpc>
                <a:spcPct val="105000"/>
              </a:lnSpc>
              <a:spcAft>
                <a:spcPts val="0"/>
              </a:spcAft>
            </a:pPr>
            <a:r>
              <a:rPr sz="1019" b="1" i="0">
                <a:solidFill>
                  <a:srgbClr val="F4FFFA"/>
                </a:solidFill>
                <a:latin typeface="Avenir Next"/>
              </a:rPr>
              <a:t>Model evaluation</a:t>
            </a:r>
          </a:p>
        </p:txBody>
      </p:sp>
      <p:sp>
        <p:nvSpPr>
          <p:cNvPr id="24" name="TextBox 23"/>
          <p:cNvSpPr txBox="1"/>
          <p:nvPr/>
        </p:nvSpPr>
        <p:spPr>
          <a:xfrm>
            <a:off x="4069080" y="4562855"/>
            <a:ext cx="4526280" cy="237744"/>
          </a:xfrm>
          <a:prstGeom prst="rect">
            <a:avLst/>
          </a:prstGeom>
          <a:noFill/>
        </p:spPr>
        <p:txBody>
          <a:bodyPr wrap="square" lIns="18288" tIns="18288" rIns="18288" bIns="18288" anchor="t">
            <a:noAutofit/>
          </a:bodyPr>
          <a:lstStyle/>
          <a:p>
            <a:pPr algn="l">
              <a:lnSpc>
                <a:spcPct val="105000"/>
              </a:lnSpc>
              <a:spcAft>
                <a:spcPts val="0"/>
              </a:spcAft>
            </a:pPr>
            <a:r>
              <a:rPr sz="880" b="0" i="0">
                <a:solidFill>
                  <a:srgbClr val="ADC9BE"/>
                </a:solidFill>
                <a:latin typeface="Avenir Next"/>
              </a:rPr>
              <a:t>MAE/RMSE vs persistence; High-need recall</a:t>
            </a:r>
          </a:p>
        </p:txBody>
      </p:sp>
      <p:sp>
        <p:nvSpPr>
          <p:cNvPr id="25" name="Oval 24"/>
          <p:cNvSpPr/>
          <p:nvPr/>
        </p:nvSpPr>
        <p:spPr>
          <a:xfrm>
            <a:off x="1389888" y="5248656"/>
            <a:ext cx="347472" cy="347472"/>
          </a:xfrm>
          <a:prstGeom prst="ellipse">
            <a:avLst/>
          </a:prstGeom>
          <a:solidFill>
            <a:srgbClr val="102C23"/>
          </a:solidFill>
          <a:ln w="12700">
            <a:solidFill>
              <a:srgbClr val="A6F26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Box 25"/>
          <p:cNvSpPr txBox="1"/>
          <p:nvPr/>
        </p:nvSpPr>
        <p:spPr>
          <a:xfrm>
            <a:off x="1389888" y="5239512"/>
            <a:ext cx="347472" cy="347472"/>
          </a:xfrm>
          <a:prstGeom prst="rect">
            <a:avLst/>
          </a:prstGeom>
          <a:noFill/>
        </p:spPr>
        <p:txBody>
          <a:bodyPr wrap="square" lIns="0" tIns="0" rIns="0" bIns="0" anchor="ctr">
            <a:noAutofit/>
          </a:bodyPr>
          <a:lstStyle/>
          <a:p>
            <a:pPr algn="ctr">
              <a:lnSpc>
                <a:spcPct val="105000"/>
              </a:lnSpc>
              <a:spcAft>
                <a:spcPts val="0"/>
              </a:spcAft>
            </a:pPr>
            <a:r>
              <a:rPr sz="850" b="1" i="0">
                <a:solidFill>
                  <a:srgbClr val="A6F26B"/>
                </a:solidFill>
                <a:latin typeface="Avenir Next"/>
              </a:rPr>
              <a:t>4</a:t>
            </a:r>
          </a:p>
        </p:txBody>
      </p:sp>
      <p:sp>
        <p:nvSpPr>
          <p:cNvPr id="27" name="TextBox 26"/>
          <p:cNvSpPr txBox="1"/>
          <p:nvPr/>
        </p:nvSpPr>
        <p:spPr>
          <a:xfrm>
            <a:off x="1874519" y="5221224"/>
            <a:ext cx="2194560" cy="237744"/>
          </a:xfrm>
          <a:prstGeom prst="rect">
            <a:avLst/>
          </a:prstGeom>
          <a:noFill/>
        </p:spPr>
        <p:txBody>
          <a:bodyPr wrap="square" lIns="18288" tIns="18288" rIns="18288" bIns="18288" anchor="t">
            <a:noAutofit/>
          </a:bodyPr>
          <a:lstStyle/>
          <a:p>
            <a:pPr algn="l">
              <a:lnSpc>
                <a:spcPct val="105000"/>
              </a:lnSpc>
              <a:spcAft>
                <a:spcPts val="0"/>
              </a:spcAft>
            </a:pPr>
            <a:r>
              <a:rPr sz="1019" b="1" i="0">
                <a:solidFill>
                  <a:srgbClr val="F4FFFA"/>
                </a:solidFill>
                <a:latin typeface="Avenir Next"/>
              </a:rPr>
              <a:t>Energy test</a:t>
            </a:r>
          </a:p>
        </p:txBody>
      </p:sp>
      <p:sp>
        <p:nvSpPr>
          <p:cNvPr id="28" name="TextBox 27"/>
          <p:cNvSpPr txBox="1"/>
          <p:nvPr/>
        </p:nvSpPr>
        <p:spPr>
          <a:xfrm>
            <a:off x="4069080" y="5221224"/>
            <a:ext cx="4526280" cy="237744"/>
          </a:xfrm>
          <a:prstGeom prst="rect">
            <a:avLst/>
          </a:prstGeom>
          <a:noFill/>
        </p:spPr>
        <p:txBody>
          <a:bodyPr wrap="square" lIns="18288" tIns="18288" rIns="18288" bIns="18288" anchor="t">
            <a:noAutofit/>
          </a:bodyPr>
          <a:lstStyle/>
          <a:p>
            <a:pPr algn="l">
              <a:lnSpc>
                <a:spcPct val="105000"/>
              </a:lnSpc>
              <a:spcAft>
                <a:spcPts val="0"/>
              </a:spcAft>
            </a:pPr>
            <a:r>
              <a:rPr sz="880" b="0" i="0">
                <a:solidFill>
                  <a:srgbClr val="ADC9BE"/>
                </a:solidFill>
                <a:latin typeface="Avenir Next"/>
              </a:rPr>
              <a:t>generation, charge, load, SOC estimate</a:t>
            </a:r>
          </a:p>
        </p:txBody>
      </p:sp>
      <p:sp>
        <p:nvSpPr>
          <p:cNvPr id="29" name="Oval 28"/>
          <p:cNvSpPr/>
          <p:nvPr/>
        </p:nvSpPr>
        <p:spPr>
          <a:xfrm>
            <a:off x="1389888" y="5907024"/>
            <a:ext cx="347472" cy="347472"/>
          </a:xfrm>
          <a:prstGeom prst="ellipse">
            <a:avLst/>
          </a:prstGeom>
          <a:solidFill>
            <a:srgbClr val="102C23"/>
          </a:solidFill>
          <a:ln w="12700">
            <a:solidFill>
              <a:srgbClr val="A6F26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TextBox 29"/>
          <p:cNvSpPr txBox="1"/>
          <p:nvPr/>
        </p:nvSpPr>
        <p:spPr>
          <a:xfrm>
            <a:off x="1389888" y="5897880"/>
            <a:ext cx="347472" cy="347472"/>
          </a:xfrm>
          <a:prstGeom prst="rect">
            <a:avLst/>
          </a:prstGeom>
          <a:noFill/>
        </p:spPr>
        <p:txBody>
          <a:bodyPr wrap="square" lIns="0" tIns="0" rIns="0" bIns="0" anchor="ctr">
            <a:noAutofit/>
          </a:bodyPr>
          <a:lstStyle/>
          <a:p>
            <a:pPr algn="ctr">
              <a:lnSpc>
                <a:spcPct val="105000"/>
              </a:lnSpc>
              <a:spcAft>
                <a:spcPts val="0"/>
              </a:spcAft>
            </a:pPr>
            <a:r>
              <a:rPr sz="850" b="1" i="0">
                <a:solidFill>
                  <a:srgbClr val="A6F26B"/>
                </a:solidFill>
                <a:latin typeface="Avenir Next"/>
              </a:rPr>
              <a:t>5</a:t>
            </a:r>
          </a:p>
        </p:txBody>
      </p:sp>
      <p:sp>
        <p:nvSpPr>
          <p:cNvPr id="31" name="TextBox 30"/>
          <p:cNvSpPr txBox="1"/>
          <p:nvPr/>
        </p:nvSpPr>
        <p:spPr>
          <a:xfrm>
            <a:off x="1874519" y="5879592"/>
            <a:ext cx="2194560" cy="237744"/>
          </a:xfrm>
          <a:prstGeom prst="rect">
            <a:avLst/>
          </a:prstGeom>
          <a:noFill/>
        </p:spPr>
        <p:txBody>
          <a:bodyPr wrap="square" lIns="18288" tIns="18288" rIns="18288" bIns="18288" anchor="t">
            <a:noAutofit/>
          </a:bodyPr>
          <a:lstStyle/>
          <a:p>
            <a:pPr algn="l">
              <a:lnSpc>
                <a:spcPct val="105000"/>
              </a:lnSpc>
              <a:spcAft>
                <a:spcPts val="0"/>
              </a:spcAft>
            </a:pPr>
            <a:r>
              <a:rPr sz="1019" b="1" i="0">
                <a:solidFill>
                  <a:srgbClr val="F4FFFA"/>
                </a:solidFill>
                <a:latin typeface="Avenir Next"/>
              </a:rPr>
              <a:t>Two-zone pilot</a:t>
            </a:r>
          </a:p>
        </p:txBody>
      </p:sp>
      <p:sp>
        <p:nvSpPr>
          <p:cNvPr id="32" name="TextBox 31"/>
          <p:cNvSpPr txBox="1"/>
          <p:nvPr/>
        </p:nvSpPr>
        <p:spPr>
          <a:xfrm>
            <a:off x="4069080" y="5879592"/>
            <a:ext cx="4526280" cy="237744"/>
          </a:xfrm>
          <a:prstGeom prst="rect">
            <a:avLst/>
          </a:prstGeom>
          <a:noFill/>
        </p:spPr>
        <p:txBody>
          <a:bodyPr wrap="square" lIns="18288" tIns="18288" rIns="18288" bIns="18288" anchor="t">
            <a:noAutofit/>
          </a:bodyPr>
          <a:lstStyle/>
          <a:p>
            <a:pPr algn="l">
              <a:lnSpc>
                <a:spcPct val="105000"/>
              </a:lnSpc>
              <a:spcAft>
                <a:spcPts val="0"/>
              </a:spcAft>
            </a:pPr>
            <a:r>
              <a:rPr sz="880" b="0" i="0">
                <a:solidFill>
                  <a:srgbClr val="ADC9BE"/>
                </a:solidFill>
                <a:latin typeface="Avenir Next"/>
              </a:rPr>
              <a:t>labelled faults and measured water/energy</a:t>
            </a:r>
          </a:p>
        </p:txBody>
      </p:sp>
      <p:sp>
        <p:nvSpPr>
          <p:cNvPr id="33" name="Rounded Rectangle 32"/>
          <p:cNvSpPr/>
          <p:nvPr/>
        </p:nvSpPr>
        <p:spPr>
          <a:xfrm>
            <a:off x="9189720" y="2743200"/>
            <a:ext cx="7818120" cy="4297680"/>
          </a:xfrm>
          <a:prstGeom prst="roundRect">
            <a:avLst>
              <a:gd name="adj" fmla="val 8000"/>
            </a:avLst>
          </a:prstGeom>
          <a:solidFill>
            <a:srgbClr val="071813"/>
          </a:solidFill>
          <a:ln w="10160">
            <a:solidFill>
              <a:srgbClr val="2C5A4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 name="TextBox 33"/>
          <p:cNvSpPr txBox="1"/>
          <p:nvPr/>
        </p:nvSpPr>
        <p:spPr>
          <a:xfrm>
            <a:off x="9436608" y="2926080"/>
            <a:ext cx="7223760" cy="274320"/>
          </a:xfrm>
          <a:prstGeom prst="rect">
            <a:avLst/>
          </a:prstGeom>
          <a:noFill/>
        </p:spPr>
        <p:txBody>
          <a:bodyPr wrap="square" lIns="18288" tIns="18288" rIns="18288" bIns="18288" anchor="t">
            <a:noAutofit/>
          </a:bodyPr>
          <a:lstStyle/>
          <a:p>
            <a:pPr algn="l">
              <a:lnSpc>
                <a:spcPct val="105000"/>
              </a:lnSpc>
              <a:spcAft>
                <a:spcPts val="0"/>
              </a:spcAft>
            </a:pPr>
            <a:r>
              <a:rPr sz="950" b="1" i="0">
                <a:solidFill>
                  <a:srgbClr val="F0B429"/>
                </a:solidFill>
                <a:latin typeface="Avenir Next"/>
              </a:rPr>
              <a:t>RISK CONTROLS</a:t>
            </a:r>
          </a:p>
        </p:txBody>
      </p:sp>
      <p:sp>
        <p:nvSpPr>
          <p:cNvPr id="35" name="TextBox 34"/>
          <p:cNvSpPr txBox="1"/>
          <p:nvPr/>
        </p:nvSpPr>
        <p:spPr>
          <a:xfrm>
            <a:off x="9436608" y="3273552"/>
            <a:ext cx="2194560" cy="237744"/>
          </a:xfrm>
          <a:prstGeom prst="rect">
            <a:avLst/>
          </a:prstGeom>
          <a:noFill/>
        </p:spPr>
        <p:txBody>
          <a:bodyPr wrap="square" lIns="18288" tIns="18288" rIns="18288" bIns="18288" anchor="t">
            <a:noAutofit/>
          </a:bodyPr>
          <a:lstStyle/>
          <a:p>
            <a:pPr algn="l">
              <a:lnSpc>
                <a:spcPct val="105000"/>
              </a:lnSpc>
              <a:spcAft>
                <a:spcPts val="0"/>
              </a:spcAft>
            </a:pPr>
            <a:r>
              <a:rPr sz="1019" b="1" i="0">
                <a:solidFill>
                  <a:srgbClr val="F4FFFA"/>
                </a:solidFill>
                <a:latin typeface="Avenir Next"/>
              </a:rPr>
              <a:t>Sensor failure</a:t>
            </a:r>
          </a:p>
        </p:txBody>
      </p:sp>
      <p:sp>
        <p:nvSpPr>
          <p:cNvPr id="36" name="TextBox 35"/>
          <p:cNvSpPr txBox="1"/>
          <p:nvPr/>
        </p:nvSpPr>
        <p:spPr>
          <a:xfrm>
            <a:off x="11750040" y="3273552"/>
            <a:ext cx="4983480" cy="566928"/>
          </a:xfrm>
          <a:prstGeom prst="rect">
            <a:avLst/>
          </a:prstGeom>
          <a:noFill/>
        </p:spPr>
        <p:txBody>
          <a:bodyPr wrap="square" lIns="18288" tIns="18288" rIns="18288" bIns="18288" anchor="t">
            <a:noAutofit/>
          </a:bodyPr>
          <a:lstStyle/>
          <a:p>
            <a:pPr algn="l">
              <a:lnSpc>
                <a:spcPct val="105000"/>
              </a:lnSpc>
              <a:spcAft>
                <a:spcPts val="0"/>
              </a:spcAft>
            </a:pPr>
            <a:r>
              <a:rPr sz="860" b="0" i="0">
                <a:solidFill>
                  <a:srgbClr val="ADC9BE"/>
                </a:solidFill>
                <a:latin typeface="Avenir Next"/>
              </a:rPr>
              <a:t>two probes, calibration, trust gate</a:t>
            </a:r>
          </a:p>
        </p:txBody>
      </p:sp>
      <p:sp>
        <p:nvSpPr>
          <p:cNvPr id="37" name="TextBox 36"/>
          <p:cNvSpPr txBox="1"/>
          <p:nvPr/>
        </p:nvSpPr>
        <p:spPr>
          <a:xfrm>
            <a:off x="9436608" y="4123944"/>
            <a:ext cx="2194560" cy="237744"/>
          </a:xfrm>
          <a:prstGeom prst="rect">
            <a:avLst/>
          </a:prstGeom>
          <a:noFill/>
        </p:spPr>
        <p:txBody>
          <a:bodyPr wrap="square" lIns="18288" tIns="18288" rIns="18288" bIns="18288" anchor="t">
            <a:noAutofit/>
          </a:bodyPr>
          <a:lstStyle/>
          <a:p>
            <a:pPr algn="l">
              <a:lnSpc>
                <a:spcPct val="105000"/>
              </a:lnSpc>
              <a:spcAft>
                <a:spcPts val="0"/>
              </a:spcAft>
            </a:pPr>
            <a:r>
              <a:rPr sz="1019" b="1" i="0">
                <a:solidFill>
                  <a:srgbClr val="F4FFFA"/>
                </a:solidFill>
                <a:latin typeface="Avenir Next"/>
              </a:rPr>
              <a:t>Biogas / electrical</a:t>
            </a:r>
          </a:p>
        </p:txBody>
      </p:sp>
      <p:sp>
        <p:nvSpPr>
          <p:cNvPr id="38" name="TextBox 37"/>
          <p:cNvSpPr txBox="1"/>
          <p:nvPr/>
        </p:nvSpPr>
        <p:spPr>
          <a:xfrm>
            <a:off x="11750040" y="4123944"/>
            <a:ext cx="4983480" cy="566928"/>
          </a:xfrm>
          <a:prstGeom prst="rect">
            <a:avLst/>
          </a:prstGeom>
          <a:noFill/>
        </p:spPr>
        <p:txBody>
          <a:bodyPr wrap="square" lIns="18288" tIns="18288" rIns="18288" bIns="18288" anchor="t">
            <a:noAutofit/>
          </a:bodyPr>
          <a:lstStyle/>
          <a:p>
            <a:pPr algn="l">
              <a:lnSpc>
                <a:spcPct val="105000"/>
              </a:lnSpc>
              <a:spcAft>
                <a:spcPts val="0"/>
              </a:spcAft>
            </a:pPr>
            <a:r>
              <a:rPr sz="860" b="0" i="0">
                <a:solidFill>
                  <a:srgbClr val="ADC9BE"/>
                </a:solidFill>
                <a:latin typeface="Avenir Next"/>
              </a:rPr>
              <a:t>ventilation, gas detection, pressure relief, fuses, earthing, supervision</a:t>
            </a:r>
          </a:p>
        </p:txBody>
      </p:sp>
      <p:sp>
        <p:nvSpPr>
          <p:cNvPr id="39" name="TextBox 38"/>
          <p:cNvSpPr txBox="1"/>
          <p:nvPr/>
        </p:nvSpPr>
        <p:spPr>
          <a:xfrm>
            <a:off x="9436608" y="4974336"/>
            <a:ext cx="2194560" cy="237744"/>
          </a:xfrm>
          <a:prstGeom prst="rect">
            <a:avLst/>
          </a:prstGeom>
          <a:noFill/>
        </p:spPr>
        <p:txBody>
          <a:bodyPr wrap="square" lIns="18288" tIns="18288" rIns="18288" bIns="18288" anchor="t">
            <a:noAutofit/>
          </a:bodyPr>
          <a:lstStyle/>
          <a:p>
            <a:pPr algn="l">
              <a:lnSpc>
                <a:spcPct val="105000"/>
              </a:lnSpc>
              <a:spcAft>
                <a:spcPts val="0"/>
              </a:spcAft>
            </a:pPr>
            <a:r>
              <a:rPr sz="1019" b="1" i="0">
                <a:solidFill>
                  <a:srgbClr val="F4FFFA"/>
                </a:solidFill>
                <a:latin typeface="Avenir Next"/>
              </a:rPr>
              <a:t>Data mismatch</a:t>
            </a:r>
          </a:p>
        </p:txBody>
      </p:sp>
      <p:sp>
        <p:nvSpPr>
          <p:cNvPr id="40" name="TextBox 39"/>
          <p:cNvSpPr txBox="1"/>
          <p:nvPr/>
        </p:nvSpPr>
        <p:spPr>
          <a:xfrm>
            <a:off x="11750040" y="4974336"/>
            <a:ext cx="4983480" cy="566928"/>
          </a:xfrm>
          <a:prstGeom prst="rect">
            <a:avLst/>
          </a:prstGeom>
          <a:noFill/>
        </p:spPr>
        <p:txBody>
          <a:bodyPr wrap="square" lIns="18288" tIns="18288" rIns="18288" bIns="18288" anchor="t">
            <a:noAutofit/>
          </a:bodyPr>
          <a:lstStyle/>
          <a:p>
            <a:pPr algn="l">
              <a:lnSpc>
                <a:spcPct val="105000"/>
              </a:lnSpc>
              <a:spcAft>
                <a:spcPts val="0"/>
              </a:spcAft>
            </a:pPr>
            <a:r>
              <a:rPr sz="860" b="0" i="0">
                <a:solidFill>
                  <a:srgbClr val="ADC9BE"/>
                </a:solidFill>
                <a:latin typeface="Avenir Next"/>
              </a:rPr>
              <a:t>public data for development; local data for local conclusions</a:t>
            </a:r>
          </a:p>
        </p:txBody>
      </p:sp>
      <p:sp>
        <p:nvSpPr>
          <p:cNvPr id="41" name="TextBox 40"/>
          <p:cNvSpPr txBox="1"/>
          <p:nvPr/>
        </p:nvSpPr>
        <p:spPr>
          <a:xfrm>
            <a:off x="9436608" y="5824728"/>
            <a:ext cx="2194560" cy="237744"/>
          </a:xfrm>
          <a:prstGeom prst="rect">
            <a:avLst/>
          </a:prstGeom>
          <a:noFill/>
        </p:spPr>
        <p:txBody>
          <a:bodyPr wrap="square" lIns="18288" tIns="18288" rIns="18288" bIns="18288" anchor="t">
            <a:noAutofit/>
          </a:bodyPr>
          <a:lstStyle/>
          <a:p>
            <a:pPr algn="l">
              <a:lnSpc>
                <a:spcPct val="105000"/>
              </a:lnSpc>
              <a:spcAft>
                <a:spcPts val="0"/>
              </a:spcAft>
            </a:pPr>
            <a:r>
              <a:rPr sz="1019" b="1" i="0">
                <a:solidFill>
                  <a:srgbClr val="F4FFFA"/>
                </a:solidFill>
                <a:latin typeface="Avenir Next"/>
              </a:rPr>
              <a:t>Security</a:t>
            </a:r>
          </a:p>
        </p:txBody>
      </p:sp>
      <p:sp>
        <p:nvSpPr>
          <p:cNvPr id="42" name="TextBox 41"/>
          <p:cNvSpPr txBox="1"/>
          <p:nvPr/>
        </p:nvSpPr>
        <p:spPr>
          <a:xfrm>
            <a:off x="11750040" y="5824728"/>
            <a:ext cx="4983480" cy="566928"/>
          </a:xfrm>
          <a:prstGeom prst="rect">
            <a:avLst/>
          </a:prstGeom>
          <a:noFill/>
        </p:spPr>
        <p:txBody>
          <a:bodyPr wrap="square" lIns="18288" tIns="18288" rIns="18288" bIns="18288" anchor="t">
            <a:noAutofit/>
          </a:bodyPr>
          <a:lstStyle/>
          <a:p>
            <a:pPr algn="l">
              <a:lnSpc>
                <a:spcPct val="105000"/>
              </a:lnSpc>
              <a:spcAft>
                <a:spcPts val="0"/>
              </a:spcAft>
            </a:pPr>
            <a:r>
              <a:rPr sz="860" b="0" i="0">
                <a:solidFill>
                  <a:srgbClr val="ADC9BE"/>
                </a:solidFill>
                <a:latin typeface="Avenir Next"/>
              </a:rPr>
              <a:t>TLS, secret rotation, restricted CORS before deployment</a:t>
            </a:r>
          </a:p>
        </p:txBody>
      </p:sp>
      <p:sp>
        <p:nvSpPr>
          <p:cNvPr id="43" name="TextBox 42"/>
          <p:cNvSpPr txBox="1"/>
          <p:nvPr/>
        </p:nvSpPr>
        <p:spPr>
          <a:xfrm>
            <a:off x="1143000" y="7269480"/>
            <a:ext cx="15910559" cy="256032"/>
          </a:xfrm>
          <a:prstGeom prst="rect">
            <a:avLst/>
          </a:prstGeom>
          <a:noFill/>
        </p:spPr>
        <p:txBody>
          <a:bodyPr wrap="square" lIns="18288" tIns="18288" rIns="18288" bIns="18288" anchor="t">
            <a:noAutofit/>
          </a:bodyPr>
          <a:lstStyle/>
          <a:p>
            <a:pPr algn="l">
              <a:lnSpc>
                <a:spcPct val="105000"/>
              </a:lnSpc>
              <a:spcAft>
                <a:spcPts val="0"/>
              </a:spcAft>
            </a:pPr>
            <a:r>
              <a:rPr sz="880" b="1" i="0">
                <a:solidFill>
                  <a:srgbClr val="F0B429"/>
                </a:solidFill>
                <a:latin typeface="Avenir Next"/>
              </a:rPr>
              <a:t>SUCCESS TARGETS  ·  not achieved yet</a:t>
            </a:r>
          </a:p>
        </p:txBody>
      </p:sp>
      <p:sp>
        <p:nvSpPr>
          <p:cNvPr id="44" name="Rounded Rectangle 43"/>
          <p:cNvSpPr/>
          <p:nvPr/>
        </p:nvSpPr>
        <p:spPr>
          <a:xfrm>
            <a:off x="1143000" y="7571231"/>
            <a:ext cx="5074920" cy="658368"/>
          </a:xfrm>
          <a:prstGeom prst="roundRect">
            <a:avLst>
              <a:gd name="adj" fmla="val 8000"/>
            </a:avLst>
          </a:prstGeom>
          <a:solidFill>
            <a:srgbClr val="0A221B"/>
          </a:solidFill>
          <a:ln w="10160">
            <a:solidFill>
              <a:srgbClr val="A6F26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5" name="TextBox 44"/>
          <p:cNvSpPr txBox="1"/>
          <p:nvPr/>
        </p:nvSpPr>
        <p:spPr>
          <a:xfrm>
            <a:off x="1325880" y="7671816"/>
            <a:ext cx="1234440" cy="310896"/>
          </a:xfrm>
          <a:prstGeom prst="rect">
            <a:avLst/>
          </a:prstGeom>
          <a:noFill/>
        </p:spPr>
        <p:txBody>
          <a:bodyPr wrap="square" lIns="18288" tIns="18288" rIns="18288" bIns="18288" anchor="t">
            <a:noAutofit/>
          </a:bodyPr>
          <a:lstStyle/>
          <a:p>
            <a:pPr algn="l">
              <a:lnSpc>
                <a:spcPct val="105000"/>
              </a:lnSpc>
              <a:spcAft>
                <a:spcPts val="0"/>
              </a:spcAft>
            </a:pPr>
            <a:r>
              <a:rPr sz="1700" b="1" i="0">
                <a:solidFill>
                  <a:srgbClr val="A6F26B"/>
                </a:solidFill>
                <a:latin typeface="Avenir Next"/>
              </a:rPr>
              <a:t>≥ 95%</a:t>
            </a:r>
          </a:p>
        </p:txBody>
      </p:sp>
      <p:sp>
        <p:nvSpPr>
          <p:cNvPr id="46" name="TextBox 45"/>
          <p:cNvSpPr txBox="1"/>
          <p:nvPr/>
        </p:nvSpPr>
        <p:spPr>
          <a:xfrm>
            <a:off x="2606040" y="7717536"/>
            <a:ext cx="3383280" cy="256032"/>
          </a:xfrm>
          <a:prstGeom prst="rect">
            <a:avLst/>
          </a:prstGeom>
          <a:noFill/>
        </p:spPr>
        <p:txBody>
          <a:bodyPr wrap="square" lIns="18288" tIns="18288" rIns="18288" bIns="18288" anchor="t">
            <a:noAutofit/>
          </a:bodyPr>
          <a:lstStyle/>
          <a:p>
            <a:pPr algn="l">
              <a:lnSpc>
                <a:spcPct val="105000"/>
              </a:lnSpc>
              <a:spcAft>
                <a:spcPts val="0"/>
              </a:spcAft>
            </a:pPr>
            <a:r>
              <a:rPr sz="950" b="0" i="0">
                <a:solidFill>
                  <a:srgbClr val="F4FFFA"/>
                </a:solidFill>
                <a:latin typeface="Avenir Next"/>
              </a:rPr>
              <a:t>readings received</a:t>
            </a:r>
          </a:p>
        </p:txBody>
      </p:sp>
      <p:sp>
        <p:nvSpPr>
          <p:cNvPr id="47" name="Rounded Rectangle 46"/>
          <p:cNvSpPr/>
          <p:nvPr/>
        </p:nvSpPr>
        <p:spPr>
          <a:xfrm>
            <a:off x="6492240" y="7571231"/>
            <a:ext cx="5074920" cy="658368"/>
          </a:xfrm>
          <a:prstGeom prst="roundRect">
            <a:avLst>
              <a:gd name="adj" fmla="val 8000"/>
            </a:avLst>
          </a:prstGeom>
          <a:solidFill>
            <a:srgbClr val="0A221B"/>
          </a:solidFill>
          <a:ln w="10160">
            <a:solidFill>
              <a:srgbClr val="F0B42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8" name="TextBox 47"/>
          <p:cNvSpPr txBox="1"/>
          <p:nvPr/>
        </p:nvSpPr>
        <p:spPr>
          <a:xfrm>
            <a:off x="6675120" y="7671816"/>
            <a:ext cx="1234440" cy="310896"/>
          </a:xfrm>
          <a:prstGeom prst="rect">
            <a:avLst/>
          </a:prstGeom>
          <a:noFill/>
        </p:spPr>
        <p:txBody>
          <a:bodyPr wrap="square" lIns="18288" tIns="18288" rIns="18288" bIns="18288" anchor="t">
            <a:noAutofit/>
          </a:bodyPr>
          <a:lstStyle/>
          <a:p>
            <a:pPr algn="l">
              <a:lnSpc>
                <a:spcPct val="105000"/>
              </a:lnSpc>
              <a:spcAft>
                <a:spcPts val="0"/>
              </a:spcAft>
            </a:pPr>
            <a:r>
              <a:rPr sz="1700" b="1" i="0">
                <a:solidFill>
                  <a:srgbClr val="F0B429"/>
                </a:solidFill>
                <a:latin typeface="Avenir Next"/>
              </a:rPr>
              <a:t>≥ 90%</a:t>
            </a:r>
          </a:p>
        </p:txBody>
      </p:sp>
      <p:sp>
        <p:nvSpPr>
          <p:cNvPr id="49" name="TextBox 48"/>
          <p:cNvSpPr txBox="1"/>
          <p:nvPr/>
        </p:nvSpPr>
        <p:spPr>
          <a:xfrm>
            <a:off x="7955279" y="7717536"/>
            <a:ext cx="3383280" cy="256032"/>
          </a:xfrm>
          <a:prstGeom prst="rect">
            <a:avLst/>
          </a:prstGeom>
          <a:noFill/>
        </p:spPr>
        <p:txBody>
          <a:bodyPr wrap="square" lIns="18288" tIns="18288" rIns="18288" bIns="18288" anchor="t">
            <a:noAutofit/>
          </a:bodyPr>
          <a:lstStyle/>
          <a:p>
            <a:pPr algn="l">
              <a:lnSpc>
                <a:spcPct val="105000"/>
              </a:lnSpc>
              <a:spcAft>
                <a:spcPts val="0"/>
              </a:spcAft>
            </a:pPr>
            <a:r>
              <a:rPr sz="950" b="0" i="0">
                <a:solidFill>
                  <a:srgbClr val="F4FFFA"/>
                </a:solidFill>
                <a:latin typeface="Avenir Next"/>
              </a:rPr>
              <a:t>faults detected</a:t>
            </a:r>
          </a:p>
        </p:txBody>
      </p:sp>
      <p:sp>
        <p:nvSpPr>
          <p:cNvPr id="50" name="Rounded Rectangle 49"/>
          <p:cNvSpPr/>
          <p:nvPr/>
        </p:nvSpPr>
        <p:spPr>
          <a:xfrm>
            <a:off x="11841480" y="7571231"/>
            <a:ext cx="5074920" cy="658368"/>
          </a:xfrm>
          <a:prstGeom prst="roundRect">
            <a:avLst>
              <a:gd name="adj" fmla="val 8000"/>
            </a:avLst>
          </a:prstGeom>
          <a:solidFill>
            <a:srgbClr val="0A221B"/>
          </a:solidFill>
          <a:ln w="10160">
            <a:solidFill>
              <a:srgbClr val="59D7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1" name="TextBox 50"/>
          <p:cNvSpPr txBox="1"/>
          <p:nvPr/>
        </p:nvSpPr>
        <p:spPr>
          <a:xfrm>
            <a:off x="12024359" y="7671816"/>
            <a:ext cx="1234440" cy="310896"/>
          </a:xfrm>
          <a:prstGeom prst="rect">
            <a:avLst/>
          </a:prstGeom>
          <a:noFill/>
        </p:spPr>
        <p:txBody>
          <a:bodyPr wrap="square" lIns="18288" tIns="18288" rIns="18288" bIns="18288" anchor="t">
            <a:noAutofit/>
          </a:bodyPr>
          <a:lstStyle/>
          <a:p>
            <a:pPr algn="l">
              <a:lnSpc>
                <a:spcPct val="105000"/>
              </a:lnSpc>
              <a:spcAft>
                <a:spcPts val="0"/>
              </a:spcAft>
            </a:pPr>
            <a:r>
              <a:rPr sz="1700" b="1" i="0">
                <a:solidFill>
                  <a:srgbClr val="59D7F0"/>
                </a:solidFill>
                <a:latin typeface="Avenir Next"/>
              </a:rPr>
              <a:t>&lt; 3 s</a:t>
            </a:r>
          </a:p>
        </p:txBody>
      </p:sp>
      <p:sp>
        <p:nvSpPr>
          <p:cNvPr id="52" name="TextBox 51"/>
          <p:cNvSpPr txBox="1"/>
          <p:nvPr/>
        </p:nvSpPr>
        <p:spPr>
          <a:xfrm>
            <a:off x="13304519" y="7717536"/>
            <a:ext cx="3383280" cy="256032"/>
          </a:xfrm>
          <a:prstGeom prst="rect">
            <a:avLst/>
          </a:prstGeom>
          <a:noFill/>
        </p:spPr>
        <p:txBody>
          <a:bodyPr wrap="square" lIns="18288" tIns="18288" rIns="18288" bIns="18288" anchor="t">
            <a:noAutofit/>
          </a:bodyPr>
          <a:lstStyle/>
          <a:p>
            <a:pPr algn="l">
              <a:lnSpc>
                <a:spcPct val="105000"/>
              </a:lnSpc>
              <a:spcAft>
                <a:spcPts val="0"/>
              </a:spcAft>
            </a:pPr>
            <a:r>
              <a:rPr sz="950" b="0" i="0">
                <a:solidFill>
                  <a:srgbClr val="F4FFFA"/>
                </a:solidFill>
                <a:latin typeface="Avenir Next"/>
              </a:rPr>
              <a:t>dashboard response</a:t>
            </a:r>
          </a:p>
        </p:txBody>
      </p:sp>
      <p:sp>
        <p:nvSpPr>
          <p:cNvPr id="53" name="TextBox 52"/>
          <p:cNvSpPr txBox="1"/>
          <p:nvPr/>
        </p:nvSpPr>
        <p:spPr>
          <a:xfrm>
            <a:off x="4983480" y="9619488"/>
            <a:ext cx="5852160" cy="228600"/>
          </a:xfrm>
          <a:prstGeom prst="rect">
            <a:avLst/>
          </a:prstGeom>
          <a:noFill/>
        </p:spPr>
        <p:txBody>
          <a:bodyPr wrap="square" lIns="0" tIns="0" rIns="0" bIns="0" anchor="t">
            <a:noAutofit/>
          </a:bodyPr>
          <a:lstStyle/>
          <a:p>
            <a:pPr algn="l">
              <a:lnSpc>
                <a:spcPct val="105000"/>
              </a:lnSpc>
              <a:spcAft>
                <a:spcPts val="0"/>
              </a:spcAft>
            </a:pPr>
            <a:r>
              <a:rPr sz="819" b="0" i="0">
                <a:solidFill>
                  <a:srgbClr val="7CA091"/>
                </a:solidFill>
                <a:latin typeface="Avenir Next"/>
              </a:rPr>
              <a:t>TrustFarm  ·  INNOVA 2026  ·  ICBT</a:t>
            </a:r>
          </a:p>
        </p:txBody>
      </p:sp>
      <p:sp>
        <p:nvSpPr>
          <p:cNvPr id="54" name="TextBox 53"/>
          <p:cNvSpPr txBox="1"/>
          <p:nvPr/>
        </p:nvSpPr>
        <p:spPr>
          <a:xfrm>
            <a:off x="11018520" y="9619488"/>
            <a:ext cx="1234440" cy="228600"/>
          </a:xfrm>
          <a:prstGeom prst="rect">
            <a:avLst/>
          </a:prstGeom>
          <a:noFill/>
        </p:spPr>
        <p:txBody>
          <a:bodyPr wrap="square" lIns="0" tIns="0" rIns="0" bIns="0" anchor="t">
            <a:noAutofit/>
          </a:bodyPr>
          <a:lstStyle/>
          <a:p>
            <a:pPr algn="r">
              <a:lnSpc>
                <a:spcPct val="105000"/>
              </a:lnSpc>
              <a:spcAft>
                <a:spcPts val="0"/>
              </a:spcAft>
            </a:pPr>
            <a:r>
              <a:rPr sz="819" b="0" i="0">
                <a:solidFill>
                  <a:srgbClr val="7CA091"/>
                </a:solidFill>
                <a:latin typeface="Avenir Next"/>
              </a:rPr>
              <a:t>22 / 25</a:t>
            </a: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solidFill>
          <a:srgbClr val="1A1D1C"/>
        </a:solidFill>
        <a:effectLst/>
      </p:bgPr>
    </p:bg>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25192566" h="16800292">
                <a:moveTo>
                  <a:pt x="0" y="0"/>
                </a:moveTo>
                <a:lnTo>
                  <a:pt x="25192566" y="0"/>
                </a:lnTo>
                <a:lnTo>
                  <a:pt x="25192566" y="16800292"/>
                </a:lnTo>
                <a:lnTo>
                  <a:pt x="0" y="16800292"/>
                </a:lnTo>
                <a:lnTo>
                  <a:pt x="0" y="0"/>
                </a:lnTo>
                <a:close/>
              </a:path>
            </a:pathLst>
          </a:custGeom>
          <a:blipFill>
            <a:blip r:embed="rId3"/>
            <a:stretch>
              <a:fillRect/>
            </a:stretch>
          </a:blipFill>
        </p:spPr>
        <p:txBody>
          <a:bodyPr/>
          <a:lstStyle/>
          <a:p>
            <a:endParaRPr/>
          </a:p>
        </p:txBody>
      </p:sp>
      <p:sp>
        <p:nvSpPr>
          <p:cNvPr id="3" name="Freeform 3"/>
          <p:cNvSpPr/>
          <p:nvPr/>
        </p:nvSpPr>
        <p:spPr>
          <a:xfrm>
            <a:off x="12596283" y="8658721"/>
            <a:ext cx="6457129" cy="1628279"/>
          </a:xfrm>
          <a:custGeom>
            <a:avLst/>
            <a:gdLst/>
            <a:ahLst/>
            <a:cxnLst/>
            <a:rect l="l" t="t" r="r" b="b"/>
            <a:pathLst>
              <a:path w="6457129" h="1628279">
                <a:moveTo>
                  <a:pt x="0" y="0"/>
                </a:moveTo>
                <a:lnTo>
                  <a:pt x="6457129" y="0"/>
                </a:lnTo>
                <a:lnTo>
                  <a:pt x="6457129" y="1628279"/>
                </a:lnTo>
                <a:lnTo>
                  <a:pt x="0" y="1628279"/>
                </a:lnTo>
                <a:lnTo>
                  <a:pt x="0" y="0"/>
                </a:lnTo>
                <a:close/>
              </a:path>
            </a:pathLst>
          </a:custGeom>
          <a:blipFill>
            <a:blip r:embed="rId4"/>
            <a:stretch>
              <a:fillRect t="-85078" b="-85078"/>
            </a:stretch>
          </a:blipFill>
        </p:spPr>
        <p:txBody>
          <a:bodyPr/>
          <a:lstStyle/>
          <a:p>
            <a:endParaRPr/>
          </a:p>
        </p:txBody>
      </p:sp>
      <p:sp>
        <p:nvSpPr>
          <p:cNvPr id="4" name="Freeform 4"/>
          <p:cNvSpPr/>
          <p:nvPr/>
        </p:nvSpPr>
        <p:spPr>
          <a:xfrm>
            <a:off x="0" y="8072991"/>
            <a:ext cx="2839033" cy="2839033"/>
          </a:xfrm>
          <a:custGeom>
            <a:avLst/>
            <a:gdLst/>
            <a:ahLst/>
            <a:cxnLst/>
            <a:rect l="l" t="t" r="r" b="b"/>
            <a:pathLst>
              <a:path w="2839033" h="2839033">
                <a:moveTo>
                  <a:pt x="0" y="0"/>
                </a:moveTo>
                <a:lnTo>
                  <a:pt x="2839033" y="0"/>
                </a:lnTo>
                <a:lnTo>
                  <a:pt x="2839033" y="2839033"/>
                </a:lnTo>
                <a:lnTo>
                  <a:pt x="0" y="2839033"/>
                </a:lnTo>
                <a:lnTo>
                  <a:pt x="0" y="0"/>
                </a:lnTo>
                <a:close/>
              </a:path>
            </a:pathLst>
          </a:custGeom>
          <a:blipFill>
            <a:blip r:embed="rId5"/>
            <a:stretch>
              <a:fillRect/>
            </a:stretch>
          </a:blipFill>
        </p:spPr>
        <p:txBody>
          <a:bodyPr/>
          <a:lstStyle/>
          <a:p>
            <a:endParaRPr/>
          </a:p>
        </p:txBody>
      </p:sp>
      <p:sp>
        <p:nvSpPr>
          <p:cNvPr id="5" name="TextBox 4"/>
          <p:cNvSpPr txBox="1"/>
          <p:nvPr/>
        </p:nvSpPr>
        <p:spPr>
          <a:xfrm>
            <a:off x="1143000" y="841248"/>
            <a:ext cx="10972800" cy="292608"/>
          </a:xfrm>
          <a:prstGeom prst="rect">
            <a:avLst/>
          </a:prstGeom>
          <a:noFill/>
        </p:spPr>
        <p:txBody>
          <a:bodyPr wrap="square" lIns="0" tIns="0" rIns="0" bIns="0" anchor="t">
            <a:noAutofit/>
          </a:bodyPr>
          <a:lstStyle/>
          <a:p>
            <a:pPr algn="l">
              <a:lnSpc>
                <a:spcPct val="105000"/>
              </a:lnSpc>
              <a:spcAft>
                <a:spcPts val="0"/>
              </a:spcAft>
            </a:pPr>
            <a:r>
              <a:rPr sz="1000" b="1" i="0">
                <a:solidFill>
                  <a:srgbClr val="A6F26B"/>
                </a:solidFill>
                <a:latin typeface="Avenir Next"/>
              </a:rPr>
              <a:t>INNOVA LIVE DEMO</a:t>
            </a:r>
          </a:p>
        </p:txBody>
      </p:sp>
      <p:sp>
        <p:nvSpPr>
          <p:cNvPr id="6" name="TextBox 5"/>
          <p:cNvSpPr txBox="1"/>
          <p:nvPr/>
        </p:nvSpPr>
        <p:spPr>
          <a:xfrm>
            <a:off x="1097280" y="1124712"/>
            <a:ext cx="13075920" cy="676656"/>
          </a:xfrm>
          <a:prstGeom prst="rect">
            <a:avLst/>
          </a:prstGeom>
          <a:noFill/>
        </p:spPr>
        <p:txBody>
          <a:bodyPr wrap="square" lIns="0" tIns="0" rIns="0" bIns="0" anchor="t">
            <a:noAutofit/>
          </a:bodyPr>
          <a:lstStyle/>
          <a:p>
            <a:pPr algn="l">
              <a:lnSpc>
                <a:spcPct val="98000"/>
              </a:lnSpc>
              <a:spcAft>
                <a:spcPts val="0"/>
              </a:spcAft>
            </a:pPr>
            <a:r>
              <a:rPr sz="3300" b="1" i="0">
                <a:solidFill>
                  <a:srgbClr val="F4FFFA"/>
                </a:solidFill>
                <a:latin typeface="Avenir Next"/>
              </a:rPr>
              <a:t>Six beats. One story.</a:t>
            </a:r>
          </a:p>
        </p:txBody>
      </p:sp>
      <p:sp>
        <p:nvSpPr>
          <p:cNvPr id="7" name="TextBox 6"/>
          <p:cNvSpPr txBox="1"/>
          <p:nvPr/>
        </p:nvSpPr>
        <p:spPr>
          <a:xfrm>
            <a:off x="1143000" y="1865376"/>
            <a:ext cx="13258800" cy="502920"/>
          </a:xfrm>
          <a:prstGeom prst="rect">
            <a:avLst/>
          </a:prstGeom>
          <a:noFill/>
        </p:spPr>
        <p:txBody>
          <a:bodyPr wrap="square" lIns="0" tIns="0" rIns="0" bIns="0" anchor="t">
            <a:noAutofit/>
          </a:bodyPr>
          <a:lstStyle/>
          <a:p>
            <a:pPr algn="l">
              <a:lnSpc>
                <a:spcPct val="110000"/>
              </a:lnSpc>
              <a:spcAft>
                <a:spcPts val="0"/>
              </a:spcAft>
            </a:pPr>
            <a:r>
              <a:rPr sz="1400" b="0" i="0">
                <a:solidFill>
                  <a:srgbClr val="ADC9BE"/>
                </a:solidFill>
                <a:latin typeface="Avenir Next"/>
              </a:rPr>
              <a:t>Normal → fault → Red → recovery → energy constraint → 3D explanation.</a:t>
            </a:r>
          </a:p>
        </p:txBody>
      </p:sp>
      <p:sp>
        <p:nvSpPr>
          <p:cNvPr id="8" name="Rectangle 7"/>
          <p:cNvSpPr/>
          <p:nvPr/>
        </p:nvSpPr>
        <p:spPr>
          <a:xfrm>
            <a:off x="1143000" y="2542032"/>
            <a:ext cx="1143000" cy="41148"/>
          </a:xfrm>
          <a:prstGeom prst="rect">
            <a:avLst/>
          </a:prstGeom>
          <a:solidFill>
            <a:srgbClr val="A6F2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ounded Rectangle 8"/>
          <p:cNvSpPr/>
          <p:nvPr/>
        </p:nvSpPr>
        <p:spPr>
          <a:xfrm>
            <a:off x="14127480" y="1143000"/>
            <a:ext cx="3017520" cy="347472"/>
          </a:xfrm>
          <a:prstGeom prst="roundRect">
            <a:avLst>
              <a:gd name="adj" fmla="val 50000"/>
            </a:avLst>
          </a:prstGeom>
          <a:solidFill>
            <a:srgbClr val="0A221B"/>
          </a:solidFill>
          <a:ln w="8890">
            <a:solidFill>
              <a:srgbClr val="A6F26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14164055" y="1161288"/>
            <a:ext cx="2944368" cy="310896"/>
          </a:xfrm>
          <a:prstGeom prst="rect">
            <a:avLst/>
          </a:prstGeom>
          <a:noFill/>
        </p:spPr>
        <p:txBody>
          <a:bodyPr wrap="square" lIns="9144" tIns="0" rIns="9144" bIns="0" anchor="ctr">
            <a:noAutofit/>
          </a:bodyPr>
          <a:lstStyle/>
          <a:p>
            <a:pPr algn="ctr">
              <a:lnSpc>
                <a:spcPct val="105000"/>
              </a:lnSpc>
              <a:spcAft>
                <a:spcPts val="0"/>
              </a:spcAft>
            </a:pPr>
            <a:r>
              <a:rPr sz="819" b="1" i="0">
                <a:solidFill>
                  <a:srgbClr val="A6F26B"/>
                </a:solidFill>
                <a:latin typeface="Avenir Next"/>
              </a:rPr>
              <a:t>DEMO SCRIPT</a:t>
            </a:r>
          </a:p>
        </p:txBody>
      </p:sp>
      <p:sp>
        <p:nvSpPr>
          <p:cNvPr id="11" name="Rounded Rectangle 10"/>
          <p:cNvSpPr/>
          <p:nvPr/>
        </p:nvSpPr>
        <p:spPr>
          <a:xfrm>
            <a:off x="1143000" y="2834640"/>
            <a:ext cx="4983480" cy="1847088"/>
          </a:xfrm>
          <a:prstGeom prst="roundRect">
            <a:avLst>
              <a:gd name="adj" fmla="val 8000"/>
            </a:avLst>
          </a:prstGeom>
          <a:solidFill>
            <a:srgbClr val="071813"/>
          </a:solidFill>
          <a:ln w="10160">
            <a:solidFill>
              <a:srgbClr val="A6F26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1325880" y="2980944"/>
            <a:ext cx="822960" cy="237744"/>
          </a:xfrm>
          <a:prstGeom prst="rect">
            <a:avLst/>
          </a:prstGeom>
          <a:noFill/>
        </p:spPr>
        <p:txBody>
          <a:bodyPr wrap="square" lIns="18288" tIns="18288" rIns="18288" bIns="18288" anchor="t">
            <a:noAutofit/>
          </a:bodyPr>
          <a:lstStyle/>
          <a:p>
            <a:pPr algn="l">
              <a:lnSpc>
                <a:spcPct val="105000"/>
              </a:lnSpc>
              <a:spcAft>
                <a:spcPts val="0"/>
              </a:spcAft>
            </a:pPr>
            <a:r>
              <a:rPr sz="880" b="1" i="0">
                <a:solidFill>
                  <a:srgbClr val="F5C451"/>
                </a:solidFill>
                <a:latin typeface="Menlo"/>
              </a:rPr>
              <a:t>0:00</a:t>
            </a:r>
          </a:p>
        </p:txBody>
      </p:sp>
      <p:sp>
        <p:nvSpPr>
          <p:cNvPr id="13" name="TextBox 12"/>
          <p:cNvSpPr txBox="1"/>
          <p:nvPr/>
        </p:nvSpPr>
        <p:spPr>
          <a:xfrm>
            <a:off x="1325880" y="3291840"/>
            <a:ext cx="4526280" cy="292608"/>
          </a:xfrm>
          <a:prstGeom prst="rect">
            <a:avLst/>
          </a:prstGeom>
          <a:noFill/>
        </p:spPr>
        <p:txBody>
          <a:bodyPr wrap="square" lIns="18288" tIns="18288" rIns="18288" bIns="18288" anchor="t">
            <a:noAutofit/>
          </a:bodyPr>
          <a:lstStyle/>
          <a:p>
            <a:pPr algn="l">
              <a:lnSpc>
                <a:spcPct val="105000"/>
              </a:lnSpc>
              <a:spcAft>
                <a:spcPts val="0"/>
              </a:spcAft>
            </a:pPr>
            <a:r>
              <a:rPr sz="1300" b="1" i="0">
                <a:solidFill>
                  <a:srgbClr val="F4FFFA"/>
                </a:solidFill>
                <a:latin typeface="Avenir Next"/>
              </a:rPr>
              <a:t>Normal state</a:t>
            </a:r>
          </a:p>
        </p:txBody>
      </p:sp>
      <p:sp>
        <p:nvSpPr>
          <p:cNvPr id="14" name="TextBox 13"/>
          <p:cNvSpPr txBox="1"/>
          <p:nvPr/>
        </p:nvSpPr>
        <p:spPr>
          <a:xfrm>
            <a:off x="1325880" y="3694176"/>
            <a:ext cx="4526280" cy="731520"/>
          </a:xfrm>
          <a:prstGeom prst="rect">
            <a:avLst/>
          </a:prstGeom>
          <a:noFill/>
        </p:spPr>
        <p:txBody>
          <a:bodyPr wrap="square" lIns="18288" tIns="18288" rIns="18288" bIns="18288" anchor="t">
            <a:noAutofit/>
          </a:bodyPr>
          <a:lstStyle/>
          <a:p>
            <a:pPr algn="l">
              <a:lnSpc>
                <a:spcPct val="108000"/>
              </a:lnSpc>
              <a:spcAft>
                <a:spcPts val="0"/>
              </a:spcAft>
            </a:pPr>
            <a:r>
              <a:rPr sz="950" b="0" i="0">
                <a:solidFill>
                  <a:srgbClr val="ADC9BE"/>
                </a:solidFill>
                <a:latin typeface="Avenir Next"/>
              </a:rPr>
              <a:t>Green trust, no irrigation, 3D twin live.</a:t>
            </a:r>
          </a:p>
        </p:txBody>
      </p:sp>
      <p:sp>
        <p:nvSpPr>
          <p:cNvPr id="15" name="Rounded Rectangle 14"/>
          <p:cNvSpPr/>
          <p:nvPr/>
        </p:nvSpPr>
        <p:spPr>
          <a:xfrm>
            <a:off x="6400800" y="2834640"/>
            <a:ext cx="4983480" cy="1847088"/>
          </a:xfrm>
          <a:prstGeom prst="roundRect">
            <a:avLst>
              <a:gd name="adj" fmla="val 8000"/>
            </a:avLst>
          </a:prstGeom>
          <a:solidFill>
            <a:srgbClr val="071813"/>
          </a:solidFill>
          <a:ln w="10160">
            <a:solidFill>
              <a:srgbClr val="A6F26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6583680" y="2980944"/>
            <a:ext cx="822960" cy="237744"/>
          </a:xfrm>
          <a:prstGeom prst="rect">
            <a:avLst/>
          </a:prstGeom>
          <a:noFill/>
        </p:spPr>
        <p:txBody>
          <a:bodyPr wrap="square" lIns="18288" tIns="18288" rIns="18288" bIns="18288" anchor="t">
            <a:noAutofit/>
          </a:bodyPr>
          <a:lstStyle/>
          <a:p>
            <a:pPr algn="l">
              <a:lnSpc>
                <a:spcPct val="105000"/>
              </a:lnSpc>
              <a:spcAft>
                <a:spcPts val="0"/>
              </a:spcAft>
            </a:pPr>
            <a:r>
              <a:rPr sz="880" b="1" i="0">
                <a:solidFill>
                  <a:srgbClr val="F5C451"/>
                </a:solidFill>
                <a:latin typeface="Menlo"/>
              </a:rPr>
              <a:t>0:30</a:t>
            </a:r>
          </a:p>
        </p:txBody>
      </p:sp>
      <p:sp>
        <p:nvSpPr>
          <p:cNvPr id="17" name="TextBox 16"/>
          <p:cNvSpPr txBox="1"/>
          <p:nvPr/>
        </p:nvSpPr>
        <p:spPr>
          <a:xfrm>
            <a:off x="6583680" y="3291840"/>
            <a:ext cx="4526280" cy="292608"/>
          </a:xfrm>
          <a:prstGeom prst="rect">
            <a:avLst/>
          </a:prstGeom>
          <a:noFill/>
        </p:spPr>
        <p:txBody>
          <a:bodyPr wrap="square" lIns="18288" tIns="18288" rIns="18288" bIns="18288" anchor="t">
            <a:noAutofit/>
          </a:bodyPr>
          <a:lstStyle/>
          <a:p>
            <a:pPr algn="l">
              <a:lnSpc>
                <a:spcPct val="105000"/>
              </a:lnSpc>
              <a:spcAft>
                <a:spcPts val="0"/>
              </a:spcAft>
            </a:pPr>
            <a:r>
              <a:rPr sz="1300" b="1" i="0">
                <a:solidFill>
                  <a:srgbClr val="F4FFFA"/>
                </a:solidFill>
                <a:latin typeface="Avenir Next"/>
              </a:rPr>
              <a:t>Inject a stuck probe</a:t>
            </a:r>
          </a:p>
        </p:txBody>
      </p:sp>
      <p:sp>
        <p:nvSpPr>
          <p:cNvPr id="18" name="TextBox 17"/>
          <p:cNvSpPr txBox="1"/>
          <p:nvPr/>
        </p:nvSpPr>
        <p:spPr>
          <a:xfrm>
            <a:off x="6583680" y="3694176"/>
            <a:ext cx="4526280" cy="731520"/>
          </a:xfrm>
          <a:prstGeom prst="rect">
            <a:avLst/>
          </a:prstGeom>
          <a:noFill/>
        </p:spPr>
        <p:txBody>
          <a:bodyPr wrap="square" lIns="18288" tIns="18288" rIns="18288" bIns="18288" anchor="t">
            <a:noAutofit/>
          </a:bodyPr>
          <a:lstStyle/>
          <a:p>
            <a:pPr algn="l">
              <a:lnSpc>
                <a:spcPct val="108000"/>
              </a:lnSpc>
              <a:spcAft>
                <a:spcPts val="0"/>
              </a:spcAft>
            </a:pPr>
            <a:r>
              <a:rPr sz="950" b="0" i="0">
                <a:solidFill>
                  <a:srgbClr val="ADC9BE"/>
                </a:solidFill>
                <a:latin typeface="Avenir Next"/>
              </a:rPr>
              <a:t>Soil probe 2 freezes; telemetry turns Red.</a:t>
            </a:r>
          </a:p>
        </p:txBody>
      </p:sp>
      <p:sp>
        <p:nvSpPr>
          <p:cNvPr id="19" name="Rounded Rectangle 18"/>
          <p:cNvSpPr/>
          <p:nvPr/>
        </p:nvSpPr>
        <p:spPr>
          <a:xfrm>
            <a:off x="11658600" y="2834640"/>
            <a:ext cx="4983480" cy="1847088"/>
          </a:xfrm>
          <a:prstGeom prst="roundRect">
            <a:avLst>
              <a:gd name="adj" fmla="val 8000"/>
            </a:avLst>
          </a:prstGeom>
          <a:solidFill>
            <a:srgbClr val="071813"/>
          </a:solidFill>
          <a:ln w="10160">
            <a:solidFill>
              <a:srgbClr val="A6F26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11841480" y="2980944"/>
            <a:ext cx="822960" cy="237744"/>
          </a:xfrm>
          <a:prstGeom prst="rect">
            <a:avLst/>
          </a:prstGeom>
          <a:noFill/>
        </p:spPr>
        <p:txBody>
          <a:bodyPr wrap="square" lIns="18288" tIns="18288" rIns="18288" bIns="18288" anchor="t">
            <a:noAutofit/>
          </a:bodyPr>
          <a:lstStyle/>
          <a:p>
            <a:pPr algn="l">
              <a:lnSpc>
                <a:spcPct val="105000"/>
              </a:lnSpc>
              <a:spcAft>
                <a:spcPts val="0"/>
              </a:spcAft>
            </a:pPr>
            <a:r>
              <a:rPr sz="880" b="1" i="0">
                <a:solidFill>
                  <a:srgbClr val="F5C451"/>
                </a:solidFill>
                <a:latin typeface="Menlo"/>
              </a:rPr>
              <a:t>1:00</a:t>
            </a:r>
          </a:p>
        </p:txBody>
      </p:sp>
      <p:sp>
        <p:nvSpPr>
          <p:cNvPr id="21" name="TextBox 20"/>
          <p:cNvSpPr txBox="1"/>
          <p:nvPr/>
        </p:nvSpPr>
        <p:spPr>
          <a:xfrm>
            <a:off x="11841480" y="3291840"/>
            <a:ext cx="4526280" cy="292608"/>
          </a:xfrm>
          <a:prstGeom prst="rect">
            <a:avLst/>
          </a:prstGeom>
          <a:noFill/>
        </p:spPr>
        <p:txBody>
          <a:bodyPr wrap="square" lIns="18288" tIns="18288" rIns="18288" bIns="18288" anchor="t">
            <a:noAutofit/>
          </a:bodyPr>
          <a:lstStyle/>
          <a:p>
            <a:pPr algn="l">
              <a:lnSpc>
                <a:spcPct val="105000"/>
              </a:lnSpc>
              <a:spcAft>
                <a:spcPts val="0"/>
              </a:spcAft>
            </a:pPr>
            <a:r>
              <a:rPr sz="1300" b="1" i="0">
                <a:solidFill>
                  <a:srgbClr val="F4FFFA"/>
                </a:solidFill>
                <a:latin typeface="Avenir Next"/>
              </a:rPr>
              <a:t>Advice pauses</a:t>
            </a:r>
          </a:p>
        </p:txBody>
      </p:sp>
      <p:sp>
        <p:nvSpPr>
          <p:cNvPr id="22" name="TextBox 21"/>
          <p:cNvSpPr txBox="1"/>
          <p:nvPr/>
        </p:nvSpPr>
        <p:spPr>
          <a:xfrm>
            <a:off x="11841480" y="3694176"/>
            <a:ext cx="4526280" cy="731520"/>
          </a:xfrm>
          <a:prstGeom prst="rect">
            <a:avLst/>
          </a:prstGeom>
          <a:noFill/>
        </p:spPr>
        <p:txBody>
          <a:bodyPr wrap="square" lIns="18288" tIns="18288" rIns="18288" bIns="18288" anchor="t">
            <a:noAutofit/>
          </a:bodyPr>
          <a:lstStyle/>
          <a:p>
            <a:pPr algn="l">
              <a:lnSpc>
                <a:spcPct val="108000"/>
              </a:lnSpc>
              <a:spcAft>
                <a:spcPts val="0"/>
              </a:spcAft>
            </a:pPr>
            <a:r>
              <a:rPr sz="950" b="0" i="0">
                <a:solidFill>
                  <a:srgbClr val="ADC9BE"/>
                </a:solidFill>
                <a:latin typeface="Avenir Next"/>
              </a:rPr>
              <a:t>Red state stops the recommendation and raises an alert.</a:t>
            </a:r>
          </a:p>
        </p:txBody>
      </p:sp>
      <p:sp>
        <p:nvSpPr>
          <p:cNvPr id="23" name="Rounded Rectangle 22"/>
          <p:cNvSpPr/>
          <p:nvPr/>
        </p:nvSpPr>
        <p:spPr>
          <a:xfrm>
            <a:off x="1143000" y="4892040"/>
            <a:ext cx="4983480" cy="1847088"/>
          </a:xfrm>
          <a:prstGeom prst="roundRect">
            <a:avLst>
              <a:gd name="adj" fmla="val 8000"/>
            </a:avLst>
          </a:prstGeom>
          <a:solidFill>
            <a:srgbClr val="071813"/>
          </a:solidFill>
          <a:ln w="10160">
            <a:solidFill>
              <a:srgbClr val="A6F26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1325880" y="5038344"/>
            <a:ext cx="822960" cy="237744"/>
          </a:xfrm>
          <a:prstGeom prst="rect">
            <a:avLst/>
          </a:prstGeom>
          <a:noFill/>
        </p:spPr>
        <p:txBody>
          <a:bodyPr wrap="square" lIns="18288" tIns="18288" rIns="18288" bIns="18288" anchor="t">
            <a:noAutofit/>
          </a:bodyPr>
          <a:lstStyle/>
          <a:p>
            <a:pPr algn="l">
              <a:lnSpc>
                <a:spcPct val="105000"/>
              </a:lnSpc>
              <a:spcAft>
                <a:spcPts val="0"/>
              </a:spcAft>
            </a:pPr>
            <a:r>
              <a:rPr sz="880" b="1" i="0">
                <a:solidFill>
                  <a:srgbClr val="F5C451"/>
                </a:solidFill>
                <a:latin typeface="Menlo"/>
              </a:rPr>
              <a:t>1:30</a:t>
            </a:r>
          </a:p>
        </p:txBody>
      </p:sp>
      <p:sp>
        <p:nvSpPr>
          <p:cNvPr id="25" name="TextBox 24"/>
          <p:cNvSpPr txBox="1"/>
          <p:nvPr/>
        </p:nvSpPr>
        <p:spPr>
          <a:xfrm>
            <a:off x="1325880" y="5349240"/>
            <a:ext cx="4526280" cy="292608"/>
          </a:xfrm>
          <a:prstGeom prst="rect">
            <a:avLst/>
          </a:prstGeom>
          <a:noFill/>
        </p:spPr>
        <p:txBody>
          <a:bodyPr wrap="square" lIns="18288" tIns="18288" rIns="18288" bIns="18288" anchor="t">
            <a:noAutofit/>
          </a:bodyPr>
          <a:lstStyle/>
          <a:p>
            <a:pPr algn="l">
              <a:lnSpc>
                <a:spcPct val="105000"/>
              </a:lnSpc>
              <a:spcAft>
                <a:spcPts val="0"/>
              </a:spcAft>
            </a:pPr>
            <a:r>
              <a:rPr sz="1300" b="1" i="0">
                <a:solidFill>
                  <a:srgbClr val="F4FFFA"/>
                </a:solidFill>
                <a:latin typeface="Avenir Next"/>
              </a:rPr>
              <a:t>Restore the sensor</a:t>
            </a:r>
          </a:p>
        </p:txBody>
      </p:sp>
      <p:sp>
        <p:nvSpPr>
          <p:cNvPr id="26" name="TextBox 25"/>
          <p:cNvSpPr txBox="1"/>
          <p:nvPr/>
        </p:nvSpPr>
        <p:spPr>
          <a:xfrm>
            <a:off x="1325880" y="5751575"/>
            <a:ext cx="4526280" cy="731520"/>
          </a:xfrm>
          <a:prstGeom prst="rect">
            <a:avLst/>
          </a:prstGeom>
          <a:noFill/>
        </p:spPr>
        <p:txBody>
          <a:bodyPr wrap="square" lIns="18288" tIns="18288" rIns="18288" bIns="18288" anchor="t">
            <a:noAutofit/>
          </a:bodyPr>
          <a:lstStyle/>
          <a:p>
            <a:pPr algn="l">
              <a:lnSpc>
                <a:spcPct val="108000"/>
              </a:lnSpc>
              <a:spcAft>
                <a:spcPts val="0"/>
              </a:spcAft>
            </a:pPr>
            <a:r>
              <a:rPr sz="950" b="0" i="0">
                <a:solidFill>
                  <a:srgbClr val="ADC9BE"/>
                </a:solidFill>
                <a:latin typeface="Avenir Next"/>
              </a:rPr>
              <a:t>Trust returns to Green; advice resumes.</a:t>
            </a:r>
          </a:p>
        </p:txBody>
      </p:sp>
      <p:sp>
        <p:nvSpPr>
          <p:cNvPr id="27" name="Rounded Rectangle 26"/>
          <p:cNvSpPr/>
          <p:nvPr/>
        </p:nvSpPr>
        <p:spPr>
          <a:xfrm>
            <a:off x="6400800" y="4892040"/>
            <a:ext cx="4983480" cy="1847088"/>
          </a:xfrm>
          <a:prstGeom prst="roundRect">
            <a:avLst>
              <a:gd name="adj" fmla="val 8000"/>
            </a:avLst>
          </a:prstGeom>
          <a:solidFill>
            <a:srgbClr val="071813"/>
          </a:solidFill>
          <a:ln w="10160">
            <a:solidFill>
              <a:srgbClr val="F5C45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TextBox 27"/>
          <p:cNvSpPr txBox="1"/>
          <p:nvPr/>
        </p:nvSpPr>
        <p:spPr>
          <a:xfrm>
            <a:off x="6583680" y="5038344"/>
            <a:ext cx="822960" cy="237744"/>
          </a:xfrm>
          <a:prstGeom prst="rect">
            <a:avLst/>
          </a:prstGeom>
          <a:noFill/>
        </p:spPr>
        <p:txBody>
          <a:bodyPr wrap="square" lIns="18288" tIns="18288" rIns="18288" bIns="18288" anchor="t">
            <a:noAutofit/>
          </a:bodyPr>
          <a:lstStyle/>
          <a:p>
            <a:pPr algn="l">
              <a:lnSpc>
                <a:spcPct val="105000"/>
              </a:lnSpc>
              <a:spcAft>
                <a:spcPts val="0"/>
              </a:spcAft>
            </a:pPr>
            <a:r>
              <a:rPr sz="880" b="1" i="0">
                <a:solidFill>
                  <a:srgbClr val="F5C451"/>
                </a:solidFill>
                <a:latin typeface="Menlo"/>
              </a:rPr>
              <a:t>2:00</a:t>
            </a:r>
          </a:p>
        </p:txBody>
      </p:sp>
      <p:sp>
        <p:nvSpPr>
          <p:cNvPr id="29" name="TextBox 28"/>
          <p:cNvSpPr txBox="1"/>
          <p:nvPr/>
        </p:nvSpPr>
        <p:spPr>
          <a:xfrm>
            <a:off x="6583680" y="5349240"/>
            <a:ext cx="4526280" cy="292608"/>
          </a:xfrm>
          <a:prstGeom prst="rect">
            <a:avLst/>
          </a:prstGeom>
          <a:noFill/>
        </p:spPr>
        <p:txBody>
          <a:bodyPr wrap="square" lIns="18288" tIns="18288" rIns="18288" bIns="18288" anchor="t">
            <a:noAutofit/>
          </a:bodyPr>
          <a:lstStyle/>
          <a:p>
            <a:pPr algn="l">
              <a:lnSpc>
                <a:spcPct val="105000"/>
              </a:lnSpc>
              <a:spcAft>
                <a:spcPts val="0"/>
              </a:spcAft>
            </a:pPr>
            <a:r>
              <a:rPr sz="1300" b="1" i="0">
                <a:solidFill>
                  <a:srgbClr val="F4FFFA"/>
                </a:solidFill>
                <a:latin typeface="Avenir Next"/>
              </a:rPr>
              <a:t>Low battery</a:t>
            </a:r>
          </a:p>
        </p:txBody>
      </p:sp>
      <p:sp>
        <p:nvSpPr>
          <p:cNvPr id="30" name="TextBox 29"/>
          <p:cNvSpPr txBox="1"/>
          <p:nvPr/>
        </p:nvSpPr>
        <p:spPr>
          <a:xfrm>
            <a:off x="6583680" y="5751575"/>
            <a:ext cx="4526280" cy="731520"/>
          </a:xfrm>
          <a:prstGeom prst="rect">
            <a:avLst/>
          </a:prstGeom>
          <a:noFill/>
        </p:spPr>
        <p:txBody>
          <a:bodyPr wrap="square" lIns="18288" tIns="18288" rIns="18288" bIns="18288" anchor="t">
            <a:noAutofit/>
          </a:bodyPr>
          <a:lstStyle/>
          <a:p>
            <a:pPr algn="l">
              <a:lnSpc>
                <a:spcPct val="108000"/>
              </a:lnSpc>
              <a:spcAft>
                <a:spcPts val="0"/>
              </a:spcAft>
            </a:pPr>
            <a:r>
              <a:rPr sz="950" b="0" i="0">
                <a:solidFill>
                  <a:srgbClr val="ADC9BE"/>
                </a:solidFill>
                <a:latin typeface="Avenir Next"/>
              </a:rPr>
              <a:t>15% SOC → PROTECT; irrigation is delayed.</a:t>
            </a:r>
          </a:p>
        </p:txBody>
      </p:sp>
      <p:sp>
        <p:nvSpPr>
          <p:cNvPr id="31" name="Rounded Rectangle 30"/>
          <p:cNvSpPr/>
          <p:nvPr/>
        </p:nvSpPr>
        <p:spPr>
          <a:xfrm>
            <a:off x="11658600" y="4892040"/>
            <a:ext cx="4983480" cy="1847088"/>
          </a:xfrm>
          <a:prstGeom prst="roundRect">
            <a:avLst>
              <a:gd name="adj" fmla="val 8000"/>
            </a:avLst>
          </a:prstGeom>
          <a:solidFill>
            <a:srgbClr val="071813"/>
          </a:solidFill>
          <a:ln w="10160">
            <a:solidFill>
              <a:srgbClr val="F5C45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TextBox 31"/>
          <p:cNvSpPr txBox="1"/>
          <p:nvPr/>
        </p:nvSpPr>
        <p:spPr>
          <a:xfrm>
            <a:off x="11841480" y="5038344"/>
            <a:ext cx="822960" cy="237744"/>
          </a:xfrm>
          <a:prstGeom prst="rect">
            <a:avLst/>
          </a:prstGeom>
          <a:noFill/>
        </p:spPr>
        <p:txBody>
          <a:bodyPr wrap="square" lIns="18288" tIns="18288" rIns="18288" bIns="18288" anchor="t">
            <a:noAutofit/>
          </a:bodyPr>
          <a:lstStyle/>
          <a:p>
            <a:pPr algn="l">
              <a:lnSpc>
                <a:spcPct val="105000"/>
              </a:lnSpc>
              <a:spcAft>
                <a:spcPts val="0"/>
              </a:spcAft>
            </a:pPr>
            <a:r>
              <a:rPr sz="880" b="1" i="0">
                <a:solidFill>
                  <a:srgbClr val="F5C451"/>
                </a:solidFill>
                <a:latin typeface="Menlo"/>
              </a:rPr>
              <a:t>2:30</a:t>
            </a:r>
          </a:p>
        </p:txBody>
      </p:sp>
      <p:sp>
        <p:nvSpPr>
          <p:cNvPr id="33" name="TextBox 32"/>
          <p:cNvSpPr txBox="1"/>
          <p:nvPr/>
        </p:nvSpPr>
        <p:spPr>
          <a:xfrm>
            <a:off x="11841480" y="5349240"/>
            <a:ext cx="4526280" cy="292608"/>
          </a:xfrm>
          <a:prstGeom prst="rect">
            <a:avLst/>
          </a:prstGeom>
          <a:noFill/>
        </p:spPr>
        <p:txBody>
          <a:bodyPr wrap="square" lIns="18288" tIns="18288" rIns="18288" bIns="18288" anchor="t">
            <a:noAutofit/>
          </a:bodyPr>
          <a:lstStyle/>
          <a:p>
            <a:pPr algn="l">
              <a:lnSpc>
                <a:spcPct val="105000"/>
              </a:lnSpc>
              <a:spcAft>
                <a:spcPts val="0"/>
              </a:spcAft>
            </a:pPr>
            <a:r>
              <a:rPr sz="1300" b="1" i="0">
                <a:solidFill>
                  <a:srgbClr val="F4FFFA"/>
                </a:solidFill>
                <a:latin typeface="Avenir Next"/>
              </a:rPr>
              <a:t>Orbit the 3D twin</a:t>
            </a:r>
          </a:p>
        </p:txBody>
      </p:sp>
      <p:sp>
        <p:nvSpPr>
          <p:cNvPr id="34" name="TextBox 33"/>
          <p:cNvSpPr txBox="1"/>
          <p:nvPr/>
        </p:nvSpPr>
        <p:spPr>
          <a:xfrm>
            <a:off x="11841480" y="5751575"/>
            <a:ext cx="4526280" cy="731520"/>
          </a:xfrm>
          <a:prstGeom prst="rect">
            <a:avLst/>
          </a:prstGeom>
          <a:noFill/>
        </p:spPr>
        <p:txBody>
          <a:bodyPr wrap="square" lIns="18288" tIns="18288" rIns="18288" bIns="18288" anchor="t">
            <a:noAutofit/>
          </a:bodyPr>
          <a:lstStyle/>
          <a:p>
            <a:pPr algn="l">
              <a:lnSpc>
                <a:spcPct val="108000"/>
              </a:lnSpc>
              <a:spcAft>
                <a:spcPts val="0"/>
              </a:spcAft>
            </a:pPr>
            <a:r>
              <a:rPr sz="950" b="0" i="0">
                <a:solidFill>
                  <a:srgbClr val="ADC9BE"/>
                </a:solidFill>
                <a:latin typeface="Avenir Next"/>
              </a:rPr>
              <a:t>Show pins, data flow and the energy path.</a:t>
            </a:r>
          </a:p>
        </p:txBody>
      </p:sp>
      <p:sp>
        <p:nvSpPr>
          <p:cNvPr id="35" name="Rounded Rectangle 34"/>
          <p:cNvSpPr/>
          <p:nvPr/>
        </p:nvSpPr>
        <p:spPr>
          <a:xfrm>
            <a:off x="1143000" y="7269480"/>
            <a:ext cx="15864840" cy="749808"/>
          </a:xfrm>
          <a:prstGeom prst="roundRect">
            <a:avLst>
              <a:gd name="adj" fmla="val 8000"/>
            </a:avLst>
          </a:prstGeom>
          <a:solidFill>
            <a:srgbClr val="102C23"/>
          </a:solidFill>
          <a:ln w="10160">
            <a:solidFill>
              <a:srgbClr val="59D7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 name="TextBox 35"/>
          <p:cNvSpPr txBox="1"/>
          <p:nvPr/>
        </p:nvSpPr>
        <p:spPr>
          <a:xfrm>
            <a:off x="1417320" y="7406640"/>
            <a:ext cx="15316200" cy="438912"/>
          </a:xfrm>
          <a:prstGeom prst="rect">
            <a:avLst/>
          </a:prstGeom>
          <a:noFill/>
        </p:spPr>
        <p:txBody>
          <a:bodyPr wrap="square" lIns="18288" tIns="18288" rIns="18288" bIns="18288" anchor="t">
            <a:noAutofit/>
          </a:bodyPr>
          <a:lstStyle/>
          <a:p>
            <a:pPr algn="l">
              <a:lnSpc>
                <a:spcPct val="105000"/>
              </a:lnSpc>
              <a:spcAft>
                <a:spcPts val="0"/>
              </a:spcAft>
            </a:pPr>
            <a:r>
              <a:rPr sz="1019" b="1" i="0">
                <a:solidFill>
                  <a:srgbClr val="F4FFFA"/>
                </a:solidFill>
                <a:latin typeface="Avenir Next"/>
              </a:rPr>
              <a:t>Fallback: python tools/simulator.py → s (stuck) · j (spike) · b (low battery) · n (normal). Label simulator data as simulated.</a:t>
            </a:r>
          </a:p>
        </p:txBody>
      </p:sp>
      <p:sp>
        <p:nvSpPr>
          <p:cNvPr id="37" name="TextBox 36"/>
          <p:cNvSpPr txBox="1"/>
          <p:nvPr/>
        </p:nvSpPr>
        <p:spPr>
          <a:xfrm>
            <a:off x="4983480" y="9619488"/>
            <a:ext cx="5852160" cy="228600"/>
          </a:xfrm>
          <a:prstGeom prst="rect">
            <a:avLst/>
          </a:prstGeom>
          <a:noFill/>
        </p:spPr>
        <p:txBody>
          <a:bodyPr wrap="square" lIns="0" tIns="0" rIns="0" bIns="0" anchor="t">
            <a:noAutofit/>
          </a:bodyPr>
          <a:lstStyle/>
          <a:p>
            <a:pPr algn="l">
              <a:lnSpc>
                <a:spcPct val="105000"/>
              </a:lnSpc>
              <a:spcAft>
                <a:spcPts val="0"/>
              </a:spcAft>
            </a:pPr>
            <a:r>
              <a:rPr sz="819" b="0" i="0">
                <a:solidFill>
                  <a:srgbClr val="7CA091"/>
                </a:solidFill>
                <a:latin typeface="Avenir Next"/>
              </a:rPr>
              <a:t>TrustFarm  ·  INNOVA 2026  ·  ICBT</a:t>
            </a:r>
          </a:p>
        </p:txBody>
      </p:sp>
      <p:sp>
        <p:nvSpPr>
          <p:cNvPr id="38" name="TextBox 37"/>
          <p:cNvSpPr txBox="1"/>
          <p:nvPr/>
        </p:nvSpPr>
        <p:spPr>
          <a:xfrm>
            <a:off x="11018520" y="9619488"/>
            <a:ext cx="1234440" cy="228600"/>
          </a:xfrm>
          <a:prstGeom prst="rect">
            <a:avLst/>
          </a:prstGeom>
          <a:noFill/>
        </p:spPr>
        <p:txBody>
          <a:bodyPr wrap="square" lIns="0" tIns="0" rIns="0" bIns="0" anchor="t">
            <a:noAutofit/>
          </a:bodyPr>
          <a:lstStyle/>
          <a:p>
            <a:pPr algn="r">
              <a:lnSpc>
                <a:spcPct val="105000"/>
              </a:lnSpc>
              <a:spcAft>
                <a:spcPts val="0"/>
              </a:spcAft>
            </a:pPr>
            <a:r>
              <a:rPr sz="819" b="0" i="0">
                <a:solidFill>
                  <a:srgbClr val="7CA091"/>
                </a:solidFill>
                <a:latin typeface="Avenir Next"/>
              </a:rPr>
              <a:t>23 / 25</a:t>
            </a: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bg>
      <p:bgPr>
        <a:solidFill>
          <a:srgbClr val="1A1D1C"/>
        </a:solidFill>
        <a:effectLst/>
      </p:bgPr>
    </p:bg>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25192566" h="16800292">
                <a:moveTo>
                  <a:pt x="0" y="0"/>
                </a:moveTo>
                <a:lnTo>
                  <a:pt x="25192566" y="0"/>
                </a:lnTo>
                <a:lnTo>
                  <a:pt x="25192566" y="16800292"/>
                </a:lnTo>
                <a:lnTo>
                  <a:pt x="0" y="16800292"/>
                </a:lnTo>
                <a:lnTo>
                  <a:pt x="0" y="0"/>
                </a:lnTo>
                <a:close/>
              </a:path>
            </a:pathLst>
          </a:custGeom>
          <a:blipFill>
            <a:blip r:embed="rId3"/>
            <a:stretch>
              <a:fillRect/>
            </a:stretch>
          </a:blipFill>
        </p:spPr>
        <p:txBody>
          <a:bodyPr/>
          <a:lstStyle/>
          <a:p>
            <a:endParaRPr/>
          </a:p>
        </p:txBody>
      </p:sp>
      <p:sp>
        <p:nvSpPr>
          <p:cNvPr id="3" name="Freeform 3"/>
          <p:cNvSpPr/>
          <p:nvPr/>
        </p:nvSpPr>
        <p:spPr>
          <a:xfrm>
            <a:off x="12596283" y="8658721"/>
            <a:ext cx="6457129" cy="1628279"/>
          </a:xfrm>
          <a:custGeom>
            <a:avLst/>
            <a:gdLst/>
            <a:ahLst/>
            <a:cxnLst/>
            <a:rect l="l" t="t" r="r" b="b"/>
            <a:pathLst>
              <a:path w="6457129" h="1628279">
                <a:moveTo>
                  <a:pt x="0" y="0"/>
                </a:moveTo>
                <a:lnTo>
                  <a:pt x="6457129" y="0"/>
                </a:lnTo>
                <a:lnTo>
                  <a:pt x="6457129" y="1628279"/>
                </a:lnTo>
                <a:lnTo>
                  <a:pt x="0" y="1628279"/>
                </a:lnTo>
                <a:lnTo>
                  <a:pt x="0" y="0"/>
                </a:lnTo>
                <a:close/>
              </a:path>
            </a:pathLst>
          </a:custGeom>
          <a:blipFill>
            <a:blip r:embed="rId4"/>
            <a:stretch>
              <a:fillRect t="-85078" b="-85078"/>
            </a:stretch>
          </a:blipFill>
        </p:spPr>
        <p:txBody>
          <a:bodyPr/>
          <a:lstStyle/>
          <a:p>
            <a:endParaRPr/>
          </a:p>
        </p:txBody>
      </p:sp>
      <p:sp>
        <p:nvSpPr>
          <p:cNvPr id="4" name="Freeform 4"/>
          <p:cNvSpPr/>
          <p:nvPr/>
        </p:nvSpPr>
        <p:spPr>
          <a:xfrm>
            <a:off x="0" y="8072991"/>
            <a:ext cx="2839033" cy="2839033"/>
          </a:xfrm>
          <a:custGeom>
            <a:avLst/>
            <a:gdLst/>
            <a:ahLst/>
            <a:cxnLst/>
            <a:rect l="l" t="t" r="r" b="b"/>
            <a:pathLst>
              <a:path w="2839033" h="2839033">
                <a:moveTo>
                  <a:pt x="0" y="0"/>
                </a:moveTo>
                <a:lnTo>
                  <a:pt x="2839033" y="0"/>
                </a:lnTo>
                <a:lnTo>
                  <a:pt x="2839033" y="2839033"/>
                </a:lnTo>
                <a:lnTo>
                  <a:pt x="0" y="2839033"/>
                </a:lnTo>
                <a:lnTo>
                  <a:pt x="0" y="0"/>
                </a:lnTo>
                <a:close/>
              </a:path>
            </a:pathLst>
          </a:custGeom>
          <a:blipFill>
            <a:blip r:embed="rId5"/>
            <a:stretch>
              <a:fillRect/>
            </a:stretch>
          </a:blipFill>
        </p:spPr>
        <p:txBody>
          <a:bodyPr/>
          <a:lstStyle/>
          <a:p>
            <a:endParaRPr/>
          </a:p>
        </p:txBody>
      </p:sp>
      <p:sp>
        <p:nvSpPr>
          <p:cNvPr id="5" name="TextBox 4"/>
          <p:cNvSpPr txBox="1"/>
          <p:nvPr/>
        </p:nvSpPr>
        <p:spPr>
          <a:xfrm>
            <a:off x="1143000" y="841248"/>
            <a:ext cx="10972800" cy="292608"/>
          </a:xfrm>
          <a:prstGeom prst="rect">
            <a:avLst/>
          </a:prstGeom>
          <a:noFill/>
        </p:spPr>
        <p:txBody>
          <a:bodyPr wrap="square" lIns="0" tIns="0" rIns="0" bIns="0" anchor="t">
            <a:noAutofit/>
          </a:bodyPr>
          <a:lstStyle/>
          <a:p>
            <a:pPr algn="l">
              <a:lnSpc>
                <a:spcPct val="105000"/>
              </a:lnSpc>
              <a:spcAft>
                <a:spcPts val="0"/>
              </a:spcAft>
            </a:pPr>
            <a:r>
              <a:rPr sz="1000" b="1" i="0">
                <a:solidFill>
                  <a:srgbClr val="A6F26B"/>
                </a:solidFill>
                <a:latin typeface="Avenir Next"/>
              </a:rPr>
              <a:t>IMPACT &amp; NEXT GATES</a:t>
            </a:r>
          </a:p>
        </p:txBody>
      </p:sp>
      <p:sp>
        <p:nvSpPr>
          <p:cNvPr id="6" name="TextBox 5"/>
          <p:cNvSpPr txBox="1"/>
          <p:nvPr/>
        </p:nvSpPr>
        <p:spPr>
          <a:xfrm>
            <a:off x="1097280" y="1124712"/>
            <a:ext cx="13075920" cy="676656"/>
          </a:xfrm>
          <a:prstGeom prst="rect">
            <a:avLst/>
          </a:prstGeom>
          <a:noFill/>
        </p:spPr>
        <p:txBody>
          <a:bodyPr wrap="square" lIns="0" tIns="0" rIns="0" bIns="0" anchor="t">
            <a:noAutofit/>
          </a:bodyPr>
          <a:lstStyle/>
          <a:p>
            <a:pPr algn="l">
              <a:lnSpc>
                <a:spcPct val="98000"/>
              </a:lnSpc>
              <a:spcAft>
                <a:spcPts val="0"/>
              </a:spcAft>
            </a:pPr>
            <a:r>
              <a:rPr sz="3300" b="1" i="0">
                <a:solidFill>
                  <a:srgbClr val="F4FFFA"/>
                </a:solidFill>
                <a:latin typeface="Avenir Next"/>
              </a:rPr>
              <a:t>A useful prototype with a clear path.</a:t>
            </a:r>
          </a:p>
        </p:txBody>
      </p:sp>
      <p:sp>
        <p:nvSpPr>
          <p:cNvPr id="7" name="TextBox 6"/>
          <p:cNvSpPr txBox="1"/>
          <p:nvPr/>
        </p:nvSpPr>
        <p:spPr>
          <a:xfrm>
            <a:off x="1143000" y="1865376"/>
            <a:ext cx="13258800" cy="502920"/>
          </a:xfrm>
          <a:prstGeom prst="rect">
            <a:avLst/>
          </a:prstGeom>
          <a:noFill/>
        </p:spPr>
        <p:txBody>
          <a:bodyPr wrap="square" lIns="0" tIns="0" rIns="0" bIns="0" anchor="t">
            <a:noAutofit/>
          </a:bodyPr>
          <a:lstStyle/>
          <a:p>
            <a:pPr algn="l">
              <a:lnSpc>
                <a:spcPct val="110000"/>
              </a:lnSpc>
              <a:spcAft>
                <a:spcPts val="0"/>
              </a:spcAft>
            </a:pPr>
            <a:r>
              <a:rPr sz="1400" b="0" i="0">
                <a:solidFill>
                  <a:srgbClr val="ADC9BE"/>
                </a:solidFill>
                <a:latin typeface="Avenir Next"/>
              </a:rPr>
              <a:t>Impact is plausible; feasibility is demonstrated; field evidence is still ahead.</a:t>
            </a:r>
          </a:p>
        </p:txBody>
      </p:sp>
      <p:sp>
        <p:nvSpPr>
          <p:cNvPr id="8" name="Rectangle 7"/>
          <p:cNvSpPr/>
          <p:nvPr/>
        </p:nvSpPr>
        <p:spPr>
          <a:xfrm>
            <a:off x="1143000" y="2542032"/>
            <a:ext cx="1143000" cy="41148"/>
          </a:xfrm>
          <a:prstGeom prst="rect">
            <a:avLst/>
          </a:prstGeom>
          <a:solidFill>
            <a:srgbClr val="A6F2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ounded Rectangle 8"/>
          <p:cNvSpPr/>
          <p:nvPr/>
        </p:nvSpPr>
        <p:spPr>
          <a:xfrm>
            <a:off x="14127480" y="1143000"/>
            <a:ext cx="3017520" cy="347472"/>
          </a:xfrm>
          <a:prstGeom prst="roundRect">
            <a:avLst>
              <a:gd name="adj" fmla="val 50000"/>
            </a:avLst>
          </a:prstGeom>
          <a:solidFill>
            <a:srgbClr val="0A221B"/>
          </a:solidFill>
          <a:ln w="8890">
            <a:solidFill>
              <a:srgbClr val="A6F26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14164055" y="1161288"/>
            <a:ext cx="2944368" cy="310896"/>
          </a:xfrm>
          <a:prstGeom prst="rect">
            <a:avLst/>
          </a:prstGeom>
          <a:noFill/>
        </p:spPr>
        <p:txBody>
          <a:bodyPr wrap="square" lIns="9144" tIns="0" rIns="9144" bIns="0" anchor="ctr">
            <a:noAutofit/>
          </a:bodyPr>
          <a:lstStyle/>
          <a:p>
            <a:pPr algn="ctr">
              <a:lnSpc>
                <a:spcPct val="105000"/>
              </a:lnSpc>
              <a:spcAft>
                <a:spcPts val="0"/>
              </a:spcAft>
            </a:pPr>
            <a:r>
              <a:rPr sz="819" b="1" i="0">
                <a:solidFill>
                  <a:srgbClr val="A6F26B"/>
                </a:solidFill>
                <a:latin typeface="Avenir Next"/>
              </a:rPr>
              <a:t>HONEST STAGE</a:t>
            </a:r>
          </a:p>
        </p:txBody>
      </p:sp>
      <p:sp>
        <p:nvSpPr>
          <p:cNvPr id="11" name="Rounded Rectangle 10"/>
          <p:cNvSpPr/>
          <p:nvPr/>
        </p:nvSpPr>
        <p:spPr>
          <a:xfrm>
            <a:off x="1143000" y="2788920"/>
            <a:ext cx="5074920" cy="4160520"/>
          </a:xfrm>
          <a:prstGeom prst="roundRect">
            <a:avLst>
              <a:gd name="adj" fmla="val 8000"/>
            </a:avLst>
          </a:prstGeom>
          <a:solidFill>
            <a:srgbClr val="071813"/>
          </a:solidFill>
          <a:ln w="10160">
            <a:solidFill>
              <a:srgbClr val="2C5A4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1389888" y="2971800"/>
            <a:ext cx="4572000" cy="274320"/>
          </a:xfrm>
          <a:prstGeom prst="rect">
            <a:avLst/>
          </a:prstGeom>
          <a:noFill/>
        </p:spPr>
        <p:txBody>
          <a:bodyPr wrap="square" lIns="18288" tIns="18288" rIns="18288" bIns="18288" anchor="t">
            <a:noAutofit/>
          </a:bodyPr>
          <a:lstStyle/>
          <a:p>
            <a:pPr algn="l">
              <a:lnSpc>
                <a:spcPct val="105000"/>
              </a:lnSpc>
              <a:spcAft>
                <a:spcPts val="0"/>
              </a:spcAft>
            </a:pPr>
            <a:r>
              <a:rPr sz="950" b="1" i="0">
                <a:solidFill>
                  <a:srgbClr val="A6F26B"/>
                </a:solidFill>
                <a:latin typeface="Avenir Next"/>
              </a:rPr>
              <a:t>IMPACT</a:t>
            </a:r>
          </a:p>
        </p:txBody>
      </p:sp>
      <p:sp>
        <p:nvSpPr>
          <p:cNvPr id="13" name="TextBox 12"/>
          <p:cNvSpPr txBox="1"/>
          <p:nvPr/>
        </p:nvSpPr>
        <p:spPr>
          <a:xfrm>
            <a:off x="1389888" y="3337560"/>
            <a:ext cx="4526280" cy="2834640"/>
          </a:xfrm>
          <a:prstGeom prst="rect">
            <a:avLst/>
          </a:prstGeom>
          <a:noFill/>
        </p:spPr>
        <p:txBody>
          <a:bodyPr wrap="square" lIns="0" tIns="0" rIns="0" bIns="0" anchor="t">
            <a:noAutofit/>
          </a:bodyPr>
          <a:lstStyle/>
          <a:p>
            <a:pPr algn="l">
              <a:lnSpc>
                <a:spcPct val="112000"/>
              </a:lnSpc>
              <a:spcAft>
                <a:spcPts val="900"/>
              </a:spcAft>
            </a:pPr>
            <a:r>
              <a:rPr sz="1000" b="1" i="0">
                <a:solidFill>
                  <a:srgbClr val="A6F26B"/>
                </a:solidFill>
                <a:latin typeface="Avenir Next"/>
              </a:rPr>
              <a:t>•  </a:t>
            </a:r>
            <a:r>
              <a:rPr sz="1000" b="1" i="0">
                <a:solidFill>
                  <a:srgbClr val="F4FFFA"/>
                </a:solidFill>
                <a:latin typeface="Avenir Next"/>
              </a:rPr>
              <a:t>Fewer wrong irrigations</a:t>
            </a:r>
            <a:r>
              <a:rPr sz="1000" b="0" i="0">
                <a:solidFill>
                  <a:srgbClr val="F4FFFA"/>
                </a:solidFill>
                <a:latin typeface="Avenir Next"/>
              </a:rPr>
              <a:t> by stopping advice on untrusted data.</a:t>
            </a:r>
          </a:p>
          <a:p>
            <a:pPr algn="l">
              <a:lnSpc>
                <a:spcPct val="112000"/>
              </a:lnSpc>
              <a:spcAft>
                <a:spcPts val="900"/>
              </a:spcAft>
            </a:pPr>
            <a:r>
              <a:rPr sz="1000" b="1" i="0">
                <a:solidFill>
                  <a:srgbClr val="A6F26B"/>
                </a:solidFill>
                <a:latin typeface="Avenir Next"/>
              </a:rPr>
              <a:t>•  </a:t>
            </a:r>
            <a:r>
              <a:rPr sz="1000" b="1" i="0">
                <a:solidFill>
                  <a:srgbClr val="F4FFFA"/>
                </a:solidFill>
                <a:latin typeface="Avenir Next"/>
              </a:rPr>
              <a:t>Less wasted water</a:t>
            </a:r>
            <a:r>
              <a:rPr sz="1000" b="0" i="0">
                <a:solidFill>
                  <a:srgbClr val="F4FFFA"/>
                </a:solidFill>
                <a:latin typeface="Avenir Next"/>
              </a:rPr>
              <a:t> — target, to be measured in the pilot.</a:t>
            </a:r>
          </a:p>
          <a:p>
            <a:pPr algn="l">
              <a:lnSpc>
                <a:spcPct val="112000"/>
              </a:lnSpc>
              <a:spcAft>
                <a:spcPts val="900"/>
              </a:spcAft>
            </a:pPr>
            <a:r>
              <a:rPr sz="1000" b="1" i="0">
                <a:solidFill>
                  <a:srgbClr val="A6F26B"/>
                </a:solidFill>
                <a:latin typeface="Avenir Next"/>
              </a:rPr>
              <a:t>•  </a:t>
            </a:r>
            <a:r>
              <a:rPr sz="1000" b="1" i="0">
                <a:solidFill>
                  <a:srgbClr val="F4FFFA"/>
                </a:solidFill>
                <a:latin typeface="Avenir Next"/>
              </a:rPr>
              <a:t>More trust in AI</a:t>
            </a:r>
            <a:r>
              <a:rPr sz="1000" b="0" i="0">
                <a:solidFill>
                  <a:srgbClr val="F4FFFA"/>
                </a:solidFill>
                <a:latin typeface="Avenir Next"/>
              </a:rPr>
              <a:t> because the reason and the data state are visible.</a:t>
            </a:r>
          </a:p>
          <a:p>
            <a:pPr algn="l">
              <a:lnSpc>
                <a:spcPct val="112000"/>
              </a:lnSpc>
              <a:spcAft>
                <a:spcPts val="900"/>
              </a:spcAft>
            </a:pPr>
            <a:r>
              <a:rPr sz="1000" b="1" i="0">
                <a:solidFill>
                  <a:srgbClr val="A6F26B"/>
                </a:solidFill>
                <a:latin typeface="Avenir Next"/>
              </a:rPr>
              <a:t>•  </a:t>
            </a:r>
            <a:r>
              <a:rPr sz="1000" b="1" i="0">
                <a:solidFill>
                  <a:srgbClr val="F4FFFA"/>
                </a:solidFill>
                <a:latin typeface="Avenir Next"/>
              </a:rPr>
              <a:t>Energy visibility</a:t>
            </a:r>
            <a:r>
              <a:rPr sz="1000" b="0" i="0">
                <a:solidFill>
                  <a:srgbClr val="F4FFFA"/>
                </a:solidFill>
                <a:latin typeface="Avenir Next"/>
              </a:rPr>
              <a:t> links water decisions to available power.</a:t>
            </a:r>
          </a:p>
        </p:txBody>
      </p:sp>
      <p:sp>
        <p:nvSpPr>
          <p:cNvPr id="14" name="Rounded Rectangle 13"/>
          <p:cNvSpPr/>
          <p:nvPr/>
        </p:nvSpPr>
        <p:spPr>
          <a:xfrm>
            <a:off x="6355080" y="2788920"/>
            <a:ext cx="4892040" cy="4160520"/>
          </a:xfrm>
          <a:prstGeom prst="roundRect">
            <a:avLst>
              <a:gd name="adj" fmla="val 8000"/>
            </a:avLst>
          </a:prstGeom>
          <a:solidFill>
            <a:srgbClr val="071813"/>
          </a:solidFill>
          <a:ln w="10160">
            <a:solidFill>
              <a:srgbClr val="2C5A4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6601968" y="2971800"/>
            <a:ext cx="4389120" cy="274320"/>
          </a:xfrm>
          <a:prstGeom prst="rect">
            <a:avLst/>
          </a:prstGeom>
          <a:noFill/>
        </p:spPr>
        <p:txBody>
          <a:bodyPr wrap="square" lIns="18288" tIns="18288" rIns="18288" bIns="18288" anchor="t">
            <a:noAutofit/>
          </a:bodyPr>
          <a:lstStyle/>
          <a:p>
            <a:pPr algn="l">
              <a:lnSpc>
                <a:spcPct val="105000"/>
              </a:lnSpc>
              <a:spcAft>
                <a:spcPts val="0"/>
              </a:spcAft>
            </a:pPr>
            <a:r>
              <a:rPr sz="950" b="1" i="0">
                <a:solidFill>
                  <a:srgbClr val="59D7F0"/>
                </a:solidFill>
                <a:latin typeface="Avenir Next"/>
              </a:rPr>
              <a:t>FEASIBILITY</a:t>
            </a:r>
          </a:p>
        </p:txBody>
      </p:sp>
      <p:sp>
        <p:nvSpPr>
          <p:cNvPr id="16" name="TextBox 15"/>
          <p:cNvSpPr txBox="1"/>
          <p:nvPr/>
        </p:nvSpPr>
        <p:spPr>
          <a:xfrm>
            <a:off x="6601968" y="3337560"/>
            <a:ext cx="4434840" cy="2834640"/>
          </a:xfrm>
          <a:prstGeom prst="rect">
            <a:avLst/>
          </a:prstGeom>
          <a:noFill/>
        </p:spPr>
        <p:txBody>
          <a:bodyPr wrap="square" lIns="0" tIns="0" rIns="0" bIns="0" anchor="t">
            <a:noAutofit/>
          </a:bodyPr>
          <a:lstStyle/>
          <a:p>
            <a:pPr algn="l">
              <a:lnSpc>
                <a:spcPct val="112000"/>
              </a:lnSpc>
              <a:spcAft>
                <a:spcPts val="900"/>
              </a:spcAft>
            </a:pPr>
            <a:r>
              <a:rPr sz="1000" b="1" i="0">
                <a:solidFill>
                  <a:srgbClr val="A6F26B"/>
                </a:solidFill>
                <a:latin typeface="Avenir Next"/>
              </a:rPr>
              <a:t>•  </a:t>
            </a:r>
            <a:r>
              <a:rPr sz="1000" b="1" i="0">
                <a:solidFill>
                  <a:srgbClr val="F4FFFA"/>
                </a:solidFill>
                <a:latin typeface="Avenir Next"/>
              </a:rPr>
              <a:t>4-member team</a:t>
            </a:r>
            <a:r>
              <a:rPr sz="1000" b="0" i="0">
                <a:solidFill>
                  <a:srgbClr val="F4FFFA"/>
                </a:solidFill>
                <a:latin typeface="Avenir Next"/>
              </a:rPr>
              <a:t> with clear ownership across AI, apps, IoT and integration.</a:t>
            </a:r>
          </a:p>
          <a:p>
            <a:pPr algn="l">
              <a:lnSpc>
                <a:spcPct val="112000"/>
              </a:lnSpc>
              <a:spcAft>
                <a:spcPts val="900"/>
              </a:spcAft>
            </a:pPr>
            <a:r>
              <a:rPr sz="1000" b="1" i="0">
                <a:solidFill>
                  <a:srgbClr val="A6F26B"/>
                </a:solidFill>
                <a:latin typeface="Avenir Next"/>
              </a:rPr>
              <a:t>•  </a:t>
            </a:r>
            <a:r>
              <a:rPr sz="1000" b="1" i="0">
                <a:solidFill>
                  <a:srgbClr val="F4FFFA"/>
                </a:solidFill>
                <a:latin typeface="Avenir Next"/>
              </a:rPr>
              <a:t>Open stack</a:t>
            </a:r>
            <a:r>
              <a:rPr sz="1000" b="0" i="0">
                <a:solidFill>
                  <a:srgbClr val="F4FFFA"/>
                </a:solidFill>
                <a:latin typeface="Avenir Next"/>
              </a:rPr>
              <a:t> FastAPI, Postgres, scikit-learn, React, Flutter, Three.js.</a:t>
            </a:r>
          </a:p>
          <a:p>
            <a:pPr algn="l">
              <a:lnSpc>
                <a:spcPct val="112000"/>
              </a:lnSpc>
              <a:spcAft>
                <a:spcPts val="900"/>
              </a:spcAft>
            </a:pPr>
            <a:r>
              <a:rPr sz="1000" b="1" i="0">
                <a:solidFill>
                  <a:srgbClr val="A6F26B"/>
                </a:solidFill>
                <a:latin typeface="Avenir Next"/>
              </a:rPr>
              <a:t>•  </a:t>
            </a:r>
            <a:r>
              <a:rPr sz="1000" b="1" i="0">
                <a:solidFill>
                  <a:srgbClr val="F4FFFA"/>
                </a:solidFill>
                <a:latin typeface="Avenir Next"/>
              </a:rPr>
              <a:t>Local-first</a:t>
            </a:r>
            <a:r>
              <a:rPr sz="1000" b="0" i="0">
                <a:solidFill>
                  <a:srgbClr val="F4FFFA"/>
                </a:solidFill>
                <a:latin typeface="Avenir Next"/>
              </a:rPr>
              <a:t> Docker deployment and simulator-based demos.</a:t>
            </a:r>
          </a:p>
          <a:p>
            <a:pPr algn="l">
              <a:lnSpc>
                <a:spcPct val="112000"/>
              </a:lnSpc>
              <a:spcAft>
                <a:spcPts val="900"/>
              </a:spcAft>
            </a:pPr>
            <a:r>
              <a:rPr sz="1000" b="1" i="0">
                <a:solidFill>
                  <a:srgbClr val="A6F26B"/>
                </a:solidFill>
                <a:latin typeface="Avenir Next"/>
              </a:rPr>
              <a:t>•  </a:t>
            </a:r>
            <a:r>
              <a:rPr sz="1000" b="1" i="0">
                <a:solidFill>
                  <a:srgbClr val="F4FFFA"/>
                </a:solidFill>
                <a:latin typeface="Avenir Next"/>
              </a:rPr>
              <a:t>Not yet</a:t>
            </a:r>
            <a:r>
              <a:rPr sz="1000" b="0" i="0">
                <a:solidFill>
                  <a:srgbClr val="F4FFFA"/>
                </a:solidFill>
                <a:latin typeface="Avenir Next"/>
              </a:rPr>
              <a:t> a field pilot, production security or automatic pump control.</a:t>
            </a:r>
          </a:p>
        </p:txBody>
      </p:sp>
      <p:sp>
        <p:nvSpPr>
          <p:cNvPr id="17" name="Rounded Rectangle 16"/>
          <p:cNvSpPr/>
          <p:nvPr/>
        </p:nvSpPr>
        <p:spPr>
          <a:xfrm>
            <a:off x="11384280" y="2788920"/>
            <a:ext cx="5623560" cy="4160520"/>
          </a:xfrm>
          <a:prstGeom prst="roundRect">
            <a:avLst>
              <a:gd name="adj" fmla="val 8000"/>
            </a:avLst>
          </a:prstGeom>
          <a:solidFill>
            <a:srgbClr val="0A221B"/>
          </a:solidFill>
          <a:ln w="10160">
            <a:solidFill>
              <a:srgbClr val="F5C45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11631168" y="2971800"/>
            <a:ext cx="5120640" cy="274320"/>
          </a:xfrm>
          <a:prstGeom prst="rect">
            <a:avLst/>
          </a:prstGeom>
          <a:noFill/>
        </p:spPr>
        <p:txBody>
          <a:bodyPr wrap="square" lIns="18288" tIns="18288" rIns="18288" bIns="18288" anchor="t">
            <a:noAutofit/>
          </a:bodyPr>
          <a:lstStyle/>
          <a:p>
            <a:pPr algn="l">
              <a:lnSpc>
                <a:spcPct val="105000"/>
              </a:lnSpc>
              <a:spcAft>
                <a:spcPts val="0"/>
              </a:spcAft>
            </a:pPr>
            <a:r>
              <a:rPr sz="950" b="1" i="0">
                <a:solidFill>
                  <a:srgbClr val="F5C451"/>
                </a:solidFill>
                <a:latin typeface="Avenir Next"/>
              </a:rPr>
              <a:t>ROADMAP</a:t>
            </a:r>
          </a:p>
        </p:txBody>
      </p:sp>
      <p:sp>
        <p:nvSpPr>
          <p:cNvPr id="19" name="Rounded Rectangle 18"/>
          <p:cNvSpPr/>
          <p:nvPr/>
        </p:nvSpPr>
        <p:spPr>
          <a:xfrm>
            <a:off x="11631168" y="3401568"/>
            <a:ext cx="868680" cy="274320"/>
          </a:xfrm>
          <a:prstGeom prst="roundRect">
            <a:avLst>
              <a:gd name="adj" fmla="val 50000"/>
            </a:avLst>
          </a:prstGeom>
          <a:solidFill>
            <a:srgbClr val="0A221B"/>
          </a:solidFill>
          <a:ln w="8890">
            <a:solidFill>
              <a:srgbClr val="A6F26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11667744" y="3419856"/>
            <a:ext cx="795528" cy="237744"/>
          </a:xfrm>
          <a:prstGeom prst="rect">
            <a:avLst/>
          </a:prstGeom>
          <a:noFill/>
        </p:spPr>
        <p:txBody>
          <a:bodyPr wrap="square" lIns="9144" tIns="0" rIns="9144" bIns="0" anchor="ctr">
            <a:noAutofit/>
          </a:bodyPr>
          <a:lstStyle/>
          <a:p>
            <a:pPr algn="ctr">
              <a:lnSpc>
                <a:spcPct val="105000"/>
              </a:lnSpc>
              <a:spcAft>
                <a:spcPts val="0"/>
              </a:spcAft>
            </a:pPr>
            <a:r>
              <a:rPr sz="720" b="1" i="0">
                <a:solidFill>
                  <a:srgbClr val="A6F26B"/>
                </a:solidFill>
                <a:latin typeface="Avenir Next"/>
              </a:rPr>
              <a:t>NOW</a:t>
            </a:r>
          </a:p>
        </p:txBody>
      </p:sp>
      <p:sp>
        <p:nvSpPr>
          <p:cNvPr id="21" name="TextBox 20"/>
          <p:cNvSpPr txBox="1"/>
          <p:nvPr/>
        </p:nvSpPr>
        <p:spPr>
          <a:xfrm>
            <a:off x="12664440" y="3383280"/>
            <a:ext cx="4069080" cy="713232"/>
          </a:xfrm>
          <a:prstGeom prst="rect">
            <a:avLst/>
          </a:prstGeom>
          <a:noFill/>
        </p:spPr>
        <p:txBody>
          <a:bodyPr wrap="square" lIns="18288" tIns="18288" rIns="18288" bIns="18288" anchor="t">
            <a:noAutofit/>
          </a:bodyPr>
          <a:lstStyle/>
          <a:p>
            <a:pPr algn="l">
              <a:lnSpc>
                <a:spcPct val="108000"/>
              </a:lnSpc>
              <a:spcAft>
                <a:spcPts val="0"/>
              </a:spcAft>
            </a:pPr>
            <a:r>
              <a:rPr sz="960" b="0" i="0">
                <a:solidFill>
                  <a:srgbClr val="F4FFFA"/>
                </a:solidFill>
                <a:latin typeface="Avenir Next"/>
              </a:rPr>
              <a:t>3D twin · trust gate · 3h forecast · monitoring</a:t>
            </a:r>
          </a:p>
        </p:txBody>
      </p:sp>
      <p:sp>
        <p:nvSpPr>
          <p:cNvPr id="22" name="Rounded Rectangle 21"/>
          <p:cNvSpPr/>
          <p:nvPr/>
        </p:nvSpPr>
        <p:spPr>
          <a:xfrm>
            <a:off x="11631168" y="4462272"/>
            <a:ext cx="868680" cy="274320"/>
          </a:xfrm>
          <a:prstGeom prst="roundRect">
            <a:avLst>
              <a:gd name="adj" fmla="val 50000"/>
            </a:avLst>
          </a:prstGeom>
          <a:solidFill>
            <a:srgbClr val="0A221B"/>
          </a:solidFill>
          <a:ln w="8890">
            <a:solidFill>
              <a:srgbClr val="59D7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11667744" y="4480559"/>
            <a:ext cx="795528" cy="237744"/>
          </a:xfrm>
          <a:prstGeom prst="rect">
            <a:avLst/>
          </a:prstGeom>
          <a:noFill/>
        </p:spPr>
        <p:txBody>
          <a:bodyPr wrap="square" lIns="9144" tIns="0" rIns="9144" bIns="0" anchor="ctr">
            <a:noAutofit/>
          </a:bodyPr>
          <a:lstStyle/>
          <a:p>
            <a:pPr algn="ctr">
              <a:lnSpc>
                <a:spcPct val="105000"/>
              </a:lnSpc>
              <a:spcAft>
                <a:spcPts val="0"/>
              </a:spcAft>
            </a:pPr>
            <a:r>
              <a:rPr sz="720" b="1" i="0">
                <a:solidFill>
                  <a:srgbClr val="59D7F0"/>
                </a:solidFill>
                <a:latin typeface="Avenir Next"/>
              </a:rPr>
              <a:t>NEXT</a:t>
            </a:r>
          </a:p>
        </p:txBody>
      </p:sp>
      <p:sp>
        <p:nvSpPr>
          <p:cNvPr id="24" name="TextBox 23"/>
          <p:cNvSpPr txBox="1"/>
          <p:nvPr/>
        </p:nvSpPr>
        <p:spPr>
          <a:xfrm>
            <a:off x="12664440" y="4443984"/>
            <a:ext cx="4069080" cy="713232"/>
          </a:xfrm>
          <a:prstGeom prst="rect">
            <a:avLst/>
          </a:prstGeom>
          <a:noFill/>
        </p:spPr>
        <p:txBody>
          <a:bodyPr wrap="square" lIns="18288" tIns="18288" rIns="18288" bIns="18288" anchor="t">
            <a:noAutofit/>
          </a:bodyPr>
          <a:lstStyle/>
          <a:p>
            <a:pPr algn="l">
              <a:lnSpc>
                <a:spcPct val="108000"/>
              </a:lnSpc>
              <a:spcAft>
                <a:spcPts val="0"/>
              </a:spcAft>
            </a:pPr>
            <a:r>
              <a:rPr sz="960" b="0" i="0">
                <a:solidFill>
                  <a:srgbClr val="F4FFFA"/>
                </a:solidFill>
                <a:latin typeface="Avenir Next"/>
              </a:rPr>
              <a:t>TLS · push alerts · per-crop calibration · two-zone pilot</a:t>
            </a:r>
          </a:p>
        </p:txBody>
      </p:sp>
      <p:sp>
        <p:nvSpPr>
          <p:cNvPr id="25" name="Rounded Rectangle 24"/>
          <p:cNvSpPr/>
          <p:nvPr/>
        </p:nvSpPr>
        <p:spPr>
          <a:xfrm>
            <a:off x="11631168" y="5522976"/>
            <a:ext cx="868680" cy="274320"/>
          </a:xfrm>
          <a:prstGeom prst="roundRect">
            <a:avLst>
              <a:gd name="adj" fmla="val 50000"/>
            </a:avLst>
          </a:prstGeom>
          <a:solidFill>
            <a:srgbClr val="0A221B"/>
          </a:solidFill>
          <a:ln w="8890">
            <a:solidFill>
              <a:srgbClr val="F5C45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Box 25"/>
          <p:cNvSpPr txBox="1"/>
          <p:nvPr/>
        </p:nvSpPr>
        <p:spPr>
          <a:xfrm>
            <a:off x="11667744" y="5541264"/>
            <a:ext cx="795528" cy="237744"/>
          </a:xfrm>
          <a:prstGeom prst="rect">
            <a:avLst/>
          </a:prstGeom>
          <a:noFill/>
        </p:spPr>
        <p:txBody>
          <a:bodyPr wrap="square" lIns="9144" tIns="0" rIns="9144" bIns="0" anchor="ctr">
            <a:noAutofit/>
          </a:bodyPr>
          <a:lstStyle/>
          <a:p>
            <a:pPr algn="ctr">
              <a:lnSpc>
                <a:spcPct val="105000"/>
              </a:lnSpc>
              <a:spcAft>
                <a:spcPts val="0"/>
              </a:spcAft>
            </a:pPr>
            <a:r>
              <a:rPr sz="720" b="1" i="0">
                <a:solidFill>
                  <a:srgbClr val="F5C451"/>
                </a:solidFill>
                <a:latin typeface="Avenir Next"/>
              </a:rPr>
              <a:t>LATER</a:t>
            </a:r>
          </a:p>
        </p:txBody>
      </p:sp>
      <p:sp>
        <p:nvSpPr>
          <p:cNvPr id="27" name="TextBox 26"/>
          <p:cNvSpPr txBox="1"/>
          <p:nvPr/>
        </p:nvSpPr>
        <p:spPr>
          <a:xfrm>
            <a:off x="12664440" y="5504688"/>
            <a:ext cx="4069080" cy="713232"/>
          </a:xfrm>
          <a:prstGeom prst="rect">
            <a:avLst/>
          </a:prstGeom>
          <a:noFill/>
        </p:spPr>
        <p:txBody>
          <a:bodyPr wrap="square" lIns="18288" tIns="18288" rIns="18288" bIns="18288" anchor="t">
            <a:noAutofit/>
          </a:bodyPr>
          <a:lstStyle/>
          <a:p>
            <a:pPr algn="l">
              <a:lnSpc>
                <a:spcPct val="108000"/>
              </a:lnSpc>
              <a:spcAft>
                <a:spcPts val="0"/>
              </a:spcAft>
            </a:pPr>
            <a:r>
              <a:rPr sz="960" b="0" i="0">
                <a:solidFill>
                  <a:srgbClr val="F4FFFA"/>
                </a:solidFill>
                <a:latin typeface="Avenir Next"/>
              </a:rPr>
              <a:t>Pump control with hard limits · LoRa/SMS · multi-farm cloud</a:t>
            </a:r>
          </a:p>
        </p:txBody>
      </p:sp>
      <p:sp>
        <p:nvSpPr>
          <p:cNvPr id="28" name="TextBox 27"/>
          <p:cNvSpPr txBox="1"/>
          <p:nvPr/>
        </p:nvSpPr>
        <p:spPr>
          <a:xfrm>
            <a:off x="1143000" y="7269480"/>
            <a:ext cx="15910559" cy="274320"/>
          </a:xfrm>
          <a:prstGeom prst="rect">
            <a:avLst/>
          </a:prstGeom>
          <a:noFill/>
        </p:spPr>
        <p:txBody>
          <a:bodyPr wrap="square" lIns="18288" tIns="18288" rIns="18288" bIns="18288" anchor="t">
            <a:noAutofit/>
          </a:bodyPr>
          <a:lstStyle/>
          <a:p>
            <a:pPr algn="l">
              <a:lnSpc>
                <a:spcPct val="105000"/>
              </a:lnSpc>
              <a:spcAft>
                <a:spcPts val="0"/>
              </a:spcAft>
            </a:pPr>
            <a:r>
              <a:rPr sz="1250" b="1" i="0">
                <a:solidFill>
                  <a:srgbClr val="A6F26B"/>
                </a:solidFill>
                <a:latin typeface="Avenir Next"/>
              </a:rPr>
              <a:t>The current claim is a working prototype — not a deployed farm product.</a:t>
            </a:r>
          </a:p>
        </p:txBody>
      </p:sp>
      <p:sp>
        <p:nvSpPr>
          <p:cNvPr id="29" name="TextBox 28"/>
          <p:cNvSpPr txBox="1"/>
          <p:nvPr/>
        </p:nvSpPr>
        <p:spPr>
          <a:xfrm>
            <a:off x="1143000" y="7662672"/>
            <a:ext cx="15910559" cy="274320"/>
          </a:xfrm>
          <a:prstGeom prst="rect">
            <a:avLst/>
          </a:prstGeom>
          <a:noFill/>
        </p:spPr>
        <p:txBody>
          <a:bodyPr wrap="square" lIns="18288" tIns="18288" rIns="18288" bIns="18288" anchor="t">
            <a:noAutofit/>
          </a:bodyPr>
          <a:lstStyle/>
          <a:p>
            <a:pPr algn="l">
              <a:lnSpc>
                <a:spcPct val="105000"/>
              </a:lnSpc>
              <a:spcAft>
                <a:spcPts val="0"/>
              </a:spcAft>
            </a:pPr>
            <a:r>
              <a:rPr sz="950" b="0" i="0">
                <a:solidFill>
                  <a:srgbClr val="7CA091"/>
                </a:solidFill>
                <a:latin typeface="Avenir Next"/>
              </a:rPr>
              <a:t>Every next step has an explicit gate: measured evidence first, then automation.</a:t>
            </a:r>
          </a:p>
        </p:txBody>
      </p:sp>
      <p:sp>
        <p:nvSpPr>
          <p:cNvPr id="30" name="TextBox 29"/>
          <p:cNvSpPr txBox="1"/>
          <p:nvPr/>
        </p:nvSpPr>
        <p:spPr>
          <a:xfrm>
            <a:off x="4983480" y="9619488"/>
            <a:ext cx="5852160" cy="228600"/>
          </a:xfrm>
          <a:prstGeom prst="rect">
            <a:avLst/>
          </a:prstGeom>
          <a:noFill/>
        </p:spPr>
        <p:txBody>
          <a:bodyPr wrap="square" lIns="0" tIns="0" rIns="0" bIns="0" anchor="t">
            <a:noAutofit/>
          </a:bodyPr>
          <a:lstStyle/>
          <a:p>
            <a:pPr algn="l">
              <a:lnSpc>
                <a:spcPct val="105000"/>
              </a:lnSpc>
              <a:spcAft>
                <a:spcPts val="0"/>
              </a:spcAft>
            </a:pPr>
            <a:r>
              <a:rPr sz="819" b="0" i="0">
                <a:solidFill>
                  <a:srgbClr val="7CA091"/>
                </a:solidFill>
                <a:latin typeface="Avenir Next"/>
              </a:rPr>
              <a:t>TrustFarm  ·  INNOVA 2026  ·  ICBT</a:t>
            </a:r>
          </a:p>
        </p:txBody>
      </p:sp>
      <p:sp>
        <p:nvSpPr>
          <p:cNvPr id="31" name="TextBox 30"/>
          <p:cNvSpPr txBox="1"/>
          <p:nvPr/>
        </p:nvSpPr>
        <p:spPr>
          <a:xfrm>
            <a:off x="11018520" y="9619488"/>
            <a:ext cx="1234440" cy="228600"/>
          </a:xfrm>
          <a:prstGeom prst="rect">
            <a:avLst/>
          </a:prstGeom>
          <a:noFill/>
        </p:spPr>
        <p:txBody>
          <a:bodyPr wrap="square" lIns="0" tIns="0" rIns="0" bIns="0" anchor="t">
            <a:noAutofit/>
          </a:bodyPr>
          <a:lstStyle/>
          <a:p>
            <a:pPr algn="r">
              <a:lnSpc>
                <a:spcPct val="105000"/>
              </a:lnSpc>
              <a:spcAft>
                <a:spcPts val="0"/>
              </a:spcAft>
            </a:pPr>
            <a:r>
              <a:rPr sz="819" b="0" i="0">
                <a:solidFill>
                  <a:srgbClr val="7CA091"/>
                </a:solidFill>
                <a:latin typeface="Avenir Next"/>
              </a:rPr>
              <a:t>24 / 25</a:t>
            </a: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bg>
      <p:bgPr>
        <a:solidFill>
          <a:srgbClr val="1A1D1C"/>
        </a:solidFill>
        <a:effectLst/>
      </p:bgPr>
    </p:bg>
    <p:spTree>
      <p:nvGrpSpPr>
        <p:cNvPr id="1" name=""/>
        <p:cNvGrpSpPr/>
        <p:nvPr/>
      </p:nvGrpSpPr>
      <p:grpSpPr>
        <a:xfrm>
          <a:off x="0" y="0"/>
          <a:ext cx="0" cy="0"/>
          <a:chOff x="0" y="0"/>
          <a:chExt cx="0" cy="0"/>
        </a:xfrm>
      </p:grpSpPr>
      <p:sp>
        <p:nvSpPr>
          <p:cNvPr id="2" name="Freeform 2"/>
          <p:cNvSpPr/>
          <p:nvPr/>
        </p:nvSpPr>
        <p:spPr>
          <a:xfrm>
            <a:off x="0" y="1"/>
            <a:ext cx="18288000" cy="10287000"/>
          </a:xfrm>
          <a:custGeom>
            <a:avLst/>
            <a:gdLst/>
            <a:ahLst/>
            <a:cxnLst/>
            <a:rect l="l" t="t" r="r" b="b"/>
            <a:pathLst>
              <a:path w="23728862" h="13851723">
                <a:moveTo>
                  <a:pt x="0" y="0"/>
                </a:moveTo>
                <a:lnTo>
                  <a:pt x="23728862" y="0"/>
                </a:lnTo>
                <a:lnTo>
                  <a:pt x="23728862" y="13851723"/>
                </a:lnTo>
                <a:lnTo>
                  <a:pt x="0" y="13851723"/>
                </a:lnTo>
                <a:lnTo>
                  <a:pt x="0" y="0"/>
                </a:lnTo>
                <a:close/>
              </a:path>
            </a:pathLst>
          </a:custGeom>
          <a:blipFill>
            <a:blip r:embed="rId3"/>
            <a:stretch>
              <a:fillRect/>
            </a:stretch>
          </a:blipFill>
        </p:spPr>
        <p:txBody>
          <a:bodyPr/>
          <a:lstStyle/>
          <a:p>
            <a:endParaRPr/>
          </a:p>
        </p:txBody>
      </p:sp>
      <p:sp>
        <p:nvSpPr>
          <p:cNvPr id="3" name="Freeform 3"/>
          <p:cNvSpPr/>
          <p:nvPr/>
        </p:nvSpPr>
        <p:spPr>
          <a:xfrm>
            <a:off x="5497290" y="1496790"/>
            <a:ext cx="7293420" cy="7293420"/>
          </a:xfrm>
          <a:custGeom>
            <a:avLst/>
            <a:gdLst/>
            <a:ahLst/>
            <a:cxnLst/>
            <a:rect l="l" t="t" r="r" b="b"/>
            <a:pathLst>
              <a:path w="7293420" h="7293420">
                <a:moveTo>
                  <a:pt x="0" y="0"/>
                </a:moveTo>
                <a:lnTo>
                  <a:pt x="7293420" y="0"/>
                </a:lnTo>
                <a:lnTo>
                  <a:pt x="7293420" y="7293420"/>
                </a:lnTo>
                <a:lnTo>
                  <a:pt x="0" y="7293420"/>
                </a:lnTo>
                <a:lnTo>
                  <a:pt x="0" y="0"/>
                </a:lnTo>
                <a:close/>
              </a:path>
            </a:pathLst>
          </a:custGeom>
          <a:blipFill>
            <a:blip r:embed="rId4"/>
            <a:stretch>
              <a:fillRect/>
            </a:stretch>
          </a:blipFill>
        </p:spPr>
        <p:txBody>
          <a:bodyPr/>
          <a:lstStyle/>
          <a:p>
            <a:endParaRPr/>
          </a:p>
        </p:txBody>
      </p:sp>
      <p:sp>
        <p:nvSpPr>
          <p:cNvPr id="4" name="TextBox 3"/>
          <p:cNvSpPr txBox="1"/>
          <p:nvPr/>
        </p:nvSpPr>
        <p:spPr>
          <a:xfrm>
            <a:off x="1188720" y="2148840"/>
            <a:ext cx="4160520" cy="329184"/>
          </a:xfrm>
          <a:prstGeom prst="rect">
            <a:avLst/>
          </a:prstGeom>
          <a:noFill/>
        </p:spPr>
        <p:txBody>
          <a:bodyPr wrap="square" lIns="18288" tIns="18288" rIns="18288" bIns="18288" anchor="t">
            <a:noAutofit/>
          </a:bodyPr>
          <a:lstStyle/>
          <a:p>
            <a:pPr algn="l">
              <a:lnSpc>
                <a:spcPct val="105000"/>
              </a:lnSpc>
              <a:spcAft>
                <a:spcPts val="0"/>
              </a:spcAft>
            </a:pPr>
            <a:r>
              <a:rPr sz="1000" b="1" i="0">
                <a:solidFill>
                  <a:srgbClr val="A6F26B"/>
                </a:solidFill>
                <a:latin typeface="Avenir Next"/>
              </a:rPr>
              <a:t>THANK YOU</a:t>
            </a:r>
          </a:p>
        </p:txBody>
      </p:sp>
      <p:sp>
        <p:nvSpPr>
          <p:cNvPr id="5" name="Rectangle 4"/>
          <p:cNvSpPr/>
          <p:nvPr/>
        </p:nvSpPr>
        <p:spPr>
          <a:xfrm>
            <a:off x="1234440" y="2487168"/>
            <a:ext cx="1645920" cy="50292"/>
          </a:xfrm>
          <a:prstGeom prst="rect">
            <a:avLst/>
          </a:prstGeom>
          <a:solidFill>
            <a:srgbClr val="A6F2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1188720" y="2651760"/>
            <a:ext cx="4206240" cy="960120"/>
          </a:xfrm>
          <a:prstGeom prst="rect">
            <a:avLst/>
          </a:prstGeom>
          <a:noFill/>
        </p:spPr>
        <p:txBody>
          <a:bodyPr wrap="square" lIns="18288" tIns="18288" rIns="18288" bIns="18288" anchor="t">
            <a:noAutofit/>
          </a:bodyPr>
          <a:lstStyle/>
          <a:p>
            <a:pPr algn="l">
              <a:lnSpc>
                <a:spcPct val="94000"/>
              </a:lnSpc>
              <a:spcAft>
                <a:spcPts val="0"/>
              </a:spcAft>
            </a:pPr>
            <a:r>
              <a:rPr sz="4300" b="1" i="0">
                <a:solidFill>
                  <a:srgbClr val="F4FFFA"/>
                </a:solidFill>
                <a:latin typeface="Avenir Next"/>
              </a:rPr>
              <a:t>Trust before
advice.</a:t>
            </a:r>
          </a:p>
        </p:txBody>
      </p:sp>
      <p:sp>
        <p:nvSpPr>
          <p:cNvPr id="7" name="TextBox 6"/>
          <p:cNvSpPr txBox="1"/>
          <p:nvPr/>
        </p:nvSpPr>
        <p:spPr>
          <a:xfrm>
            <a:off x="1234440" y="3931920"/>
            <a:ext cx="4160520" cy="502920"/>
          </a:xfrm>
          <a:prstGeom prst="rect">
            <a:avLst/>
          </a:prstGeom>
          <a:noFill/>
        </p:spPr>
        <p:txBody>
          <a:bodyPr wrap="square" lIns="18288" tIns="18288" rIns="18288" bIns="18288" anchor="t">
            <a:noAutofit/>
          </a:bodyPr>
          <a:lstStyle/>
          <a:p>
            <a:pPr algn="l">
              <a:lnSpc>
                <a:spcPct val="105000"/>
              </a:lnSpc>
              <a:spcAft>
                <a:spcPts val="0"/>
              </a:spcAft>
            </a:pPr>
            <a:r>
              <a:rPr sz="1800" b="1" i="0">
                <a:solidFill>
                  <a:srgbClr val="A6F26B"/>
                </a:solidFill>
                <a:latin typeface="Avenir Next"/>
              </a:rPr>
              <a:t>Questions &amp; live demo</a:t>
            </a:r>
          </a:p>
        </p:txBody>
      </p:sp>
      <p:sp>
        <p:nvSpPr>
          <p:cNvPr id="8" name="TextBox 7"/>
          <p:cNvSpPr txBox="1"/>
          <p:nvPr/>
        </p:nvSpPr>
        <p:spPr>
          <a:xfrm>
            <a:off x="1234440" y="4553712"/>
            <a:ext cx="4160520" cy="1005840"/>
          </a:xfrm>
          <a:prstGeom prst="rect">
            <a:avLst/>
          </a:prstGeom>
          <a:noFill/>
        </p:spPr>
        <p:txBody>
          <a:bodyPr wrap="square" lIns="18288" tIns="18288" rIns="18288" bIns="18288" anchor="t">
            <a:noAutofit/>
          </a:bodyPr>
          <a:lstStyle/>
          <a:p>
            <a:pPr algn="l">
              <a:lnSpc>
                <a:spcPct val="118000"/>
              </a:lnSpc>
              <a:spcAft>
                <a:spcPts val="0"/>
              </a:spcAft>
            </a:pPr>
            <a:r>
              <a:rPr sz="960" b="0" i="0">
                <a:solidFill>
                  <a:srgbClr val="ADC9BE"/>
                </a:solidFill>
                <a:latin typeface="Avenir Next"/>
              </a:rPr>
              <a:t>Interactive 3D circuit:
ridma-kithara.github.io/TrustFarm_INNOVA/circuit.html</a:t>
            </a:r>
          </a:p>
        </p:txBody>
      </p:sp>
      <p:sp>
        <p:nvSpPr>
          <p:cNvPr id="9" name="TextBox 8"/>
          <p:cNvSpPr txBox="1"/>
          <p:nvPr/>
        </p:nvSpPr>
        <p:spPr>
          <a:xfrm>
            <a:off x="1234440" y="5669280"/>
            <a:ext cx="4160520" cy="777240"/>
          </a:xfrm>
          <a:prstGeom prst="rect">
            <a:avLst/>
          </a:prstGeom>
          <a:noFill/>
        </p:spPr>
        <p:txBody>
          <a:bodyPr wrap="square" lIns="18288" tIns="18288" rIns="18288" bIns="18288" anchor="t">
            <a:noAutofit/>
          </a:bodyPr>
          <a:lstStyle/>
          <a:p>
            <a:pPr algn="l">
              <a:lnSpc>
                <a:spcPct val="118000"/>
              </a:lnSpc>
              <a:spcAft>
                <a:spcPts val="0"/>
              </a:spcAft>
            </a:pPr>
            <a:r>
              <a:rPr sz="960" b="0" i="0">
                <a:solidFill>
                  <a:srgbClr val="ADC9BE"/>
                </a:solidFill>
                <a:latin typeface="Avenir Next"/>
              </a:rPr>
              <a:t>Source:
github.com/Ridma-kithara/TrustFarm_INNOVA</a:t>
            </a:r>
          </a:p>
        </p:txBody>
      </p:sp>
      <p:sp>
        <p:nvSpPr>
          <p:cNvPr id="10" name="TextBox 9"/>
          <p:cNvSpPr txBox="1"/>
          <p:nvPr/>
        </p:nvSpPr>
        <p:spPr>
          <a:xfrm>
            <a:off x="1234440" y="7178040"/>
            <a:ext cx="4160520" cy="274320"/>
          </a:xfrm>
          <a:prstGeom prst="rect">
            <a:avLst/>
          </a:prstGeom>
          <a:noFill/>
        </p:spPr>
        <p:txBody>
          <a:bodyPr wrap="square" lIns="18288" tIns="18288" rIns="18288" bIns="18288" anchor="t">
            <a:noAutofit/>
          </a:bodyPr>
          <a:lstStyle/>
          <a:p>
            <a:pPr algn="l">
              <a:lnSpc>
                <a:spcPct val="105000"/>
              </a:lnSpc>
              <a:spcAft>
                <a:spcPts val="0"/>
              </a:spcAft>
            </a:pPr>
            <a:r>
              <a:rPr sz="880" b="0" i="0">
                <a:solidFill>
                  <a:srgbClr val="7CA091"/>
                </a:solidFill>
                <a:latin typeface="Avenir Next"/>
              </a:rPr>
              <a:t>Team TrustFarm · ICBT · INNOVA 2026</a:t>
            </a:r>
          </a:p>
        </p:txBody>
      </p:sp>
      <p:sp>
        <p:nvSpPr>
          <p:cNvPr id="11" name="TextBox 10"/>
          <p:cNvSpPr txBox="1"/>
          <p:nvPr/>
        </p:nvSpPr>
        <p:spPr>
          <a:xfrm>
            <a:off x="1234440" y="7479792"/>
            <a:ext cx="4160520" cy="274320"/>
          </a:xfrm>
          <a:prstGeom prst="rect">
            <a:avLst/>
          </a:prstGeom>
          <a:noFill/>
        </p:spPr>
        <p:txBody>
          <a:bodyPr wrap="square" lIns="18288" tIns="18288" rIns="18288" bIns="18288" anchor="t">
            <a:noAutofit/>
          </a:bodyPr>
          <a:lstStyle/>
          <a:p>
            <a:pPr algn="l">
              <a:lnSpc>
                <a:spcPct val="105000"/>
              </a:lnSpc>
              <a:spcAft>
                <a:spcPts val="0"/>
              </a:spcAft>
            </a:pPr>
            <a:r>
              <a:rPr sz="880" b="0" i="0">
                <a:solidFill>
                  <a:srgbClr val="7CA091"/>
                </a:solidFill>
                <a:latin typeface="Avenir Next"/>
              </a:rPr>
              <a:t>Demo data unless hardware is connected.</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156</TotalTime>
  <Words>4517</Words>
  <Application>Microsoft Macintosh PowerPoint</Application>
  <PresentationFormat>Custom</PresentationFormat>
  <Paragraphs>581</Paragraphs>
  <Slides>25</Slides>
  <Notes>25</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25</vt:i4>
      </vt:variant>
    </vt:vector>
  </HeadingPairs>
  <TitlesOfParts>
    <vt:vector size="31" baseType="lpstr">
      <vt:lpstr>Arial</vt:lpstr>
      <vt:lpstr>Avenir Next</vt:lpstr>
      <vt:lpstr>Calibri</vt:lpstr>
      <vt:lpstr>Menlo</vt:lpstr>
      <vt:lpstr>Times New Roman</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Submission template</dc:title>
  <dc:creator>User</dc:creator>
  <cp:lastModifiedBy>Kirinda, Gabadarala Wickramasingha Wasala Mudiyanselage Ridma Ki</cp:lastModifiedBy>
  <cp:revision>6</cp:revision>
  <dcterms:created xsi:type="dcterms:W3CDTF">2006-08-16T00:00:00Z</dcterms:created>
  <dcterms:modified xsi:type="dcterms:W3CDTF">2026-10-20T10:28:07Z</dcterms:modified>
  <dc:identifier>DAHUq1SsyUs</dc:identifier>
</cp:coreProperties>
</file>